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name, Computer Science / Computer Engineering major, CSULB University Honors Program. Your advisor is Dr. Oscar Morales-Ponce.
Pause after saying the title. Don't rush into the content yet — the next slide will pull the audience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before this slide appears. Let it breathe.
Read the lines slowly, one by one — there's a reason they're broken up. Let the audience feel the weight of each sentence.
When you get to "Where do you send them first?" — pause again. Let the audience sit with the question.
Then say: "It turns out this question has a mathematically optimal answer. And the difference between a good answer and a bad one is the difference between finding the survivor in the first pass, or running out of battery having found nothing."
This hook works for any audience — from computer science faculty to first-year students to community members. No jargon, just 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bridging moment. Say: "Let's start with the problem itself — not the algorithm, not the results — just what we're trying to solve and why it's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human stakes — survival probability drops sharply with every minute after structural collapse.
The three cards describe documented coordination failures. They share a common root: no rigorous framework for energy-constrained, probabilistically-guided coordination.
Transition: "These three failures are what this thesis tackles. Not separately — together, as a single formal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parameters. Draw attention to what makes this hard:
1. Robots cannot communicate during flight — so the optimal strategy must be decided in advance.
2. Limited battery means they cannot just exhaustively check everything.
3. The target location is unknown — we have probabilistic beliefs, not certainty.
4. The objective is finder-centric — we care about the specific robot that succeeds, not the fleet average.
The default parameters (n=30, R=3, E=14) were chosen to be tractable for analysis while capturing the essential structure of real deployment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FCR is the primary contribution of the thesis as an evaluation metric.
Walk through the worked example: the robot checks site A (wrong), then site B (wrong), then finds the target T. Its total path is 9.98 units. An omniscient robot would have gone directly — 6.67 units. FCR = 1.50.
Key insight: this is finder-centric. We only look at the robot that succeeds — because that robot's path determines how quickly the survivor is reached for extraction. The other robots are irrelevant to this metric.
FCR = 1 is a theoretical lower bound requiring perfect information. Real algorithms with uncertainty and energy constraints will always exceed 1. The question is how close we can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I'll walk you through the four algorithmic models this thesis compares. Think of them as a staircase — each step adds one new capability, and the height of each step tells you exactly what that capability is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architecture of the thesis.
M1 is the floor — zero coordination, random site selection. It is deliberately a bad algorithm.
M2 is the ceiling — what is achievable with perfect coordination and unlimited battery.
M3 adds back the battery constraint but keeps the SSI auction.
M4/M4* adds multi-site sorties and the novel p/d² bid function.
The key insight: by comparing consecutive models, we can precisely isolate the value of each design decision. The 18.74 → 2.83 gap is the value of coordination. The 2.83 → 6.32 gap is the cost of battery. The 6.32 → 3.11 gap is what chaining and the novel bid recover.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The key insight that makes SSI better than Hungarian assignment: SSI is sequential. After robot k is assigned to site A, the next bidding round knows where robot k will be — and assigns the next robot accordingly. This cascading adaptation to fleet geometry is what produces the 8.1% improvement over Hungarian.
If asked: "Why not just solve the full combinatorial assignment optimally?" — the answer is that the exact optimal assignment is NP-hard for large instances. SSI is a polynomial-time greedy approximation that, in practice, outperforms the Hungarian algorithm on this metric because the metric is finder-centric, not fleet-total.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sortie chaining insight is elegant: the energy that M3 wastes on early returns is recoverable by simply staying out longer.
The energy check is the critical safety condition — it guarantees the robot always has enough energy to return to base. This is not an approximation; it's an exact feasibility check.
The result: ~90% of the M2-to-M3 performance gap is recovered by this simple extension. Multi-site chaining is the single most impactful mechanism in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primary algorithmic contribution. Spend time here.
The cost-foreclosure argument in plain English: "Going far doesn't just cost more energy up front — it also shrinks the budget you have left for the rest of the sortie. So the true cost of distance is superlinear. Quadratic is the right approximation."
The figure shows the FCR distributions: p/d² (proposed) produces a tighter, lower distribution — particularly at the tail, meaning it fails less catastrophically on hard instances.
At default parameters, p/d² achieves FCR = 3.11 vs p/d's 3.16 — a 1.5% improvement. The gap grows substantially at large instance sizes and tight energy budgets, where the cost-foreclosure effect is most pronounced.
If asked about intuition: draw an analogy to GPS routing — going slightly out of your way to avoid a highway on-ramp when your gas tank is nearly empty. The quadratic penalty on distance is doing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panel slowly — this figure is the most important visual in the thesis.
Panel A: 30 sites with prior probabilities shown as circle sizes. Larger circles are more likely to contain the survivor. Three robots (triangles) start at the base.
Panel B: The SSI auction runs. Each robot is assigned one anchor site. Notice the assignments are spread across the space — the auction avoids redundant coverage.
Panel C: From each anchor, the greedy p/d² chain extends. Robots visit additional sites while energy permits. Notice they prioritize nearby, high-probability sites.
Panel D: After all robots return, Bayesian update — cleared sites have their probability redistributed to remaining sites. The next round begins with a sharper posterior.
Let this visual breathe. The audience should be able to see the algorithm "working" — three robots solving a genuinely hard optimization problem, round by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let's look at what the experiments found. I'll walk through the five key results, starting with the headline number and then drilling into each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primary results slide. Walk through each gap and narrate it.
18.74 → 2.83: the value of coordination. A 6.6x improvement purely from communication.
2.83 → 6.32: the cost of battery constraints. Adding energy limits degrades performance significantly.
6.32 → 3.11: what the combination of chaining and p/d² recovers. Nearly the whole battery penalty is erased.
6.88 → 6.32: SSI auction beats centralized Hungarian by 8.1% — the mechanism matters.
3.16 → 3.11: the p/d² bid improvement — 1.5% at default, growing with instance size.
All comparisons statistically significant at p &lt; 0.001 after Bonferroni correction (paired Wilcoxon, non-parametric test appropriate for skewed FCR distributions).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figure speak. Pause here and let the audience absorb it.
Left panel: M1 with no coordination. Robots duplicate effort. Multiple paths lead to the same sites. High-probability sites (large circles) are neglected while low-probability sites get redundant visits. The finder's path is long, inefficient, and expensive.
Right panel: M4* on the exact same instance. Non-overlapping tours. High-probability sites are visited early. Compact chain extensions maximize coverage per unit of energy.
The specific FCRs on this one instance: 53.65 and 3.02 — a 17x difference. Across 5,000 trials: 18.74 vs 3.11, a 6x difference.
Say to the audience: "What changed between these two panels? Only the algorithm. Same robots, same battery, same uncertainty, same target. The coordination is entirely in software."
This is the thesis in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counterintuitive result in the thesis. Open with the hypothesis — the audience will almost certainly agree that shorter tours should be better. Then reveal the result.
The mechanism: the greedy chain is already doing something intelligent — it front-loads high-probability sites. When the target is drawn from the prior, it's most likely to be in a high-probability site — so the greedy ordering puts the target early in the tour. 2-opt destroys this probability-weighted ordering in favor of pure geometry.
Named finding: the Target-Delay Anomaly.
Practical message for the audience: tour optimizers built for the Traveling Salesman Problem are the WRONG tool for probabilistic Bayesian search. This has implications for any robot task-planning pipeline that ends with a "polish"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energy sweep confirms the main results are not an artifact of the default parameter setting.
The most striking observation: at E = 30, M4* (FCR = 2.67) surpasses the unconstrained ceiling M2 (FCR = 2.83). This is possible because ample battery allows the chains to be so long that round-trip overhead becomes negligible, and the p/d² ordering recovers more than the node-to-node M2.
The p/d² advantage growing at tight budgets confirms the cost-foreclosure theory: when E is small, the foreclosure effect is largest, and penalizing d quadratically makes the most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instance size sweep is perhaps the most practically important parametric result.
At n = 100 sites, the coordination gap grows to 10.8x (M1 = 60.65 vs M4* = 5.60). Compare this to the 6.6x gap at n = 30.
The practical message: as autonomous search systems scale toward real disaster scenes with hundreds or thousands of candidate locations, proper coordination becomes proportionally MORE important — not less.
Model ranking is fully preserved at all instance sizes — no crossover effects. The hierarchy is robust.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R = 1, there's nothing to coordinate and all models are equivalent. The gap between coordinated and uncoordinated search opens immediately at R = 2 and widens through R = 5.
The same ceiling-crossover phenomenon as the energy sweep: at R = 10, M4* surpasses M2. Ample fleet size allows such dense coverage that energy constraints matter less.
Practical implication: fleets of 3–5 robots capture most of the coordination benefit. Returns diminish sharply above R = 5, suggesting the most cost-effective deployment size is in this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Rigorous statistical testing is important for a thesis making comparative claims.
Wilcoxon signed-rank is appropriate because: (1) the FCR distributions are non-Gaussian (right-skewed due to catastrophic failures on hard instances), and (2) paired trials on the same instance control for instance-level variability.
Bonferroni correction controls the family-wise error rate across four simultaneous hypotheses.
H4 (p/d² vs p/d) is the subtlest — the effect at default parameters is 1.5%, which is significant only due to the large sample (5,000 trials). At larger instances and tighter budgets, the effect is substantially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"Everything I've shown you is open-source and fully reproducible. Let me show you the tools — and if I have a laptop set up, walk you through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PyBullet simulation validates the algorithmic results in 3D physical space. Three drones with physics-based dynamics (thrust, drag, inertia) execute M4* assignments.
If you can run the simulation live, do it — it's visually compelling and makes the abstract algorithms tangible.
Check the pybullet_demo/ directory in the repository for run instructions.
The simulation is not the primary contribution (the analysis and algorithms are), but it demonstrates that the coordination logic transfers to physical agents with realistic dynamics.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OPPORTUNITY. This is the highest-impact moment in the showcase if you have a laptop.
The most effective demo flow:
1. Start with M1 on n=10 sites, R=3 robots. Let it run 2-3 rounds. Point out the duplication.
2. Reset. Run M4* on the SAME instance. Let the audience see the difference immediately.
3. Show the FCR values updating in real time.
The visual contrast is immediate and visceral — the audience doesn't need to understand the math to appreciate the improvement.
If you cannot run code live, the fig_m1_vs_m4star.png figure (slide 15) gives the same contrast as a static visual. Point to specific robot paths and narrate what each is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is a first-class property of this work.
Every number in the thesis can be reproduced with a single command. Every figure can be regenerated from the scripts. All trial data is archived.
If a judge asks "how do I verify this?" — you can point to the exact command: python experiments/exp8_ci_table.py
The repository also includes the thesis PDF, the simulator, and documentation. Encourage interested attendees to star or fork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signals that this thesis opens doors rather than closes them.
Most tractable next step: formal bounds. The empirical results are consistent with a competitive ratio of approximately 3, and a formal proof would significantly strengthen the theoretical contribution.
Dynamic environments and heterogeneous fleets are the path toward real-world deployment.
If a judge asks about limitations: acknowledge that the current model assumes a fixed discrete prior, synchronous return to base, and identical robots. These are productive abstractions for analysis — the extensions here are the roadmap to removing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opening question: "A building collapses. A survivor is inside. Three robots, limited battery. Where do you send them first?"
Read the four findings aloud. Let the fourth one (the anomaly) land — it's the most surprising.
Closing line: "All of this is open-source, fully reproducible, and designed to be extended. The repository is in your hands. I'd be happy to answer questions — or show you a live demo."
Thank the audience. Smile. You've earned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E18"/>
        </a:solidFill>
      </p:bgPr>
    </p:bg>
    <p:spTree>
      <p:nvGrpSpPr>
        <p:cNvPr id="1" name=""/>
        <p:cNvGrpSpPr/>
        <p:nvPr/>
      </p:nvGrpSpPr>
      <p:grpSpPr>
        <a:xfrm>
          <a:off x="0" y="0"/>
          <a:ext cx="0" cy="0"/>
          <a:chOff x="0" y="0"/>
          <a:chExt cx="0" cy="0"/>
        </a:xfrm>
      </p:grpSpPr>
      <p:sp>
        <p:nvSpPr>
          <p:cNvPr id="2" name="Shape 0"/>
          <p:cNvSpPr/>
          <p:nvPr/>
        </p:nvSpPr>
        <p:spPr>
          <a:xfrm>
            <a:off x="0" y="0"/>
            <a:ext cx="91440" cy="5148072"/>
          </a:xfrm>
          <a:prstGeom prst="rect">
            <a:avLst/>
          </a:prstGeom>
          <a:solidFill>
            <a:srgbClr val="F0A030"/>
          </a:solidFill>
          <a:ln w="12700">
            <a:solidFill>
              <a:srgbClr val="F0A030"/>
            </a:solidFill>
            <a:prstDash val="solid"/>
          </a:ln>
        </p:spPr>
      </p:sp>
      <p:sp>
        <p:nvSpPr>
          <p:cNvPr id="3" name="Text 1"/>
          <p:cNvSpPr/>
          <p:nvPr/>
        </p:nvSpPr>
        <p:spPr>
          <a:xfrm>
            <a:off x="4389120" y="457200"/>
            <a:ext cx="4572000" cy="4114800"/>
          </a:xfrm>
          <a:prstGeom prst="rect">
            <a:avLst/>
          </a:prstGeom>
          <a:noFill/>
          <a:ln/>
        </p:spPr>
        <p:txBody>
          <a:bodyPr wrap="square" lIns="0" tIns="0" rIns="0" bIns="0" rtlCol="0" anchor="ctr"/>
          <a:lstStyle/>
          <a:p>
            <a:pPr algn="r" indent="0" marL="0">
              <a:buNone/>
            </a:pPr>
            <a:r>
              <a:rPr lang="en-US" sz="17000" b="1" dirty="0">
                <a:solidFill>
                  <a:srgbClr val="1A2E42"/>
                </a:solidFill>
                <a:latin typeface="Calibri" pitchFamily="34" charset="0"/>
                <a:ea typeface="Calibri" pitchFamily="34" charset="-122"/>
                <a:cs typeface="Calibri" pitchFamily="34" charset="-120"/>
              </a:rPr>
              <a:t>SAR</a:t>
            </a:r>
            <a:endParaRPr lang="en-US" sz="17000" dirty="0"/>
          </a:p>
        </p:txBody>
      </p:sp>
      <p:sp>
        <p:nvSpPr>
          <p:cNvPr id="4" name="Text 2"/>
          <p:cNvSpPr/>
          <p:nvPr/>
        </p:nvSpPr>
        <p:spPr>
          <a:xfrm>
            <a:off x="292608" y="475488"/>
            <a:ext cx="8503920" cy="2286000"/>
          </a:xfrm>
          <a:prstGeom prst="rect">
            <a:avLst/>
          </a:prstGeom>
          <a:noFill/>
          <a:ln/>
        </p:spPr>
        <p:txBody>
          <a:bodyPr wrap="square" lIns="0" tIns="0" rIns="0" bIns="0" rtlCol="0" anchor="t"/>
          <a:lstStyle/>
          <a:p>
            <a:pPr algn="l" indent="0" marL="0">
              <a:lnSpc>
                <a:spcPct val="125000"/>
              </a:lnSpc>
              <a:buNone/>
            </a:pPr>
            <a:r>
              <a:rPr lang="en-US" sz="3000" b="1" dirty="0">
                <a:solidFill>
                  <a:srgbClr val="EEF2F6"/>
                </a:solidFill>
                <a:latin typeface="Calibri" pitchFamily="34" charset="0"/>
                <a:ea typeface="Calibri" pitchFamily="34" charset="-122"/>
                <a:cs typeface="Calibri" pitchFamily="34" charset="-120"/>
              </a:rPr>
              <a:t>ON THE NUMERICAL ANALYSIS OF</a:t>
            </a:r>
            <a:endParaRPr lang="en-US" sz="3000" dirty="0"/>
          </a:p>
          <a:p>
            <a:pPr algn="l" indent="0" marL="0">
              <a:lnSpc>
                <a:spcPct val="125000"/>
              </a:lnSpc>
              <a:buNone/>
            </a:pPr>
            <a:r>
              <a:rPr lang="en-US" sz="3000" b="1" dirty="0">
                <a:solidFill>
                  <a:srgbClr val="EEF2F6"/>
                </a:solidFill>
                <a:latin typeface="Calibri" pitchFamily="34" charset="0"/>
                <a:ea typeface="Calibri" pitchFamily="34" charset="-122"/>
                <a:cs typeface="Calibri" pitchFamily="34" charset="-120"/>
              </a:rPr>
              <a:t>MULTI-ROBOT SEARCH AND RESCUE ALGORITHMS</a:t>
            </a:r>
            <a:endParaRPr lang="en-US" sz="3000" dirty="0"/>
          </a:p>
          <a:p>
            <a:pPr algn="l" indent="0" marL="0">
              <a:lnSpc>
                <a:spcPct val="125000"/>
              </a:lnSpc>
              <a:buNone/>
            </a:pPr>
            <a:r>
              <a:rPr lang="en-US" sz="3000" b="1" dirty="0">
                <a:solidFill>
                  <a:srgbClr val="EEF2F6"/>
                </a:solidFill>
                <a:latin typeface="Calibri" pitchFamily="34" charset="0"/>
                <a:ea typeface="Calibri" pitchFamily="34" charset="-122"/>
                <a:cs typeface="Calibri" pitchFamily="34" charset="-120"/>
              </a:rPr>
              <a:t>IN UNKNOWN ENVIRONMENTS</a:t>
            </a:r>
            <a:endParaRPr lang="en-US" sz="3000" dirty="0"/>
          </a:p>
        </p:txBody>
      </p:sp>
      <p:sp>
        <p:nvSpPr>
          <p:cNvPr id="5" name="Shape 3"/>
          <p:cNvSpPr/>
          <p:nvPr/>
        </p:nvSpPr>
        <p:spPr>
          <a:xfrm>
            <a:off x="292608" y="2834640"/>
            <a:ext cx="8503920" cy="20117"/>
          </a:xfrm>
          <a:prstGeom prst="rect">
            <a:avLst/>
          </a:prstGeom>
          <a:solidFill>
            <a:srgbClr val="F0A030"/>
          </a:solidFill>
          <a:ln w="12700">
            <a:solidFill>
              <a:srgbClr val="F0A030"/>
            </a:solidFill>
            <a:prstDash val="solid"/>
          </a:ln>
        </p:spPr>
      </p:sp>
      <p:sp>
        <p:nvSpPr>
          <p:cNvPr id="6" name="Text 4"/>
          <p:cNvSpPr/>
          <p:nvPr/>
        </p:nvSpPr>
        <p:spPr>
          <a:xfrm>
            <a:off x="292608" y="2971800"/>
            <a:ext cx="8503920" cy="310896"/>
          </a:xfrm>
          <a:prstGeom prst="rect">
            <a:avLst/>
          </a:prstGeom>
          <a:noFill/>
          <a:ln/>
        </p:spPr>
        <p:txBody>
          <a:bodyPr wrap="square" lIns="0" tIns="0" rIns="0" bIns="0" rtlCol="0" anchor="ctr"/>
          <a:lstStyle/>
          <a:p>
            <a:pPr algn="l" indent="0" marL="0">
              <a:buNone/>
            </a:pPr>
            <a:r>
              <a:rPr lang="en-US" sz="1300" i="1" dirty="0">
                <a:solidFill>
                  <a:srgbClr val="38B2CC"/>
                </a:solidFill>
                <a:latin typeface="Calibri" pitchFamily="34" charset="0"/>
                <a:ea typeface="Calibri" pitchFamily="34" charset="-122"/>
                <a:cs typeface="Calibri" pitchFamily="34" charset="-120"/>
              </a:rPr>
              <a:t>CSULB Honors Thesis   |   Research Showcase   |   Spring 2026</a:t>
            </a:r>
            <a:endParaRPr lang="en-US" sz="1300" dirty="0"/>
          </a:p>
        </p:txBody>
      </p:sp>
      <p:sp>
        <p:nvSpPr>
          <p:cNvPr id="7" name="Text 5"/>
          <p:cNvSpPr/>
          <p:nvPr/>
        </p:nvSpPr>
        <p:spPr>
          <a:xfrm>
            <a:off x="292608" y="3364992"/>
            <a:ext cx="8503920" cy="402336"/>
          </a:xfrm>
          <a:prstGeom prst="rect">
            <a:avLst/>
          </a:prstGeom>
          <a:noFill/>
          <a:ln/>
        </p:spPr>
        <p:txBody>
          <a:bodyPr wrap="square" lIns="0" tIns="0" rIns="0" bIns="0" rtlCol="0" anchor="ctr"/>
          <a:lstStyle/>
          <a:p>
            <a:pPr algn="l" indent="0" marL="0">
              <a:buNone/>
            </a:pPr>
            <a:r>
              <a:rPr lang="en-US" sz="2000" b="1" dirty="0">
                <a:solidFill>
                  <a:srgbClr val="EEF2F6"/>
                </a:solidFill>
                <a:latin typeface="Calibri" pitchFamily="34" charset="0"/>
                <a:ea typeface="Calibri" pitchFamily="34" charset="-122"/>
                <a:cs typeface="Calibri" pitchFamily="34" charset="-120"/>
              </a:rPr>
              <a:t>Fozhan Babaeiyan Ghamsari</a:t>
            </a:r>
            <a:endParaRPr lang="en-US" sz="2000" dirty="0"/>
          </a:p>
        </p:txBody>
      </p:sp>
      <p:sp>
        <p:nvSpPr>
          <p:cNvPr id="8" name="Text 6"/>
          <p:cNvSpPr/>
          <p:nvPr/>
        </p:nvSpPr>
        <p:spPr>
          <a:xfrm>
            <a:off x="292608" y="3822192"/>
            <a:ext cx="8503920" cy="274320"/>
          </a:xfrm>
          <a:prstGeom prst="rect">
            <a:avLst/>
          </a:prstGeom>
          <a:noFill/>
          <a:ln/>
        </p:spPr>
        <p:txBody>
          <a:bodyPr wrap="square" lIns="0" tIns="0" rIns="0" bIns="0" rtlCol="0" anchor="ctr"/>
          <a:lstStyle/>
          <a:p>
            <a:pPr algn="l" indent="0" marL="0">
              <a:buNone/>
            </a:pPr>
            <a:r>
              <a:rPr lang="en-US" sz="1200" dirty="0">
                <a:solidFill>
                  <a:srgbClr val="4E6E88"/>
                </a:solidFill>
                <a:latin typeface="Calibri" pitchFamily="34" charset="0"/>
                <a:ea typeface="Calibri" pitchFamily="34" charset="-122"/>
                <a:cs typeface="Calibri" pitchFamily="34" charset="-120"/>
              </a:rPr>
              <a:t>Advisor: Dr. Oscar Morales-Ponce  |  Computer Engineering and Computer Science  |  CSULB</a:t>
            </a:r>
            <a:endParaRPr lang="en-US" sz="1200" dirty="0"/>
          </a:p>
        </p:txBody>
      </p:sp>
      <p:sp>
        <p:nvSpPr>
          <p:cNvPr id="9" name="Text 7"/>
          <p:cNvSpPr/>
          <p:nvPr/>
        </p:nvSpPr>
        <p:spPr>
          <a:xfrm>
            <a:off x="292608" y="4187952"/>
            <a:ext cx="8503920" cy="256032"/>
          </a:xfrm>
          <a:prstGeom prst="rect">
            <a:avLst/>
          </a:prstGeom>
          <a:noFill/>
          <a:ln/>
        </p:spPr>
        <p:txBody>
          <a:bodyPr wrap="square" lIns="0" tIns="0" rIns="0" bIns="0" rtlCol="0" anchor="ctr"/>
          <a:lstStyle/>
          <a:p>
            <a:pPr algn="l" indent="0" marL="0">
              <a:buNone/>
            </a:pPr>
            <a:r>
              <a:rPr lang="en-US" sz="1200" dirty="0">
                <a:solidFill>
                  <a:srgbClr val="38B2CC"/>
                </a:solidFill>
                <a:latin typeface="Calibri" pitchFamily="34" charset="0"/>
                <a:ea typeface="Calibri" pitchFamily="34" charset="-122"/>
                <a:cs typeface="Calibri" pitchFamily="34" charset="-120"/>
              </a:rPr>
              <a:t>github.com/foojanbabaeeian/Multi-Robot-Algo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E18"/>
        </a:solidFill>
      </p:bgPr>
    </p:bg>
    <p:spTree>
      <p:nvGrpSpPr>
        <p:cNvPr id="1" name=""/>
        <p:cNvGrpSpPr/>
        <p:nvPr/>
      </p:nvGrpSpPr>
      <p:grpSpPr>
        <a:xfrm>
          <a:off x="0" y="0"/>
          <a:ext cx="0" cy="0"/>
          <a:chOff x="0" y="0"/>
          <a:chExt cx="0" cy="0"/>
        </a:xfrm>
      </p:grpSpPr>
      <p:sp>
        <p:nvSpPr>
          <p:cNvPr id="2" name="Text 0"/>
          <p:cNvSpPr/>
          <p:nvPr/>
        </p:nvSpPr>
        <p:spPr>
          <a:xfrm>
            <a:off x="5029200" y="-182880"/>
            <a:ext cx="3931920" cy="5029200"/>
          </a:xfrm>
          <a:prstGeom prst="rect">
            <a:avLst/>
          </a:prstGeom>
          <a:noFill/>
          <a:ln/>
        </p:spPr>
        <p:txBody>
          <a:bodyPr wrap="square" lIns="0" tIns="0" rIns="0" bIns="0" rtlCol="0" anchor="ctr"/>
          <a:lstStyle/>
          <a:p>
            <a:pPr algn="r" indent="0" marL="0">
              <a:buNone/>
            </a:pPr>
            <a:r>
              <a:rPr lang="en-US" sz="36000" b="1" dirty="0">
                <a:solidFill>
                  <a:srgbClr val="1A2E42"/>
                </a:solidFill>
                <a:latin typeface="Calibri" pitchFamily="34" charset="0"/>
                <a:ea typeface="Calibri" pitchFamily="34" charset="-122"/>
                <a:cs typeface="Calibri" pitchFamily="34" charset="-120"/>
              </a:rPr>
              <a:t>?</a:t>
            </a:r>
            <a:endParaRPr lang="en-US" sz="36000" dirty="0"/>
          </a:p>
        </p:txBody>
      </p:sp>
      <p:sp>
        <p:nvSpPr>
          <p:cNvPr id="3" name="Text 1"/>
          <p:cNvSpPr/>
          <p:nvPr/>
        </p:nvSpPr>
        <p:spPr>
          <a:xfrm>
            <a:off x="502920" y="685800"/>
            <a:ext cx="6858000" cy="594360"/>
          </a:xfrm>
          <a:prstGeom prst="rect">
            <a:avLst/>
          </a:prstGeom>
          <a:noFill/>
          <a:ln/>
        </p:spPr>
        <p:txBody>
          <a:bodyPr wrap="square" lIns="0" tIns="0" rIns="0" bIns="0" rtlCol="0" anchor="ctr"/>
          <a:lstStyle/>
          <a:p>
            <a:pPr algn="l" indent="0" marL="0">
              <a:buNone/>
            </a:pPr>
            <a:r>
              <a:rPr lang="en-US" sz="3200" dirty="0">
                <a:solidFill>
                  <a:srgbClr val="EEF2F6"/>
                </a:solidFill>
                <a:latin typeface="Calibri" pitchFamily="34" charset="0"/>
                <a:ea typeface="Calibri" pitchFamily="34" charset="-122"/>
                <a:cs typeface="Calibri" pitchFamily="34" charset="-120"/>
              </a:rPr>
              <a:t>A building collapses.</a:t>
            </a:r>
            <a:endParaRPr lang="en-US" sz="3200" dirty="0"/>
          </a:p>
        </p:txBody>
      </p:sp>
      <p:sp>
        <p:nvSpPr>
          <p:cNvPr id="4" name="Text 2"/>
          <p:cNvSpPr/>
          <p:nvPr/>
        </p:nvSpPr>
        <p:spPr>
          <a:xfrm>
            <a:off x="502920" y="1353312"/>
            <a:ext cx="6858000" cy="594360"/>
          </a:xfrm>
          <a:prstGeom prst="rect">
            <a:avLst/>
          </a:prstGeom>
          <a:noFill/>
          <a:ln/>
        </p:spPr>
        <p:txBody>
          <a:bodyPr wrap="square" lIns="0" tIns="0" rIns="0" bIns="0" rtlCol="0" anchor="ctr"/>
          <a:lstStyle/>
          <a:p>
            <a:pPr algn="l" indent="0" marL="0">
              <a:buNone/>
            </a:pPr>
            <a:r>
              <a:rPr lang="en-US" sz="3200" dirty="0">
                <a:solidFill>
                  <a:srgbClr val="EEF2F6"/>
                </a:solidFill>
                <a:latin typeface="Calibri" pitchFamily="34" charset="0"/>
                <a:ea typeface="Calibri" pitchFamily="34" charset="-122"/>
                <a:cs typeface="Calibri" pitchFamily="34" charset="-120"/>
              </a:rPr>
              <a:t>A survivor is somewhere inside.</a:t>
            </a:r>
            <a:endParaRPr lang="en-US" sz="3200" dirty="0"/>
          </a:p>
        </p:txBody>
      </p:sp>
      <p:sp>
        <p:nvSpPr>
          <p:cNvPr id="5" name="Text 3"/>
          <p:cNvSpPr/>
          <p:nvPr/>
        </p:nvSpPr>
        <p:spPr>
          <a:xfrm>
            <a:off x="502920" y="2029968"/>
            <a:ext cx="6858000" cy="594360"/>
          </a:xfrm>
          <a:prstGeom prst="rect">
            <a:avLst/>
          </a:prstGeom>
          <a:noFill/>
          <a:ln/>
        </p:spPr>
        <p:txBody>
          <a:bodyPr wrap="square" lIns="0" tIns="0" rIns="0" bIns="0" rtlCol="0" anchor="ctr"/>
          <a:lstStyle/>
          <a:p>
            <a:pPr algn="l" indent="0" marL="0">
              <a:buNone/>
            </a:pPr>
            <a:r>
              <a:rPr lang="en-US" sz="3200" dirty="0">
                <a:solidFill>
                  <a:srgbClr val="EEF2F6"/>
                </a:solidFill>
                <a:latin typeface="Calibri" pitchFamily="34" charset="0"/>
                <a:ea typeface="Calibri" pitchFamily="34" charset="-122"/>
                <a:cs typeface="Calibri" pitchFamily="34" charset="-120"/>
              </a:rPr>
              <a:t>You have three autonomous robots</a:t>
            </a:r>
            <a:endParaRPr lang="en-US" sz="3200" dirty="0"/>
          </a:p>
        </p:txBody>
      </p:sp>
      <p:sp>
        <p:nvSpPr>
          <p:cNvPr id="6" name="Text 4"/>
          <p:cNvSpPr/>
          <p:nvPr/>
        </p:nvSpPr>
        <p:spPr>
          <a:xfrm>
            <a:off x="502920" y="2697480"/>
            <a:ext cx="6858000" cy="594360"/>
          </a:xfrm>
          <a:prstGeom prst="rect">
            <a:avLst/>
          </a:prstGeom>
          <a:noFill/>
          <a:ln/>
        </p:spPr>
        <p:txBody>
          <a:bodyPr wrap="square" lIns="0" tIns="0" rIns="0" bIns="0" rtlCol="0" anchor="ctr"/>
          <a:lstStyle/>
          <a:p>
            <a:pPr algn="l" indent="0" marL="0">
              <a:buNone/>
            </a:pPr>
            <a:r>
              <a:rPr lang="en-US" sz="3200" dirty="0">
                <a:solidFill>
                  <a:srgbClr val="EEF2F6"/>
                </a:solidFill>
                <a:latin typeface="Calibri" pitchFamily="34" charset="0"/>
                <a:ea typeface="Calibri" pitchFamily="34" charset="-122"/>
                <a:cs typeface="Calibri" pitchFamily="34" charset="-120"/>
              </a:rPr>
              <a:t>and limited battery.</a:t>
            </a:r>
            <a:endParaRPr lang="en-US" sz="3200" dirty="0"/>
          </a:p>
        </p:txBody>
      </p:sp>
      <p:sp>
        <p:nvSpPr>
          <p:cNvPr id="7" name="Shape 5"/>
          <p:cNvSpPr/>
          <p:nvPr/>
        </p:nvSpPr>
        <p:spPr>
          <a:xfrm>
            <a:off x="502920" y="3520440"/>
            <a:ext cx="6400800" cy="20117"/>
          </a:xfrm>
          <a:prstGeom prst="rect">
            <a:avLst/>
          </a:prstGeom>
          <a:solidFill>
            <a:srgbClr val="F0A030"/>
          </a:solidFill>
          <a:ln w="12700">
            <a:solidFill>
              <a:srgbClr val="F0A030"/>
            </a:solidFill>
            <a:prstDash val="solid"/>
          </a:ln>
        </p:spPr>
      </p:sp>
      <p:sp>
        <p:nvSpPr>
          <p:cNvPr id="8" name="Text 6"/>
          <p:cNvSpPr/>
          <p:nvPr/>
        </p:nvSpPr>
        <p:spPr>
          <a:xfrm>
            <a:off x="502920" y="3657600"/>
            <a:ext cx="8229600" cy="640080"/>
          </a:xfrm>
          <a:prstGeom prst="rect">
            <a:avLst/>
          </a:prstGeom>
          <a:noFill/>
          <a:ln/>
        </p:spPr>
        <p:txBody>
          <a:bodyPr wrap="square" lIns="0" tIns="0" rIns="0" bIns="0" rtlCol="0" anchor="ctr"/>
          <a:lstStyle/>
          <a:p>
            <a:pPr algn="l" indent="0" marL="0">
              <a:buNone/>
            </a:pPr>
            <a:r>
              <a:rPr lang="en-US" sz="3600" b="1" dirty="0">
                <a:solidFill>
                  <a:srgbClr val="F0A030"/>
                </a:solidFill>
                <a:latin typeface="Calibri" pitchFamily="34" charset="0"/>
                <a:ea typeface="Calibri" pitchFamily="34" charset="-122"/>
                <a:cs typeface="Calibri" pitchFamily="34" charset="-120"/>
              </a:rPr>
              <a:t>Where do you send them first?</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E32"/>
        </a:solidFill>
      </p:bgPr>
    </p:bg>
    <p:spTree>
      <p:nvGrpSpPr>
        <p:cNvPr id="1" name=""/>
        <p:cNvGrpSpPr/>
        <p:nvPr/>
      </p:nvGrpSpPr>
      <p:grpSpPr>
        <a:xfrm>
          <a:off x="0" y="0"/>
          <a:ext cx="0" cy="0"/>
          <a:chOff x="0" y="0"/>
          <a:chExt cx="0" cy="0"/>
        </a:xfrm>
      </p:grpSpPr>
      <p:sp>
        <p:nvSpPr>
          <p:cNvPr id="2" name="Shape 0"/>
          <p:cNvSpPr/>
          <p:nvPr/>
        </p:nvSpPr>
        <p:spPr>
          <a:xfrm>
            <a:off x="0" y="0"/>
            <a:ext cx="91440" cy="5148072"/>
          </a:xfrm>
          <a:prstGeom prst="rect">
            <a:avLst/>
          </a:prstGeom>
          <a:solidFill>
            <a:srgbClr val="F0A030"/>
          </a:solidFill>
          <a:ln w="12700">
            <a:solidFill>
              <a:srgbClr val="F0A030"/>
            </a:solidFill>
            <a:prstDash val="solid"/>
          </a:ln>
        </p:spPr>
      </p:sp>
      <p:sp>
        <p:nvSpPr>
          <p:cNvPr id="3" name="Text 1"/>
          <p:cNvSpPr/>
          <p:nvPr/>
        </p:nvSpPr>
        <p:spPr>
          <a:xfrm>
            <a:off x="5029200" y="457200"/>
            <a:ext cx="3657600" cy="4206240"/>
          </a:xfrm>
          <a:prstGeom prst="rect">
            <a:avLst/>
          </a:prstGeom>
          <a:noFill/>
          <a:ln/>
        </p:spPr>
        <p:txBody>
          <a:bodyPr wrap="square" lIns="0" tIns="0" rIns="0" bIns="0" rtlCol="0" anchor="ctr"/>
          <a:lstStyle/>
          <a:p>
            <a:pPr algn="r" indent="0" marL="0">
              <a:buNone/>
            </a:pPr>
            <a:r>
              <a:rPr lang="en-US" sz="14000" b="1" dirty="0">
                <a:solidFill>
                  <a:srgbClr val="1A2E42"/>
                </a:solidFill>
                <a:latin typeface="Calibri" pitchFamily="34" charset="0"/>
                <a:ea typeface="Calibri" pitchFamily="34" charset="-122"/>
                <a:cs typeface="Calibri" pitchFamily="34" charset="-120"/>
              </a:rPr>
              <a:t>I</a:t>
            </a:r>
            <a:endParaRPr lang="en-US" sz="14000" dirty="0"/>
          </a:p>
        </p:txBody>
      </p:sp>
      <p:sp>
        <p:nvSpPr>
          <p:cNvPr id="4" name="Text 2"/>
          <p:cNvSpPr/>
          <p:nvPr/>
        </p:nvSpPr>
        <p:spPr>
          <a:xfrm>
            <a:off x="365760" y="1280160"/>
            <a:ext cx="1645920" cy="1280160"/>
          </a:xfrm>
          <a:prstGeom prst="rect">
            <a:avLst/>
          </a:prstGeom>
          <a:noFill/>
          <a:ln/>
        </p:spPr>
        <p:txBody>
          <a:bodyPr wrap="square" lIns="0" tIns="0" rIns="0" bIns="0" rtlCol="0" anchor="ctr"/>
          <a:lstStyle/>
          <a:p>
            <a:pPr algn="l" indent="0" marL="0">
              <a:buNone/>
            </a:pPr>
            <a:r>
              <a:rPr lang="en-US" sz="7200" b="1" dirty="0">
                <a:solidFill>
                  <a:srgbClr val="1A3050"/>
                </a:solidFill>
                <a:latin typeface="Calibri" pitchFamily="34" charset="0"/>
                <a:ea typeface="Calibri" pitchFamily="34" charset="-122"/>
                <a:cs typeface="Calibri" pitchFamily="34" charset="-120"/>
              </a:rPr>
              <a:t>I</a:t>
            </a:r>
            <a:endParaRPr lang="en-US" sz="7200" dirty="0"/>
          </a:p>
        </p:txBody>
      </p:sp>
      <p:sp>
        <p:nvSpPr>
          <p:cNvPr id="5" name="Text 3"/>
          <p:cNvSpPr/>
          <p:nvPr/>
        </p:nvSpPr>
        <p:spPr>
          <a:xfrm>
            <a:off x="365760" y="2743200"/>
            <a:ext cx="8046720" cy="658368"/>
          </a:xfrm>
          <a:prstGeom prst="rect">
            <a:avLst/>
          </a:prstGeom>
          <a:noFill/>
          <a:ln/>
        </p:spPr>
        <p:txBody>
          <a:bodyPr wrap="square" lIns="0" tIns="0" rIns="0" bIns="0" rtlCol="0" anchor="ctr"/>
          <a:lstStyle/>
          <a:p>
            <a:pPr algn="l" indent="0" marL="0">
              <a:buNone/>
            </a:pPr>
            <a:r>
              <a:rPr lang="en-US" sz="3400" b="1" dirty="0">
                <a:solidFill>
                  <a:srgbClr val="EEF2F6"/>
                </a:solidFill>
                <a:latin typeface="Calibri" pitchFamily="34" charset="0"/>
                <a:ea typeface="Calibri" pitchFamily="34" charset="-122"/>
                <a:cs typeface="Calibri" pitchFamily="34" charset="-120"/>
              </a:rPr>
              <a:t>The Problem</a:t>
            </a:r>
            <a:endParaRPr lang="en-US" sz="3400" dirty="0"/>
          </a:p>
        </p:txBody>
      </p:sp>
      <p:sp>
        <p:nvSpPr>
          <p:cNvPr id="6" name="Text 4"/>
          <p:cNvSpPr/>
          <p:nvPr/>
        </p:nvSpPr>
        <p:spPr>
          <a:xfrm>
            <a:off x="365760" y="3456432"/>
            <a:ext cx="8046720" cy="365760"/>
          </a:xfrm>
          <a:prstGeom prst="rect">
            <a:avLst/>
          </a:prstGeom>
          <a:noFill/>
          <a:ln/>
        </p:spPr>
        <p:txBody>
          <a:bodyPr wrap="square" lIns="0" tIns="0" rIns="0" bIns="0" rtlCol="0" anchor="ctr"/>
          <a:lstStyle/>
          <a:p>
            <a:pPr algn="l" indent="0" marL="0">
              <a:buNone/>
            </a:pPr>
            <a:r>
              <a:rPr lang="en-US" sz="1400" i="1" dirty="0">
                <a:solidFill>
                  <a:srgbClr val="4E6E88"/>
                </a:solidFill>
                <a:latin typeface="Calibri" pitchFamily="34" charset="0"/>
                <a:ea typeface="Calibri" pitchFamily="34" charset="-122"/>
                <a:cs typeface="Calibri" pitchFamily="34" charset="-120"/>
              </a:rPr>
              <a:t>What makes autonomous search hard — and how do we measure success?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MOTIVATION</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500" b="1" dirty="0">
                <a:solidFill>
                  <a:srgbClr val="EEF2F6"/>
                </a:solidFill>
                <a:latin typeface="Calibri" pitchFamily="34" charset="0"/>
                <a:ea typeface="Calibri" pitchFamily="34" charset="-122"/>
                <a:cs typeface="Calibri" pitchFamily="34" charset="-120"/>
              </a:rPr>
              <a:t>Three Coordination Failures That Cost Lives</a:t>
            </a:r>
            <a:endParaRPr lang="en-US" sz="25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sp>
        <p:nvSpPr>
          <p:cNvPr id="5" name="Shape 3"/>
          <p:cNvSpPr/>
          <p:nvPr/>
        </p:nvSpPr>
        <p:spPr>
          <a:xfrm>
            <a:off x="384048" y="969264"/>
            <a:ext cx="2596896" cy="3127248"/>
          </a:xfrm>
          <a:prstGeom prst="rect">
            <a:avLst/>
          </a:prstGeom>
          <a:solidFill>
            <a:srgbClr val="13243A"/>
          </a:solidFill>
          <a:ln w="12700">
            <a:solidFill>
              <a:srgbClr val="13243A"/>
            </a:solidFill>
            <a:prstDash val="solid"/>
          </a:ln>
        </p:spPr>
      </p:sp>
      <p:sp>
        <p:nvSpPr>
          <p:cNvPr id="6" name="Shape 4"/>
          <p:cNvSpPr/>
          <p:nvPr/>
        </p:nvSpPr>
        <p:spPr>
          <a:xfrm>
            <a:off x="384048" y="969264"/>
            <a:ext cx="2596896" cy="54864"/>
          </a:xfrm>
          <a:prstGeom prst="rect">
            <a:avLst/>
          </a:prstGeom>
          <a:solidFill>
            <a:srgbClr val="F0A030"/>
          </a:solidFill>
          <a:ln w="12700">
            <a:solidFill>
              <a:srgbClr val="F0A030"/>
            </a:solidFill>
            <a:prstDash val="solid"/>
          </a:ln>
        </p:spPr>
      </p:sp>
      <p:sp>
        <p:nvSpPr>
          <p:cNvPr id="7" name="Text 5"/>
          <p:cNvSpPr/>
          <p:nvPr/>
        </p:nvSpPr>
        <p:spPr>
          <a:xfrm>
            <a:off x="548640" y="1115568"/>
            <a:ext cx="2267712" cy="658368"/>
          </a:xfrm>
          <a:prstGeom prst="rect">
            <a:avLst/>
          </a:prstGeom>
          <a:noFill/>
          <a:ln/>
        </p:spPr>
        <p:txBody>
          <a:bodyPr wrap="square" lIns="0" tIns="0" rIns="0" bIns="0" rtlCol="0" anchor="t"/>
          <a:lstStyle/>
          <a:p>
            <a:pPr algn="l" indent="0" marL="0">
              <a:buNone/>
            </a:pPr>
            <a:r>
              <a:rPr lang="en-US" sz="1400" b="1" dirty="0">
                <a:solidFill>
                  <a:srgbClr val="F0A030"/>
                </a:solidFill>
                <a:latin typeface="Calibri" pitchFamily="34" charset="0"/>
                <a:ea typeface="Calibri" pitchFamily="34" charset="-122"/>
                <a:cs typeface="Calibri" pitchFamily="34" charset="-120"/>
              </a:rPr>
              <a:t>Coverage</a:t>
            </a:r>
            <a:endParaRPr lang="en-US" sz="1400" dirty="0"/>
          </a:p>
          <a:p>
            <a:pPr algn="l" indent="0" marL="0">
              <a:buNone/>
            </a:pPr>
            <a:r>
              <a:rPr lang="en-US" sz="1400" b="1" dirty="0">
                <a:solidFill>
                  <a:srgbClr val="F0A030"/>
                </a:solidFill>
                <a:latin typeface="Calibri" pitchFamily="34" charset="0"/>
                <a:ea typeface="Calibri" pitchFamily="34" charset="-122"/>
                <a:cs typeface="Calibri" pitchFamily="34" charset="-120"/>
              </a:rPr>
              <a:t>duplication</a:t>
            </a:r>
            <a:endParaRPr lang="en-US" sz="1400" dirty="0"/>
          </a:p>
        </p:txBody>
      </p:sp>
      <p:sp>
        <p:nvSpPr>
          <p:cNvPr id="8" name="Shape 6"/>
          <p:cNvSpPr/>
          <p:nvPr/>
        </p:nvSpPr>
        <p:spPr>
          <a:xfrm>
            <a:off x="548640" y="1810512"/>
            <a:ext cx="2267712" cy="18288"/>
          </a:xfrm>
          <a:prstGeom prst="rect">
            <a:avLst/>
          </a:prstGeom>
          <a:solidFill>
            <a:srgbClr val="1C3550"/>
          </a:solidFill>
          <a:ln w="12700">
            <a:solidFill>
              <a:srgbClr val="1C3550"/>
            </a:solidFill>
            <a:prstDash val="solid"/>
          </a:ln>
        </p:spPr>
      </p:sp>
      <p:sp>
        <p:nvSpPr>
          <p:cNvPr id="9" name="Text 7"/>
          <p:cNvSpPr/>
          <p:nvPr/>
        </p:nvSpPr>
        <p:spPr>
          <a:xfrm>
            <a:off x="548640" y="1901952"/>
            <a:ext cx="2267712" cy="2029968"/>
          </a:xfrm>
          <a:prstGeom prst="rect">
            <a:avLst/>
          </a:prstGeom>
          <a:noFill/>
          <a:ln/>
        </p:spPr>
        <p:txBody>
          <a:bodyPr wrap="square" lIns="0" tIns="0" rIns="0" bIns="0" rtlCol="0" anchor="t"/>
          <a:lstStyle/>
          <a:p>
            <a:pPr algn="l" indent="0" marL="0">
              <a:lnSpc>
                <a:spcPct val="120000"/>
              </a:lnSpc>
              <a:buNone/>
            </a:pPr>
            <a:r>
              <a:rPr lang="en-US" sz="1250" dirty="0">
                <a:solidFill>
                  <a:srgbClr val="EEF2F6"/>
                </a:solidFill>
                <a:latin typeface="Calibri" pitchFamily="34" charset="0"/>
                <a:ea typeface="Calibri" pitchFamily="34" charset="-122"/>
                <a:cs typeface="Calibri" pitchFamily="34" charset="-120"/>
              </a:rPr>
              <a:t>Without communication, multiple robots fly to the same debris pile while other zones go unsearched. Probability mass is wasted.</a:t>
            </a:r>
            <a:endParaRPr lang="en-US" sz="1250" dirty="0"/>
          </a:p>
        </p:txBody>
      </p:sp>
      <p:sp>
        <p:nvSpPr>
          <p:cNvPr id="10" name="Shape 8"/>
          <p:cNvSpPr/>
          <p:nvPr/>
        </p:nvSpPr>
        <p:spPr>
          <a:xfrm>
            <a:off x="3246120" y="969264"/>
            <a:ext cx="2596896" cy="3127248"/>
          </a:xfrm>
          <a:prstGeom prst="rect">
            <a:avLst/>
          </a:prstGeom>
          <a:solidFill>
            <a:srgbClr val="13243A"/>
          </a:solidFill>
          <a:ln w="12700">
            <a:solidFill>
              <a:srgbClr val="13243A"/>
            </a:solidFill>
            <a:prstDash val="solid"/>
          </a:ln>
        </p:spPr>
      </p:sp>
      <p:sp>
        <p:nvSpPr>
          <p:cNvPr id="11" name="Shape 9"/>
          <p:cNvSpPr/>
          <p:nvPr/>
        </p:nvSpPr>
        <p:spPr>
          <a:xfrm>
            <a:off x="3246120" y="969264"/>
            <a:ext cx="2596896" cy="54864"/>
          </a:xfrm>
          <a:prstGeom prst="rect">
            <a:avLst/>
          </a:prstGeom>
          <a:solidFill>
            <a:srgbClr val="F0A030"/>
          </a:solidFill>
          <a:ln w="12700">
            <a:solidFill>
              <a:srgbClr val="F0A030"/>
            </a:solidFill>
            <a:prstDash val="solid"/>
          </a:ln>
        </p:spPr>
      </p:sp>
      <p:sp>
        <p:nvSpPr>
          <p:cNvPr id="12" name="Text 10"/>
          <p:cNvSpPr/>
          <p:nvPr/>
        </p:nvSpPr>
        <p:spPr>
          <a:xfrm>
            <a:off x="3410712" y="1115568"/>
            <a:ext cx="2267712" cy="658368"/>
          </a:xfrm>
          <a:prstGeom prst="rect">
            <a:avLst/>
          </a:prstGeom>
          <a:noFill/>
          <a:ln/>
        </p:spPr>
        <p:txBody>
          <a:bodyPr wrap="square" lIns="0" tIns="0" rIns="0" bIns="0" rtlCol="0" anchor="t"/>
          <a:lstStyle/>
          <a:p>
            <a:pPr algn="l" indent="0" marL="0">
              <a:buNone/>
            </a:pPr>
            <a:r>
              <a:rPr lang="en-US" sz="1400" b="1" dirty="0">
                <a:solidFill>
                  <a:srgbClr val="F0A030"/>
                </a:solidFill>
                <a:latin typeface="Calibri" pitchFamily="34" charset="0"/>
                <a:ea typeface="Calibri" pitchFamily="34" charset="-122"/>
                <a:cs typeface="Calibri" pitchFamily="34" charset="-120"/>
              </a:rPr>
              <a:t>Battery</a:t>
            </a:r>
            <a:endParaRPr lang="en-US" sz="1400" dirty="0"/>
          </a:p>
          <a:p>
            <a:pPr algn="l" indent="0" marL="0">
              <a:buNone/>
            </a:pPr>
            <a:r>
              <a:rPr lang="en-US" sz="1400" b="1" dirty="0">
                <a:solidFill>
                  <a:srgbClr val="F0A030"/>
                </a:solidFill>
                <a:latin typeface="Calibri" pitchFamily="34" charset="0"/>
                <a:ea typeface="Calibri" pitchFamily="34" charset="-122"/>
                <a:cs typeface="Calibri" pitchFamily="34" charset="-120"/>
              </a:rPr>
              <a:t>exhaustion</a:t>
            </a:r>
            <a:endParaRPr lang="en-US" sz="1400" dirty="0"/>
          </a:p>
        </p:txBody>
      </p:sp>
      <p:sp>
        <p:nvSpPr>
          <p:cNvPr id="13" name="Shape 11"/>
          <p:cNvSpPr/>
          <p:nvPr/>
        </p:nvSpPr>
        <p:spPr>
          <a:xfrm>
            <a:off x="3410712" y="1810512"/>
            <a:ext cx="2267712" cy="18288"/>
          </a:xfrm>
          <a:prstGeom prst="rect">
            <a:avLst/>
          </a:prstGeom>
          <a:solidFill>
            <a:srgbClr val="1C3550"/>
          </a:solidFill>
          <a:ln w="12700">
            <a:solidFill>
              <a:srgbClr val="1C3550"/>
            </a:solidFill>
            <a:prstDash val="solid"/>
          </a:ln>
        </p:spPr>
      </p:sp>
      <p:sp>
        <p:nvSpPr>
          <p:cNvPr id="14" name="Text 12"/>
          <p:cNvSpPr/>
          <p:nvPr/>
        </p:nvSpPr>
        <p:spPr>
          <a:xfrm>
            <a:off x="3410712" y="1901952"/>
            <a:ext cx="2267712" cy="2029968"/>
          </a:xfrm>
          <a:prstGeom prst="rect">
            <a:avLst/>
          </a:prstGeom>
          <a:noFill/>
          <a:ln/>
        </p:spPr>
        <p:txBody>
          <a:bodyPr wrap="square" lIns="0" tIns="0" rIns="0" bIns="0" rtlCol="0" anchor="t"/>
          <a:lstStyle/>
          <a:p>
            <a:pPr algn="l" indent="0" marL="0">
              <a:lnSpc>
                <a:spcPct val="120000"/>
              </a:lnSpc>
              <a:buNone/>
            </a:pPr>
            <a:r>
              <a:rPr lang="en-US" sz="1250" dirty="0">
                <a:solidFill>
                  <a:srgbClr val="EEF2F6"/>
                </a:solidFill>
                <a:latin typeface="Calibri" pitchFamily="34" charset="0"/>
                <a:ea typeface="Calibri" pitchFamily="34" charset="-122"/>
                <a:cs typeface="Calibri" pitchFamily="34" charset="-120"/>
              </a:rPr>
              <a:t>Robots traveling inefficiently to distant sites return empty-handed. Limited battery means every wasted sortie is unrecoverable.</a:t>
            </a:r>
            <a:endParaRPr lang="en-US" sz="1250" dirty="0"/>
          </a:p>
        </p:txBody>
      </p:sp>
      <p:sp>
        <p:nvSpPr>
          <p:cNvPr id="15" name="Shape 13"/>
          <p:cNvSpPr/>
          <p:nvPr/>
        </p:nvSpPr>
        <p:spPr>
          <a:xfrm>
            <a:off x="6108192" y="969264"/>
            <a:ext cx="2596896" cy="3127248"/>
          </a:xfrm>
          <a:prstGeom prst="rect">
            <a:avLst/>
          </a:prstGeom>
          <a:solidFill>
            <a:srgbClr val="13243A"/>
          </a:solidFill>
          <a:ln w="12700">
            <a:solidFill>
              <a:srgbClr val="13243A"/>
            </a:solidFill>
            <a:prstDash val="solid"/>
          </a:ln>
        </p:spPr>
      </p:sp>
      <p:sp>
        <p:nvSpPr>
          <p:cNvPr id="16" name="Shape 14"/>
          <p:cNvSpPr/>
          <p:nvPr/>
        </p:nvSpPr>
        <p:spPr>
          <a:xfrm>
            <a:off x="6108192" y="969264"/>
            <a:ext cx="2596896" cy="54864"/>
          </a:xfrm>
          <a:prstGeom prst="rect">
            <a:avLst/>
          </a:prstGeom>
          <a:solidFill>
            <a:srgbClr val="F0A030"/>
          </a:solidFill>
          <a:ln w="12700">
            <a:solidFill>
              <a:srgbClr val="F0A030"/>
            </a:solidFill>
            <a:prstDash val="solid"/>
          </a:ln>
        </p:spPr>
      </p:sp>
      <p:sp>
        <p:nvSpPr>
          <p:cNvPr id="17" name="Text 15"/>
          <p:cNvSpPr/>
          <p:nvPr/>
        </p:nvSpPr>
        <p:spPr>
          <a:xfrm>
            <a:off x="6272784" y="1115568"/>
            <a:ext cx="2267712" cy="658368"/>
          </a:xfrm>
          <a:prstGeom prst="rect">
            <a:avLst/>
          </a:prstGeom>
          <a:noFill/>
          <a:ln/>
        </p:spPr>
        <p:txBody>
          <a:bodyPr wrap="square" lIns="0" tIns="0" rIns="0" bIns="0" rtlCol="0" anchor="t"/>
          <a:lstStyle/>
          <a:p>
            <a:pPr algn="l" indent="0" marL="0">
              <a:buNone/>
            </a:pPr>
            <a:r>
              <a:rPr lang="en-US" sz="1400" b="1" dirty="0">
                <a:solidFill>
                  <a:srgbClr val="F0A030"/>
                </a:solidFill>
                <a:latin typeface="Calibri" pitchFamily="34" charset="0"/>
                <a:ea typeface="Calibri" pitchFamily="34" charset="-122"/>
                <a:cs typeface="Calibri" pitchFamily="34" charset="-120"/>
              </a:rPr>
              <a:t>Radio</a:t>
            </a:r>
            <a:endParaRPr lang="en-US" sz="1400" dirty="0"/>
          </a:p>
          <a:p>
            <a:pPr algn="l" indent="0" marL="0">
              <a:buNone/>
            </a:pPr>
            <a:r>
              <a:rPr lang="en-US" sz="1400" b="1" dirty="0">
                <a:solidFill>
                  <a:srgbClr val="F0A030"/>
                </a:solidFill>
                <a:latin typeface="Calibri" pitchFamily="34" charset="0"/>
                <a:ea typeface="Calibri" pitchFamily="34" charset="-122"/>
                <a:cs typeface="Calibri" pitchFamily="34" charset="-120"/>
              </a:rPr>
              <a:t>blackout</a:t>
            </a:r>
            <a:endParaRPr lang="en-US" sz="1400" dirty="0"/>
          </a:p>
        </p:txBody>
      </p:sp>
      <p:sp>
        <p:nvSpPr>
          <p:cNvPr id="18" name="Shape 16"/>
          <p:cNvSpPr/>
          <p:nvPr/>
        </p:nvSpPr>
        <p:spPr>
          <a:xfrm>
            <a:off x="6272784" y="1810512"/>
            <a:ext cx="2267712" cy="18288"/>
          </a:xfrm>
          <a:prstGeom prst="rect">
            <a:avLst/>
          </a:prstGeom>
          <a:solidFill>
            <a:srgbClr val="1C3550"/>
          </a:solidFill>
          <a:ln w="12700">
            <a:solidFill>
              <a:srgbClr val="1C3550"/>
            </a:solidFill>
            <a:prstDash val="solid"/>
          </a:ln>
        </p:spPr>
      </p:sp>
      <p:sp>
        <p:nvSpPr>
          <p:cNvPr id="19" name="Text 17"/>
          <p:cNvSpPr/>
          <p:nvPr/>
        </p:nvSpPr>
        <p:spPr>
          <a:xfrm>
            <a:off x="6272784" y="1901952"/>
            <a:ext cx="2267712" cy="2029968"/>
          </a:xfrm>
          <a:prstGeom prst="rect">
            <a:avLst/>
          </a:prstGeom>
          <a:noFill/>
          <a:ln/>
        </p:spPr>
        <p:txBody>
          <a:bodyPr wrap="square" lIns="0" tIns="0" rIns="0" bIns="0" rtlCol="0" anchor="t"/>
          <a:lstStyle/>
          <a:p>
            <a:pPr algn="l" indent="0" marL="0">
              <a:lnSpc>
                <a:spcPct val="120000"/>
              </a:lnSpc>
              <a:buNone/>
            </a:pPr>
            <a:r>
              <a:rPr lang="en-US" sz="1250" dirty="0">
                <a:solidFill>
                  <a:srgbClr val="EEF2F6"/>
                </a:solidFill>
                <a:latin typeface="Calibri" pitchFamily="34" charset="0"/>
                <a:ea typeface="Calibri" pitchFamily="34" charset="-122"/>
                <a:cs typeface="Calibri" pitchFamily="34" charset="-120"/>
              </a:rPr>
              <a:t>Structural rubble blocks wireless signals during flight. Site assignments must be finalized before robots depart — no mid-sortie updates.</a:t>
            </a:r>
            <a:endParaRPr lang="en-US" sz="1250" dirty="0"/>
          </a:p>
        </p:txBody>
      </p:sp>
      <p:sp>
        <p:nvSpPr>
          <p:cNvPr id="20" name="Text 18"/>
          <p:cNvSpPr/>
          <p:nvPr/>
        </p:nvSpPr>
        <p:spPr>
          <a:xfrm>
            <a:off x="384048" y="4251960"/>
            <a:ext cx="8375904" cy="502920"/>
          </a:xfrm>
          <a:prstGeom prst="rect">
            <a:avLst/>
          </a:prstGeom>
          <a:noFill/>
          <a:ln/>
        </p:spPr>
        <p:txBody>
          <a:bodyPr wrap="square" lIns="0" tIns="0" rIns="0" bIns="0" rtlCol="0" anchor="ctr"/>
          <a:lstStyle/>
          <a:p>
            <a:pPr algn="l" indent="0" marL="0">
              <a:buNone/>
            </a:pPr>
            <a:r>
              <a:rPr lang="en-US" sz="1150" i="1" dirty="0">
                <a:solidFill>
                  <a:srgbClr val="4E6E88"/>
                </a:solidFill>
                <a:latin typeface="Calibri" pitchFamily="34" charset="0"/>
                <a:ea typeface="Calibri" pitchFamily="34" charset="-122"/>
                <a:cs typeface="Calibri" pitchFamily="34" charset="-120"/>
              </a:rPr>
              <a:t>February 2023, Turkey-Syria earthquake: 160,000+ structures damaged, autonomous systems deployed — all three failure modes documented in post-mission reports.</a:t>
            </a:r>
            <a:endParaRPr lang="en-US" sz="1150" dirty="0"/>
          </a:p>
        </p:txBody>
      </p:sp>
      <p:sp>
        <p:nvSpPr>
          <p:cNvPr id="21" name="Text 19"/>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PROBLEM FORMULATION</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700" b="1" dirty="0">
                <a:solidFill>
                  <a:srgbClr val="EEF2F6"/>
                </a:solidFill>
                <a:latin typeface="Calibri" pitchFamily="34" charset="0"/>
                <a:ea typeface="Calibri" pitchFamily="34" charset="-122"/>
                <a:cs typeface="Calibri" pitchFamily="34" charset="-120"/>
              </a:rPr>
              <a:t>The Formal Setup</a:t>
            </a:r>
            <a:endParaRPr lang="en-US" sz="27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sp>
        <p:nvSpPr>
          <p:cNvPr id="5" name="Text 3"/>
          <p:cNvSpPr/>
          <p:nvPr/>
        </p:nvSpPr>
        <p:spPr>
          <a:xfrm>
            <a:off x="5029200" y="914400"/>
            <a:ext cx="3840480" cy="3474720"/>
          </a:xfrm>
          <a:prstGeom prst="rect">
            <a:avLst/>
          </a:prstGeom>
          <a:noFill/>
          <a:ln/>
        </p:spPr>
        <p:txBody>
          <a:bodyPr wrap="square" lIns="0" tIns="0" rIns="0" bIns="0" rtlCol="0" anchor="ctr"/>
          <a:lstStyle/>
          <a:p>
            <a:pPr algn="r" indent="0" marL="0">
              <a:buNone/>
            </a:pPr>
            <a:r>
              <a:rPr lang="en-US" sz="9000" b="1" dirty="0">
                <a:solidFill>
                  <a:srgbClr val="1A2E42"/>
                </a:solidFill>
                <a:latin typeface="Calibri" pitchFamily="34" charset="0"/>
                <a:ea typeface="Calibri" pitchFamily="34" charset="-122"/>
                <a:cs typeface="Calibri" pitchFamily="34" charset="-120"/>
              </a:rPr>
              <a:t>n·R·E</a:t>
            </a:r>
            <a:endParaRPr lang="en-US" sz="9000" dirty="0"/>
          </a:p>
        </p:txBody>
      </p:sp>
      <p:sp>
        <p:nvSpPr>
          <p:cNvPr id="6" name="Text 4"/>
          <p:cNvSpPr/>
          <p:nvPr/>
        </p:nvSpPr>
        <p:spPr>
          <a:xfrm>
            <a:off x="384048" y="987552"/>
            <a:ext cx="4572000" cy="274320"/>
          </a:xfrm>
          <a:prstGeom prst="rect">
            <a:avLst/>
          </a:prstGeom>
          <a:noFill/>
          <a:ln/>
        </p:spPr>
        <p:txBody>
          <a:bodyPr wrap="square" lIns="0" tIns="0" rIns="0" bIns="0" rtlCol="0" anchor="ctr"/>
          <a:lstStyle/>
          <a:p>
            <a:pPr algn="l" indent="0" marL="0">
              <a:buNone/>
            </a:pPr>
            <a:r>
              <a:rPr lang="en-US" sz="1350" b="1" dirty="0">
                <a:solidFill>
                  <a:srgbClr val="F0A030"/>
                </a:solidFill>
                <a:latin typeface="Calibri" pitchFamily="34" charset="0"/>
                <a:ea typeface="Calibri" pitchFamily="34" charset="-122"/>
                <a:cs typeface="Calibri" pitchFamily="34" charset="-120"/>
              </a:rPr>
              <a:t>n sites</a:t>
            </a:r>
            <a:endParaRPr lang="en-US" sz="1350" dirty="0"/>
          </a:p>
        </p:txBody>
      </p:sp>
      <p:sp>
        <p:nvSpPr>
          <p:cNvPr id="7" name="Text 5"/>
          <p:cNvSpPr/>
          <p:nvPr/>
        </p:nvSpPr>
        <p:spPr>
          <a:xfrm>
            <a:off x="384048" y="1280160"/>
            <a:ext cx="4572000" cy="566928"/>
          </a:xfrm>
          <a:prstGeom prst="rect">
            <a:avLst/>
          </a:prstGeom>
          <a:noFill/>
          <a:ln/>
        </p:spPr>
        <p:txBody>
          <a:bodyPr wrap="square" lIns="0" tIns="0" rIns="0" bIns="0" rtlCol="0" anchor="t"/>
          <a:lstStyle/>
          <a:p>
            <a:pPr algn="l" indent="0" marL="0">
              <a:buNone/>
            </a:pPr>
            <a:r>
              <a:rPr lang="en-US" sz="1250" dirty="0">
                <a:solidFill>
                  <a:srgbClr val="EEF2F6"/>
                </a:solidFill>
                <a:latin typeface="Calibri" pitchFamily="34" charset="0"/>
                <a:ea typeface="Calibri" pitchFamily="34" charset="-122"/>
                <a:cs typeface="Calibri" pitchFamily="34" charset="-120"/>
              </a:rPr>
              <a:t>Each site i carries a prior probability pᵢ of containing the survivor. Probabilities are Bayesian-updated as sites are cleared.</a:t>
            </a:r>
            <a:endParaRPr lang="en-US" sz="1250" dirty="0"/>
          </a:p>
        </p:txBody>
      </p:sp>
      <p:sp>
        <p:nvSpPr>
          <p:cNvPr id="8" name="Text 6"/>
          <p:cNvSpPr/>
          <p:nvPr/>
        </p:nvSpPr>
        <p:spPr>
          <a:xfrm>
            <a:off x="384048" y="1938528"/>
            <a:ext cx="4572000" cy="274320"/>
          </a:xfrm>
          <a:prstGeom prst="rect">
            <a:avLst/>
          </a:prstGeom>
          <a:noFill/>
          <a:ln/>
        </p:spPr>
        <p:txBody>
          <a:bodyPr wrap="square" lIns="0" tIns="0" rIns="0" bIns="0" rtlCol="0" anchor="ctr"/>
          <a:lstStyle/>
          <a:p>
            <a:pPr algn="l" indent="0" marL="0">
              <a:buNone/>
            </a:pPr>
            <a:r>
              <a:rPr lang="en-US" sz="1350" b="1" dirty="0">
                <a:solidFill>
                  <a:srgbClr val="F0A030"/>
                </a:solidFill>
                <a:latin typeface="Calibri" pitchFamily="34" charset="0"/>
                <a:ea typeface="Calibri" pitchFamily="34" charset="-122"/>
                <a:cs typeface="Calibri" pitchFamily="34" charset="-120"/>
              </a:rPr>
              <a:t>R robots</a:t>
            </a:r>
            <a:endParaRPr lang="en-US" sz="1350" dirty="0"/>
          </a:p>
        </p:txBody>
      </p:sp>
      <p:sp>
        <p:nvSpPr>
          <p:cNvPr id="9" name="Text 7"/>
          <p:cNvSpPr/>
          <p:nvPr/>
        </p:nvSpPr>
        <p:spPr>
          <a:xfrm>
            <a:off x="384048" y="2231136"/>
            <a:ext cx="4572000" cy="566928"/>
          </a:xfrm>
          <a:prstGeom prst="rect">
            <a:avLst/>
          </a:prstGeom>
          <a:noFill/>
          <a:ln/>
        </p:spPr>
        <p:txBody>
          <a:bodyPr wrap="square" lIns="0" tIns="0" rIns="0" bIns="0" rtlCol="0" anchor="t"/>
          <a:lstStyle/>
          <a:p>
            <a:pPr algn="l" indent="0" marL="0">
              <a:buNone/>
            </a:pPr>
            <a:r>
              <a:rPr lang="en-US" sz="1250" dirty="0">
                <a:solidFill>
                  <a:srgbClr val="EEF2F6"/>
                </a:solidFill>
                <a:latin typeface="Calibri" pitchFamily="34" charset="0"/>
                <a:ea typeface="Calibri" pitchFamily="34" charset="-122"/>
                <a:cs typeface="Calibri" pitchFamily="34" charset="-120"/>
              </a:rPr>
              <a:t>All start at a shared base station. Energy budget E per sortie, spent as Euclidean travel distance.</a:t>
            </a:r>
            <a:endParaRPr lang="en-US" sz="1250" dirty="0"/>
          </a:p>
        </p:txBody>
      </p:sp>
      <p:sp>
        <p:nvSpPr>
          <p:cNvPr id="10" name="Text 8"/>
          <p:cNvSpPr/>
          <p:nvPr/>
        </p:nvSpPr>
        <p:spPr>
          <a:xfrm>
            <a:off x="384048" y="2889504"/>
            <a:ext cx="4572000" cy="274320"/>
          </a:xfrm>
          <a:prstGeom prst="rect">
            <a:avLst/>
          </a:prstGeom>
          <a:noFill/>
          <a:ln/>
        </p:spPr>
        <p:txBody>
          <a:bodyPr wrap="square" lIns="0" tIns="0" rIns="0" bIns="0" rtlCol="0" anchor="ctr"/>
          <a:lstStyle/>
          <a:p>
            <a:pPr algn="l" indent="0" marL="0">
              <a:buNone/>
            </a:pPr>
            <a:r>
              <a:rPr lang="en-US" sz="1350" b="1" dirty="0">
                <a:solidFill>
                  <a:srgbClr val="F0A030"/>
                </a:solidFill>
                <a:latin typeface="Calibri" pitchFamily="34" charset="0"/>
                <a:ea typeface="Calibri" pitchFamily="34" charset="-122"/>
                <a:cs typeface="Calibri" pitchFamily="34" charset="-120"/>
              </a:rPr>
              <a:t>No mid-flight radio</a:t>
            </a:r>
            <a:endParaRPr lang="en-US" sz="1350" dirty="0"/>
          </a:p>
        </p:txBody>
      </p:sp>
      <p:sp>
        <p:nvSpPr>
          <p:cNvPr id="11" name="Text 9"/>
          <p:cNvSpPr/>
          <p:nvPr/>
        </p:nvSpPr>
        <p:spPr>
          <a:xfrm>
            <a:off x="384048" y="3182112"/>
            <a:ext cx="4572000" cy="566928"/>
          </a:xfrm>
          <a:prstGeom prst="rect">
            <a:avLst/>
          </a:prstGeom>
          <a:noFill/>
          <a:ln/>
        </p:spPr>
        <p:txBody>
          <a:bodyPr wrap="square" lIns="0" tIns="0" rIns="0" bIns="0" rtlCol="0" anchor="t"/>
          <a:lstStyle/>
          <a:p>
            <a:pPr algn="l" indent="0" marL="0">
              <a:buNone/>
            </a:pPr>
            <a:r>
              <a:rPr lang="en-US" sz="1250" dirty="0">
                <a:solidFill>
                  <a:srgbClr val="EEF2F6"/>
                </a:solidFill>
                <a:latin typeface="Calibri" pitchFamily="34" charset="0"/>
                <a:ea typeface="Calibri" pitchFamily="34" charset="-122"/>
                <a:cs typeface="Calibri" pitchFamily="34" charset="-120"/>
              </a:rPr>
              <a:t>Communication only at base. Assignments are finalized before departure — robots cannot coordinate during the sortie.</a:t>
            </a:r>
            <a:endParaRPr lang="en-US" sz="1250" dirty="0"/>
          </a:p>
        </p:txBody>
      </p:sp>
      <p:sp>
        <p:nvSpPr>
          <p:cNvPr id="12" name="Text 10"/>
          <p:cNvSpPr/>
          <p:nvPr/>
        </p:nvSpPr>
        <p:spPr>
          <a:xfrm>
            <a:off x="384048" y="3840480"/>
            <a:ext cx="4572000" cy="274320"/>
          </a:xfrm>
          <a:prstGeom prst="rect">
            <a:avLst/>
          </a:prstGeom>
          <a:noFill/>
          <a:ln/>
        </p:spPr>
        <p:txBody>
          <a:bodyPr wrap="square" lIns="0" tIns="0" rIns="0" bIns="0" rtlCol="0" anchor="ctr"/>
          <a:lstStyle/>
          <a:p>
            <a:pPr algn="l" indent="0" marL="0">
              <a:buNone/>
            </a:pPr>
            <a:r>
              <a:rPr lang="en-US" sz="1350" b="1" dirty="0">
                <a:solidFill>
                  <a:srgbClr val="F0A030"/>
                </a:solidFill>
                <a:latin typeface="Calibri" pitchFamily="34" charset="0"/>
                <a:ea typeface="Calibri" pitchFamily="34" charset="-122"/>
                <a:cs typeface="Calibri" pitchFamily="34" charset="-120"/>
              </a:rPr>
              <a:t>Finder-centric objective</a:t>
            </a:r>
            <a:endParaRPr lang="en-US" sz="1350" dirty="0"/>
          </a:p>
        </p:txBody>
      </p:sp>
      <p:sp>
        <p:nvSpPr>
          <p:cNvPr id="13" name="Text 11"/>
          <p:cNvSpPr/>
          <p:nvPr/>
        </p:nvSpPr>
        <p:spPr>
          <a:xfrm>
            <a:off x="384048" y="4133088"/>
            <a:ext cx="4572000" cy="566928"/>
          </a:xfrm>
          <a:prstGeom prst="rect">
            <a:avLst/>
          </a:prstGeom>
          <a:noFill/>
          <a:ln/>
        </p:spPr>
        <p:txBody>
          <a:bodyPr wrap="square" lIns="0" tIns="0" rIns="0" bIns="0" rtlCol="0" anchor="t"/>
          <a:lstStyle/>
          <a:p>
            <a:pPr algn="l" indent="0" marL="0">
              <a:buNone/>
            </a:pPr>
            <a:r>
              <a:rPr lang="en-US" sz="1250" dirty="0">
                <a:solidFill>
                  <a:srgbClr val="EEF2F6"/>
                </a:solidFill>
                <a:latin typeface="Calibri" pitchFamily="34" charset="0"/>
                <a:ea typeface="Calibri" pitchFamily="34" charset="-122"/>
                <a:cs typeface="Calibri" pitchFamily="34" charset="-120"/>
              </a:rPr>
              <a:t>Minimize the travel distance of the robot that finds the target — not fleet total, not time to clear all sites.</a:t>
            </a:r>
            <a:endParaRPr lang="en-US" sz="1250" dirty="0"/>
          </a:p>
        </p:txBody>
      </p:sp>
      <p:sp>
        <p:nvSpPr>
          <p:cNvPr id="14" name="Shape 12"/>
          <p:cNvSpPr/>
          <p:nvPr/>
        </p:nvSpPr>
        <p:spPr>
          <a:xfrm>
            <a:off x="5166360" y="950976"/>
            <a:ext cx="3657600" cy="3822192"/>
          </a:xfrm>
          <a:prstGeom prst="rect">
            <a:avLst/>
          </a:prstGeom>
          <a:solidFill>
            <a:srgbClr val="13243A"/>
          </a:solidFill>
          <a:ln w="12700">
            <a:solidFill>
              <a:srgbClr val="13243A"/>
            </a:solidFill>
            <a:prstDash val="solid"/>
          </a:ln>
        </p:spPr>
      </p:sp>
      <p:sp>
        <p:nvSpPr>
          <p:cNvPr id="15" name="Text 13"/>
          <p:cNvSpPr/>
          <p:nvPr/>
        </p:nvSpPr>
        <p:spPr>
          <a:xfrm>
            <a:off x="5321808" y="1051560"/>
            <a:ext cx="3346704" cy="256032"/>
          </a:xfrm>
          <a:prstGeom prst="rect">
            <a:avLst/>
          </a:prstGeom>
          <a:noFill/>
          <a:ln/>
        </p:spPr>
        <p:txBody>
          <a:bodyPr wrap="square" lIns="0" tIns="0" rIns="0" bIns="0" rtlCol="0" anchor="ctr"/>
          <a:lstStyle/>
          <a:p>
            <a:pPr algn="ctr" indent="0" marL="0">
              <a:buNone/>
            </a:pPr>
            <a:r>
              <a:rPr lang="en-US" sz="850" b="1" spc="300" kern="0" dirty="0">
                <a:solidFill>
                  <a:srgbClr val="F0A030"/>
                </a:solidFill>
                <a:latin typeface="Calibri" pitchFamily="34" charset="0"/>
                <a:ea typeface="Calibri" pitchFamily="34" charset="-122"/>
                <a:cs typeface="Calibri" pitchFamily="34" charset="-120"/>
              </a:rPr>
              <a:t>DEFAULT INSTANCE</a:t>
            </a:r>
            <a:endParaRPr lang="en-US" sz="850" dirty="0"/>
          </a:p>
        </p:txBody>
      </p:sp>
      <p:sp>
        <p:nvSpPr>
          <p:cNvPr id="16" name="Shape 14"/>
          <p:cNvSpPr/>
          <p:nvPr/>
        </p:nvSpPr>
        <p:spPr>
          <a:xfrm>
            <a:off x="5321808" y="1335024"/>
            <a:ext cx="3346704" cy="18288"/>
          </a:xfrm>
          <a:prstGeom prst="rect">
            <a:avLst/>
          </a:prstGeom>
          <a:solidFill>
            <a:srgbClr val="1C3550"/>
          </a:solidFill>
          <a:ln w="12700">
            <a:solidFill>
              <a:srgbClr val="1C3550"/>
            </a:solidFill>
            <a:prstDash val="solid"/>
          </a:ln>
        </p:spPr>
      </p:sp>
      <p:sp>
        <p:nvSpPr>
          <p:cNvPr id="17" name="Text 15"/>
          <p:cNvSpPr/>
          <p:nvPr/>
        </p:nvSpPr>
        <p:spPr>
          <a:xfrm>
            <a:off x="5321808" y="1444752"/>
            <a:ext cx="457200" cy="402336"/>
          </a:xfrm>
          <a:prstGeom prst="rect">
            <a:avLst/>
          </a:prstGeom>
          <a:noFill/>
          <a:ln/>
        </p:spPr>
        <p:txBody>
          <a:bodyPr wrap="square" lIns="0" tIns="0" rIns="0" bIns="0" rtlCol="0" anchor="ctr"/>
          <a:lstStyle/>
          <a:p>
            <a:pPr algn="ctr" indent="0" marL="0">
              <a:buNone/>
            </a:pPr>
            <a:r>
              <a:rPr lang="en-US" sz="1400" b="1" dirty="0">
                <a:solidFill>
                  <a:srgbClr val="F0A030"/>
                </a:solidFill>
                <a:latin typeface="Calibri" pitchFamily="34" charset="0"/>
                <a:ea typeface="Calibri" pitchFamily="34" charset="-122"/>
                <a:cs typeface="Calibri" pitchFamily="34" charset="-120"/>
              </a:rPr>
              <a:t>n</a:t>
            </a:r>
            <a:endParaRPr lang="en-US" sz="1400" dirty="0"/>
          </a:p>
        </p:txBody>
      </p:sp>
      <p:sp>
        <p:nvSpPr>
          <p:cNvPr id="18" name="Text 16"/>
          <p:cNvSpPr/>
          <p:nvPr/>
        </p:nvSpPr>
        <p:spPr>
          <a:xfrm>
            <a:off x="5833872" y="1444752"/>
            <a:ext cx="2834640" cy="402336"/>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30 candidate sites</a:t>
            </a:r>
            <a:endParaRPr lang="en-US" sz="1250" dirty="0"/>
          </a:p>
        </p:txBody>
      </p:sp>
      <p:sp>
        <p:nvSpPr>
          <p:cNvPr id="19" name="Text 17"/>
          <p:cNvSpPr/>
          <p:nvPr/>
        </p:nvSpPr>
        <p:spPr>
          <a:xfrm>
            <a:off x="5321808" y="1975104"/>
            <a:ext cx="457200" cy="402336"/>
          </a:xfrm>
          <a:prstGeom prst="rect">
            <a:avLst/>
          </a:prstGeom>
          <a:noFill/>
          <a:ln/>
        </p:spPr>
        <p:txBody>
          <a:bodyPr wrap="square" lIns="0" tIns="0" rIns="0" bIns="0" rtlCol="0" anchor="ctr"/>
          <a:lstStyle/>
          <a:p>
            <a:pPr algn="ctr" indent="0" marL="0">
              <a:buNone/>
            </a:pPr>
            <a:r>
              <a:rPr lang="en-US" sz="1400" b="1" dirty="0">
                <a:solidFill>
                  <a:srgbClr val="F0A030"/>
                </a:solidFill>
                <a:latin typeface="Calibri" pitchFamily="34" charset="0"/>
                <a:ea typeface="Calibri" pitchFamily="34" charset="-122"/>
                <a:cs typeface="Calibri" pitchFamily="34" charset="-120"/>
              </a:rPr>
              <a:t>R</a:t>
            </a:r>
            <a:endParaRPr lang="en-US" sz="1400" dirty="0"/>
          </a:p>
        </p:txBody>
      </p:sp>
      <p:sp>
        <p:nvSpPr>
          <p:cNvPr id="20" name="Text 18"/>
          <p:cNvSpPr/>
          <p:nvPr/>
        </p:nvSpPr>
        <p:spPr>
          <a:xfrm>
            <a:off x="5833872" y="1975104"/>
            <a:ext cx="2834640" cy="402336"/>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3 robots</a:t>
            </a:r>
            <a:endParaRPr lang="en-US" sz="1250" dirty="0"/>
          </a:p>
        </p:txBody>
      </p:sp>
      <p:sp>
        <p:nvSpPr>
          <p:cNvPr id="21" name="Text 19"/>
          <p:cNvSpPr/>
          <p:nvPr/>
        </p:nvSpPr>
        <p:spPr>
          <a:xfrm>
            <a:off x="5321808" y="2505456"/>
            <a:ext cx="457200" cy="402336"/>
          </a:xfrm>
          <a:prstGeom prst="rect">
            <a:avLst/>
          </a:prstGeom>
          <a:noFill/>
          <a:ln/>
        </p:spPr>
        <p:txBody>
          <a:bodyPr wrap="square" lIns="0" tIns="0" rIns="0" bIns="0" rtlCol="0" anchor="ctr"/>
          <a:lstStyle/>
          <a:p>
            <a:pPr algn="ctr" indent="0" marL="0">
              <a:buNone/>
            </a:pPr>
            <a:r>
              <a:rPr lang="en-US" sz="1400" b="1" dirty="0">
                <a:solidFill>
                  <a:srgbClr val="F0A030"/>
                </a:solidFill>
                <a:latin typeface="Calibri" pitchFamily="34" charset="0"/>
                <a:ea typeface="Calibri" pitchFamily="34" charset="-122"/>
                <a:cs typeface="Calibri" pitchFamily="34" charset="-120"/>
              </a:rPr>
              <a:t>E</a:t>
            </a:r>
            <a:endParaRPr lang="en-US" sz="1400" dirty="0"/>
          </a:p>
        </p:txBody>
      </p:sp>
      <p:sp>
        <p:nvSpPr>
          <p:cNvPr id="22" name="Text 20"/>
          <p:cNvSpPr/>
          <p:nvPr/>
        </p:nvSpPr>
        <p:spPr>
          <a:xfrm>
            <a:off x="5833872" y="2505456"/>
            <a:ext cx="2834640" cy="402336"/>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14 energy units per sortie</a:t>
            </a:r>
            <a:endParaRPr lang="en-US" sz="1250" dirty="0"/>
          </a:p>
        </p:txBody>
      </p:sp>
      <p:sp>
        <p:nvSpPr>
          <p:cNvPr id="23" name="Text 21"/>
          <p:cNvSpPr/>
          <p:nvPr/>
        </p:nvSpPr>
        <p:spPr>
          <a:xfrm>
            <a:off x="5321808" y="3035808"/>
            <a:ext cx="457200" cy="402336"/>
          </a:xfrm>
          <a:prstGeom prst="rect">
            <a:avLst/>
          </a:prstGeom>
          <a:noFill/>
          <a:ln/>
        </p:spPr>
        <p:txBody>
          <a:bodyPr wrap="square" lIns="0" tIns="0" rIns="0" bIns="0" rtlCol="0" anchor="ctr"/>
          <a:lstStyle/>
          <a:p>
            <a:pPr algn="ctr" indent="0" marL="0">
              <a:buNone/>
            </a:pPr>
            <a:r>
              <a:rPr lang="en-US" sz="1400" b="1" dirty="0">
                <a:solidFill>
                  <a:srgbClr val="F0A030"/>
                </a:solidFill>
                <a:latin typeface="Calibri" pitchFamily="34" charset="0"/>
                <a:ea typeface="Calibri" pitchFamily="34" charset="-122"/>
                <a:cs typeface="Calibri" pitchFamily="34" charset="-120"/>
              </a:rPr>
              <a:t>L</a:t>
            </a:r>
            <a:endParaRPr lang="en-US" sz="1400" dirty="0"/>
          </a:p>
        </p:txBody>
      </p:sp>
      <p:sp>
        <p:nvSpPr>
          <p:cNvPr id="24" name="Text 22"/>
          <p:cNvSpPr/>
          <p:nvPr/>
        </p:nvSpPr>
        <p:spPr>
          <a:xfrm>
            <a:off x="5833872" y="3035808"/>
            <a:ext cx="2834640" cy="402336"/>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10 × 10 search area</a:t>
            </a:r>
            <a:endParaRPr lang="en-US" sz="1250" dirty="0"/>
          </a:p>
        </p:txBody>
      </p:sp>
      <p:sp>
        <p:nvSpPr>
          <p:cNvPr id="25" name="Text 23"/>
          <p:cNvSpPr/>
          <p:nvPr/>
        </p:nvSpPr>
        <p:spPr>
          <a:xfrm>
            <a:off x="5321808" y="3566160"/>
            <a:ext cx="457200" cy="402336"/>
          </a:xfrm>
          <a:prstGeom prst="rect">
            <a:avLst/>
          </a:prstGeom>
          <a:noFill/>
          <a:ln/>
        </p:spPr>
        <p:txBody>
          <a:bodyPr wrap="square" lIns="0" tIns="0" rIns="0" bIns="0" rtlCol="0" anchor="ctr"/>
          <a:lstStyle/>
          <a:p>
            <a:pPr algn="ctr" indent="0" marL="0">
              <a:buNone/>
            </a:pPr>
            <a:r>
              <a:rPr lang="en-US" sz="1400" b="1" dirty="0">
                <a:solidFill>
                  <a:srgbClr val="F0A030"/>
                </a:solidFill>
                <a:latin typeface="Calibri" pitchFamily="34" charset="0"/>
                <a:ea typeface="Calibri" pitchFamily="34" charset="-122"/>
                <a:cs typeface="Calibri" pitchFamily="34" charset="-120"/>
              </a:rPr>
              <a:t>Trials</a:t>
            </a:r>
            <a:endParaRPr lang="en-US" sz="1400" dirty="0"/>
          </a:p>
        </p:txBody>
      </p:sp>
      <p:sp>
        <p:nvSpPr>
          <p:cNvPr id="26" name="Text 24"/>
          <p:cNvSpPr/>
          <p:nvPr/>
        </p:nvSpPr>
        <p:spPr>
          <a:xfrm>
            <a:off x="5833872" y="3566160"/>
            <a:ext cx="2834640" cy="402336"/>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5,000 paired Monte Carlo</a:t>
            </a:r>
            <a:endParaRPr lang="en-US" sz="1250" dirty="0"/>
          </a:p>
        </p:txBody>
      </p:sp>
      <p:sp>
        <p:nvSpPr>
          <p:cNvPr id="27" name="Text 25"/>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EVALUATION METRIC</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700" b="1" dirty="0">
                <a:solidFill>
                  <a:srgbClr val="EEF2F6"/>
                </a:solidFill>
                <a:latin typeface="Calibri" pitchFamily="34" charset="0"/>
                <a:ea typeface="Calibri" pitchFamily="34" charset="-122"/>
                <a:cs typeface="Calibri" pitchFamily="34" charset="-120"/>
              </a:rPr>
              <a:t>How Do We Measure Performance?</a:t>
            </a:r>
            <a:endParaRPr lang="en-US" sz="27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sp>
        <p:nvSpPr>
          <p:cNvPr id="5" name="Text 3"/>
          <p:cNvSpPr/>
          <p:nvPr/>
        </p:nvSpPr>
        <p:spPr>
          <a:xfrm>
            <a:off x="384048" y="969264"/>
            <a:ext cx="4389120" cy="329184"/>
          </a:xfrm>
          <a:prstGeom prst="rect">
            <a:avLst/>
          </a:prstGeom>
          <a:noFill/>
          <a:ln/>
        </p:spPr>
        <p:txBody>
          <a:bodyPr wrap="square" lIns="0" tIns="0" rIns="0" bIns="0" rtlCol="0" anchor="ctr"/>
          <a:lstStyle/>
          <a:p>
            <a:pPr algn="l" indent="0" marL="0">
              <a:buNone/>
            </a:pPr>
            <a:r>
              <a:rPr lang="en-US" sz="1600" b="1" dirty="0">
                <a:solidFill>
                  <a:srgbClr val="38B2CC"/>
                </a:solidFill>
                <a:latin typeface="Calibri" pitchFamily="34" charset="0"/>
                <a:ea typeface="Calibri" pitchFamily="34" charset="-122"/>
                <a:cs typeface="Calibri" pitchFamily="34" charset="-120"/>
              </a:rPr>
              <a:t>Finder Competitive Ratio</a:t>
            </a:r>
            <a:endParaRPr lang="en-US" sz="1600" dirty="0"/>
          </a:p>
        </p:txBody>
      </p:sp>
      <p:sp>
        <p:nvSpPr>
          <p:cNvPr id="6" name="Shape 4"/>
          <p:cNvSpPr/>
          <p:nvPr/>
        </p:nvSpPr>
        <p:spPr>
          <a:xfrm>
            <a:off x="384048" y="1353312"/>
            <a:ext cx="4389120" cy="658368"/>
          </a:xfrm>
          <a:prstGeom prst="rect">
            <a:avLst/>
          </a:prstGeom>
          <a:solidFill>
            <a:srgbClr val="1A3050"/>
          </a:solidFill>
          <a:ln w="12700">
            <a:solidFill>
              <a:srgbClr val="1A3050"/>
            </a:solidFill>
            <a:prstDash val="solid"/>
          </a:ln>
        </p:spPr>
      </p:sp>
      <p:sp>
        <p:nvSpPr>
          <p:cNvPr id="7" name="Text 5"/>
          <p:cNvSpPr/>
          <p:nvPr/>
        </p:nvSpPr>
        <p:spPr>
          <a:xfrm>
            <a:off x="384048" y="1353312"/>
            <a:ext cx="4389120" cy="658368"/>
          </a:xfrm>
          <a:prstGeom prst="rect">
            <a:avLst/>
          </a:prstGeom>
          <a:noFill/>
          <a:ln/>
        </p:spPr>
        <p:txBody>
          <a:bodyPr wrap="square" lIns="0" tIns="0" rIns="0" bIns="0" rtlCol="0" anchor="ctr"/>
          <a:lstStyle/>
          <a:p>
            <a:pPr algn="ctr" indent="0" marL="0">
              <a:buNone/>
            </a:pPr>
            <a:r>
              <a:rPr lang="en-US" sz="2200" b="1" dirty="0">
                <a:solidFill>
                  <a:srgbClr val="F0A030"/>
                </a:solidFill>
                <a:latin typeface="Calibri" pitchFamily="34" charset="0"/>
                <a:ea typeface="Calibri" pitchFamily="34" charset="-122"/>
                <a:cs typeface="Calibri" pitchFamily="34" charset="-120"/>
              </a:rPr>
              <a:t>FCR  =  D_finder  ÷  D_optimal</a:t>
            </a:r>
            <a:endParaRPr lang="en-US" sz="2200" dirty="0"/>
          </a:p>
        </p:txBody>
      </p:sp>
      <p:sp>
        <p:nvSpPr>
          <p:cNvPr id="8" name="Text 6"/>
          <p:cNvSpPr/>
          <p:nvPr/>
        </p:nvSpPr>
        <p:spPr>
          <a:xfrm>
            <a:off x="384048" y="2103120"/>
            <a:ext cx="1371600" cy="274320"/>
          </a:xfrm>
          <a:prstGeom prst="rect">
            <a:avLst/>
          </a:prstGeom>
          <a:noFill/>
          <a:ln/>
        </p:spPr>
        <p:txBody>
          <a:bodyPr wrap="square" lIns="0" tIns="0" rIns="0" bIns="0" rtlCol="0" anchor="ctr"/>
          <a:lstStyle/>
          <a:p>
            <a:pPr algn="l" indent="0" marL="0">
              <a:buNone/>
            </a:pPr>
            <a:r>
              <a:rPr lang="en-US" sz="1200" b="1" dirty="0">
                <a:solidFill>
                  <a:srgbClr val="F0A030"/>
                </a:solidFill>
                <a:latin typeface="Calibri" pitchFamily="34" charset="0"/>
                <a:ea typeface="Calibri" pitchFamily="34" charset="-122"/>
                <a:cs typeface="Calibri" pitchFamily="34" charset="-120"/>
              </a:rPr>
              <a:t>D_finder</a:t>
            </a:r>
            <a:endParaRPr lang="en-US" sz="1200" dirty="0"/>
          </a:p>
        </p:txBody>
      </p:sp>
      <p:sp>
        <p:nvSpPr>
          <p:cNvPr id="9" name="Text 7"/>
          <p:cNvSpPr/>
          <p:nvPr/>
        </p:nvSpPr>
        <p:spPr>
          <a:xfrm>
            <a:off x="1874520" y="2103120"/>
            <a:ext cx="2898648" cy="274320"/>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Distance traveled by the robot that finds the survivor</a:t>
            </a:r>
            <a:endParaRPr lang="en-US" sz="1200" dirty="0"/>
          </a:p>
        </p:txBody>
      </p:sp>
      <p:sp>
        <p:nvSpPr>
          <p:cNvPr id="10" name="Text 8"/>
          <p:cNvSpPr/>
          <p:nvPr/>
        </p:nvSpPr>
        <p:spPr>
          <a:xfrm>
            <a:off x="384048" y="2423160"/>
            <a:ext cx="1371600" cy="274320"/>
          </a:xfrm>
          <a:prstGeom prst="rect">
            <a:avLst/>
          </a:prstGeom>
          <a:noFill/>
          <a:ln/>
        </p:spPr>
        <p:txBody>
          <a:bodyPr wrap="square" lIns="0" tIns="0" rIns="0" bIns="0" rtlCol="0" anchor="ctr"/>
          <a:lstStyle/>
          <a:p>
            <a:pPr algn="l" indent="0" marL="0">
              <a:buNone/>
            </a:pPr>
            <a:r>
              <a:rPr lang="en-US" sz="1200" b="1" dirty="0">
                <a:solidFill>
                  <a:srgbClr val="38B2CC"/>
                </a:solidFill>
                <a:latin typeface="Calibri" pitchFamily="34" charset="0"/>
                <a:ea typeface="Calibri" pitchFamily="34" charset="-122"/>
                <a:cs typeface="Calibri" pitchFamily="34" charset="-120"/>
              </a:rPr>
              <a:t>D_optimal</a:t>
            </a:r>
            <a:endParaRPr lang="en-US" sz="1200" dirty="0"/>
          </a:p>
        </p:txBody>
      </p:sp>
      <p:sp>
        <p:nvSpPr>
          <p:cNvPr id="11" name="Text 9"/>
          <p:cNvSpPr/>
          <p:nvPr/>
        </p:nvSpPr>
        <p:spPr>
          <a:xfrm>
            <a:off x="1874520" y="2423160"/>
            <a:ext cx="2898648" cy="274320"/>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Direct path an omniscient robot would take (knowing the location)</a:t>
            </a:r>
            <a:endParaRPr lang="en-US" sz="1200" dirty="0"/>
          </a:p>
        </p:txBody>
      </p:sp>
      <p:sp>
        <p:nvSpPr>
          <p:cNvPr id="12" name="Shape 10"/>
          <p:cNvSpPr/>
          <p:nvPr/>
        </p:nvSpPr>
        <p:spPr>
          <a:xfrm>
            <a:off x="384048" y="2798064"/>
            <a:ext cx="4389120" cy="18288"/>
          </a:xfrm>
          <a:prstGeom prst="rect">
            <a:avLst/>
          </a:prstGeom>
          <a:solidFill>
            <a:srgbClr val="1C3550"/>
          </a:solidFill>
          <a:ln w="12700">
            <a:solidFill>
              <a:srgbClr val="1C3550"/>
            </a:solidFill>
            <a:prstDash val="solid"/>
          </a:ln>
        </p:spPr>
      </p:sp>
      <p:sp>
        <p:nvSpPr>
          <p:cNvPr id="13" name="Text 11"/>
          <p:cNvSpPr/>
          <p:nvPr/>
        </p:nvSpPr>
        <p:spPr>
          <a:xfrm>
            <a:off x="384048" y="2889504"/>
            <a:ext cx="1463040" cy="347472"/>
          </a:xfrm>
          <a:prstGeom prst="rect">
            <a:avLst/>
          </a:prstGeom>
          <a:noFill/>
          <a:ln/>
        </p:spPr>
        <p:txBody>
          <a:bodyPr wrap="square" lIns="0" tIns="0" rIns="0" bIns="0" rtlCol="0" anchor="ctr"/>
          <a:lstStyle/>
          <a:p>
            <a:pPr algn="l" indent="0" marL="0">
              <a:buNone/>
            </a:pPr>
            <a:r>
              <a:rPr lang="en-US" sz="1200" b="1" dirty="0">
                <a:solidFill>
                  <a:srgbClr val="38B2CC"/>
                </a:solidFill>
                <a:latin typeface="Calibri" pitchFamily="34" charset="0"/>
                <a:ea typeface="Calibri" pitchFamily="34" charset="-122"/>
                <a:cs typeface="Calibri" pitchFamily="34" charset="-120"/>
              </a:rPr>
              <a:t>FCR = 1.0</a:t>
            </a:r>
            <a:endParaRPr lang="en-US" sz="1200" dirty="0"/>
          </a:p>
        </p:txBody>
      </p:sp>
      <p:sp>
        <p:nvSpPr>
          <p:cNvPr id="14" name="Text 12"/>
          <p:cNvSpPr/>
          <p:nvPr/>
        </p:nvSpPr>
        <p:spPr>
          <a:xfrm>
            <a:off x="1920240" y="2889504"/>
            <a:ext cx="2852928" cy="347472"/>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Perfect — the finder took the theoretical shortest path.</a:t>
            </a:r>
            <a:endParaRPr lang="en-US" sz="1200" dirty="0"/>
          </a:p>
        </p:txBody>
      </p:sp>
      <p:sp>
        <p:nvSpPr>
          <p:cNvPr id="15" name="Text 13"/>
          <p:cNvSpPr/>
          <p:nvPr/>
        </p:nvSpPr>
        <p:spPr>
          <a:xfrm>
            <a:off x="384048" y="3310128"/>
            <a:ext cx="1463040" cy="347472"/>
          </a:xfrm>
          <a:prstGeom prst="rect">
            <a:avLst/>
          </a:prstGeom>
          <a:noFill/>
          <a:ln/>
        </p:spPr>
        <p:txBody>
          <a:bodyPr wrap="square" lIns="0" tIns="0" rIns="0" bIns="0" rtlCol="0" anchor="ctr"/>
          <a:lstStyle/>
          <a:p>
            <a:pPr algn="l" indent="0" marL="0">
              <a:buNone/>
            </a:pPr>
            <a:r>
              <a:rPr lang="en-US" sz="1200" b="1" dirty="0">
                <a:solidFill>
                  <a:srgbClr val="EEF2F6"/>
                </a:solidFill>
                <a:latin typeface="Calibri" pitchFamily="34" charset="0"/>
                <a:ea typeface="Calibri" pitchFamily="34" charset="-122"/>
                <a:cs typeface="Calibri" pitchFamily="34" charset="-120"/>
              </a:rPr>
              <a:t>FCR &gt; 1.0</a:t>
            </a:r>
            <a:endParaRPr lang="en-US" sz="1200" dirty="0"/>
          </a:p>
        </p:txBody>
      </p:sp>
      <p:sp>
        <p:nvSpPr>
          <p:cNvPr id="16" name="Text 14"/>
          <p:cNvSpPr/>
          <p:nvPr/>
        </p:nvSpPr>
        <p:spPr>
          <a:xfrm>
            <a:off x="1920240" y="3310128"/>
            <a:ext cx="2852928" cy="347472"/>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Overhead from uncertainty and coordination constraints.</a:t>
            </a:r>
            <a:endParaRPr lang="en-US" sz="1200" dirty="0"/>
          </a:p>
        </p:txBody>
      </p:sp>
      <p:sp>
        <p:nvSpPr>
          <p:cNvPr id="17" name="Text 15"/>
          <p:cNvSpPr/>
          <p:nvPr/>
        </p:nvSpPr>
        <p:spPr>
          <a:xfrm>
            <a:off x="384048" y="3730752"/>
            <a:ext cx="1463040" cy="347472"/>
          </a:xfrm>
          <a:prstGeom prst="rect">
            <a:avLst/>
          </a:prstGeom>
          <a:noFill/>
          <a:ln/>
        </p:spPr>
        <p:txBody>
          <a:bodyPr wrap="square" lIns="0" tIns="0" rIns="0" bIns="0" rtlCol="0" anchor="ctr"/>
          <a:lstStyle/>
          <a:p>
            <a:pPr algn="l" indent="0" marL="0">
              <a:buNone/>
            </a:pPr>
            <a:r>
              <a:rPr lang="en-US" sz="1200" b="1" dirty="0">
                <a:solidFill>
                  <a:srgbClr val="F0A030"/>
                </a:solidFill>
                <a:latin typeface="Calibri" pitchFamily="34" charset="0"/>
                <a:ea typeface="Calibri" pitchFamily="34" charset="-122"/>
                <a:cs typeface="Calibri" pitchFamily="34" charset="-120"/>
              </a:rPr>
              <a:t>Lower is better</a:t>
            </a:r>
            <a:endParaRPr lang="en-US" sz="1200" dirty="0"/>
          </a:p>
        </p:txBody>
      </p:sp>
      <p:sp>
        <p:nvSpPr>
          <p:cNvPr id="18" name="Text 16"/>
          <p:cNvSpPr/>
          <p:nvPr/>
        </p:nvSpPr>
        <p:spPr>
          <a:xfrm>
            <a:off x="1920240" y="3730752"/>
            <a:ext cx="2852928" cy="347472"/>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The best algorithms minimize wasted search distance.</a:t>
            </a:r>
            <a:endParaRPr lang="en-US" sz="1200" dirty="0"/>
          </a:p>
        </p:txBody>
      </p:sp>
      <p:pic>
        <p:nvPicPr>
          <p:cNvPr id="19" name="Image 0" descr="C:\Users\fooja\Documents\GitHub\Multi-Robot-Algo\.claude\worktrees\flamboyant-rosalind-2467e7\thesis\figures\fig_fcr_explanation.png">    </p:cNvPr>
          <p:cNvPicPr>
            <a:picLocks noChangeAspect="1"/>
          </p:cNvPicPr>
          <p:nvPr/>
        </p:nvPicPr>
        <p:blipFill>
          <a:blip r:embed="rId1"/>
          <a:stretch>
            <a:fillRect/>
          </a:stretch>
        </p:blipFill>
        <p:spPr>
          <a:xfrm>
            <a:off x="5074920" y="914400"/>
            <a:ext cx="3749040" cy="3218688"/>
          </a:xfrm>
          <a:prstGeom prst="rect">
            <a:avLst/>
          </a:prstGeom>
        </p:spPr>
      </p:pic>
      <p:sp>
        <p:nvSpPr>
          <p:cNvPr id="20" name="Text 17"/>
          <p:cNvSpPr/>
          <p:nvPr/>
        </p:nvSpPr>
        <p:spPr>
          <a:xfrm>
            <a:off x="5074920" y="4169664"/>
            <a:ext cx="3749040" cy="237744"/>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Worked example: robot visits A and B, then finds T. FCR = 9.98 ÷ 6.67 = 1.50.</a:t>
            </a:r>
            <a:endParaRPr lang="en-US" sz="950" dirty="0"/>
          </a:p>
        </p:txBody>
      </p:sp>
      <p:sp>
        <p:nvSpPr>
          <p:cNvPr id="21" name="Text 18"/>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E32"/>
        </a:solidFill>
      </p:bgPr>
    </p:bg>
    <p:spTree>
      <p:nvGrpSpPr>
        <p:cNvPr id="1" name=""/>
        <p:cNvGrpSpPr/>
        <p:nvPr/>
      </p:nvGrpSpPr>
      <p:grpSpPr>
        <a:xfrm>
          <a:off x="0" y="0"/>
          <a:ext cx="0" cy="0"/>
          <a:chOff x="0" y="0"/>
          <a:chExt cx="0" cy="0"/>
        </a:xfrm>
      </p:grpSpPr>
      <p:sp>
        <p:nvSpPr>
          <p:cNvPr id="2" name="Shape 0"/>
          <p:cNvSpPr/>
          <p:nvPr/>
        </p:nvSpPr>
        <p:spPr>
          <a:xfrm>
            <a:off x="0" y="0"/>
            <a:ext cx="91440" cy="5148072"/>
          </a:xfrm>
          <a:prstGeom prst="rect">
            <a:avLst/>
          </a:prstGeom>
          <a:solidFill>
            <a:srgbClr val="F0A030"/>
          </a:solidFill>
          <a:ln w="12700">
            <a:solidFill>
              <a:srgbClr val="F0A030"/>
            </a:solidFill>
            <a:prstDash val="solid"/>
          </a:ln>
        </p:spPr>
      </p:sp>
      <p:sp>
        <p:nvSpPr>
          <p:cNvPr id="3" name="Text 1"/>
          <p:cNvSpPr/>
          <p:nvPr/>
        </p:nvSpPr>
        <p:spPr>
          <a:xfrm>
            <a:off x="5029200" y="457200"/>
            <a:ext cx="3657600" cy="4206240"/>
          </a:xfrm>
          <a:prstGeom prst="rect">
            <a:avLst/>
          </a:prstGeom>
          <a:noFill/>
          <a:ln/>
        </p:spPr>
        <p:txBody>
          <a:bodyPr wrap="square" lIns="0" tIns="0" rIns="0" bIns="0" rtlCol="0" anchor="ctr"/>
          <a:lstStyle/>
          <a:p>
            <a:pPr algn="r" indent="0" marL="0">
              <a:buNone/>
            </a:pPr>
            <a:r>
              <a:rPr lang="en-US" sz="14000" b="1" dirty="0">
                <a:solidFill>
                  <a:srgbClr val="1A2E42"/>
                </a:solidFill>
                <a:latin typeface="Calibri" pitchFamily="34" charset="0"/>
                <a:ea typeface="Calibri" pitchFamily="34" charset="-122"/>
                <a:cs typeface="Calibri" pitchFamily="34" charset="-120"/>
              </a:rPr>
              <a:t>II</a:t>
            </a:r>
            <a:endParaRPr lang="en-US" sz="14000" dirty="0"/>
          </a:p>
        </p:txBody>
      </p:sp>
      <p:sp>
        <p:nvSpPr>
          <p:cNvPr id="4" name="Text 2"/>
          <p:cNvSpPr/>
          <p:nvPr/>
        </p:nvSpPr>
        <p:spPr>
          <a:xfrm>
            <a:off x="365760" y="1280160"/>
            <a:ext cx="1645920" cy="1280160"/>
          </a:xfrm>
          <a:prstGeom prst="rect">
            <a:avLst/>
          </a:prstGeom>
          <a:noFill/>
          <a:ln/>
        </p:spPr>
        <p:txBody>
          <a:bodyPr wrap="square" lIns="0" tIns="0" rIns="0" bIns="0" rtlCol="0" anchor="ctr"/>
          <a:lstStyle/>
          <a:p>
            <a:pPr algn="l" indent="0" marL="0">
              <a:buNone/>
            </a:pPr>
            <a:r>
              <a:rPr lang="en-US" sz="7200" b="1" dirty="0">
                <a:solidFill>
                  <a:srgbClr val="1A3050"/>
                </a:solidFill>
                <a:latin typeface="Calibri" pitchFamily="34" charset="0"/>
                <a:ea typeface="Calibri" pitchFamily="34" charset="-122"/>
                <a:cs typeface="Calibri" pitchFamily="34" charset="-120"/>
              </a:rPr>
              <a:t>II</a:t>
            </a:r>
            <a:endParaRPr lang="en-US" sz="7200" dirty="0"/>
          </a:p>
        </p:txBody>
      </p:sp>
      <p:sp>
        <p:nvSpPr>
          <p:cNvPr id="5" name="Text 3"/>
          <p:cNvSpPr/>
          <p:nvPr/>
        </p:nvSpPr>
        <p:spPr>
          <a:xfrm>
            <a:off x="365760" y="2743200"/>
            <a:ext cx="8046720" cy="658368"/>
          </a:xfrm>
          <a:prstGeom prst="rect">
            <a:avLst/>
          </a:prstGeom>
          <a:noFill/>
          <a:ln/>
        </p:spPr>
        <p:txBody>
          <a:bodyPr wrap="square" lIns="0" tIns="0" rIns="0" bIns="0" rtlCol="0" anchor="ctr"/>
          <a:lstStyle/>
          <a:p>
            <a:pPr algn="l" indent="0" marL="0">
              <a:buNone/>
            </a:pPr>
            <a:r>
              <a:rPr lang="en-US" sz="3400" b="1" dirty="0">
                <a:solidFill>
                  <a:srgbClr val="EEF2F6"/>
                </a:solidFill>
                <a:latin typeface="Calibri" pitchFamily="34" charset="0"/>
                <a:ea typeface="Calibri" pitchFamily="34" charset="-122"/>
                <a:cs typeface="Calibri" pitchFamily="34" charset="-120"/>
              </a:rPr>
              <a:t>The Framework</a:t>
            </a:r>
            <a:endParaRPr lang="en-US" sz="3400" dirty="0"/>
          </a:p>
        </p:txBody>
      </p:sp>
      <p:sp>
        <p:nvSpPr>
          <p:cNvPr id="6" name="Text 4"/>
          <p:cNvSpPr/>
          <p:nvPr/>
        </p:nvSpPr>
        <p:spPr>
          <a:xfrm>
            <a:off x="365760" y="3456432"/>
            <a:ext cx="8046720" cy="365760"/>
          </a:xfrm>
          <a:prstGeom prst="rect">
            <a:avLst/>
          </a:prstGeom>
          <a:noFill/>
          <a:ln/>
        </p:spPr>
        <p:txBody>
          <a:bodyPr wrap="square" lIns="0" tIns="0" rIns="0" bIns="0" rtlCol="0" anchor="ctr"/>
          <a:lstStyle/>
          <a:p>
            <a:pPr algn="l" indent="0" marL="0">
              <a:buNone/>
            </a:pPr>
            <a:r>
              <a:rPr lang="en-US" sz="1400" i="1" dirty="0">
                <a:solidFill>
                  <a:srgbClr val="4E6E88"/>
                </a:solidFill>
                <a:latin typeface="Calibri" pitchFamily="34" charset="0"/>
                <a:ea typeface="Calibri" pitchFamily="34" charset="-122"/>
                <a:cs typeface="Calibri" pitchFamily="34" charset="-120"/>
              </a:rPr>
              <a:t>Four models, each adding one capability — the gaps between them are the science.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ALGORITHMIC FRAMEWORK</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700" b="1" dirty="0">
                <a:solidFill>
                  <a:srgbClr val="EEF2F6"/>
                </a:solidFill>
                <a:latin typeface="Calibri" pitchFamily="34" charset="0"/>
                <a:ea typeface="Calibri" pitchFamily="34" charset="-122"/>
                <a:cs typeface="Calibri" pitchFamily="34" charset="-120"/>
              </a:rPr>
              <a:t>A Staircase of Four Models</a:t>
            </a:r>
            <a:endParaRPr lang="en-US" sz="27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pic>
        <p:nvPicPr>
          <p:cNvPr id="5" name="Image 0" descr="C:\Users\fooja\Documents\GitHub\Multi-Robot-Algo\.claude\worktrees\flamboyant-rosalind-2467e7\thesis\figures\fig_model_tree.png">    </p:cNvPr>
          <p:cNvPicPr>
            <a:picLocks noChangeAspect="1"/>
          </p:cNvPicPr>
          <p:nvPr/>
        </p:nvPicPr>
        <p:blipFill>
          <a:blip r:embed="rId1"/>
          <a:stretch>
            <a:fillRect/>
          </a:stretch>
        </p:blipFill>
        <p:spPr>
          <a:xfrm>
            <a:off x="292608" y="914400"/>
            <a:ext cx="4480560" cy="3977640"/>
          </a:xfrm>
          <a:prstGeom prst="rect">
            <a:avLst/>
          </a:prstGeom>
        </p:spPr>
      </p:pic>
      <p:sp>
        <p:nvSpPr>
          <p:cNvPr id="6" name="Text 3"/>
          <p:cNvSpPr/>
          <p:nvPr/>
        </p:nvSpPr>
        <p:spPr>
          <a:xfrm>
            <a:off x="292608" y="4937760"/>
            <a:ext cx="4480560" cy="237744"/>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The four models form a hierarchy. Each gap isolates the value of a single design decision.</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983480" y="969264"/>
          <a:ext cx="3840480" cy="914400"/>
        </p:xfrm>
        <a:graphic>
          <a:graphicData uri="http://schemas.openxmlformats.org/drawingml/2006/table">
            <a:tbl>
              <a:tblPr/>
              <a:tblGrid>
                <a:gridCol w="1280160"/>
                <a:gridCol w="1280160"/>
                <a:gridCol w="1280160"/>
              </a:tblGrid>
              <a:tr h="713232">
                <a:tc>
                  <a:txBody>
                    <a:bodyPr/>
                    <a:lstStyle/>
                    <a:p>
                      <a:pPr algn="l" indent="0" marL="0">
                        <a:buNone/>
                      </a:pPr>
                      <a:r>
                        <a:rPr lang="en-US" sz="1200" b="1" dirty="0">
                          <a:solidFill>
                            <a:srgbClr val="F0A030"/>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c>
                  <a:txBody>
                    <a:bodyPr/>
                    <a:lstStyle/>
                    <a:p>
                      <a:pPr algn="l" indent="0" marL="0">
                        <a:buNone/>
                      </a:pPr>
                      <a:r>
                        <a:rPr lang="en-US" sz="1200" b="1" dirty="0">
                          <a:solidFill>
                            <a:srgbClr val="F0A030"/>
                          </a:solidFill>
                          <a:latin typeface="Calibri" pitchFamily="34" charset="0"/>
                          <a:ea typeface="Calibri" pitchFamily="34" charset="-122"/>
                          <a:cs typeface="Calibri" pitchFamily="34" charset="-120"/>
                        </a:rPr>
                        <a:t>Capability Added</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c>
                  <a:txBody>
                    <a:bodyPr/>
                    <a:lstStyle/>
                    <a:p>
                      <a:pPr algn="l" indent="0" marL="0">
                        <a:buNone/>
                      </a:pPr>
                      <a:r>
                        <a:rPr lang="en-US" sz="1200" b="1" dirty="0">
                          <a:solidFill>
                            <a:srgbClr val="F0A030"/>
                          </a:solidFill>
                          <a:latin typeface="Calibri" pitchFamily="34" charset="0"/>
                          <a:ea typeface="Calibri" pitchFamily="34" charset="-122"/>
                          <a:cs typeface="Calibri" pitchFamily="34" charset="-120"/>
                        </a:rPr>
                        <a:t>FCR</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r>
              <a:tr h="713232">
                <a:tc>
                  <a:txBody>
                    <a:bodyPr/>
                    <a:lstStyle/>
                    <a:p>
                      <a:pPr algn="l" indent="0" marL="0">
                        <a:buNone/>
                      </a:pPr>
                      <a:r>
                        <a:rPr lang="en-US" sz="1200" dirty="0">
                          <a:solidFill>
                            <a:srgbClr val="4E6E88"/>
                          </a:solidFill>
                          <a:latin typeface="Calibri" pitchFamily="34" charset="0"/>
                          <a:ea typeface="Calibri" pitchFamily="34" charset="-122"/>
                          <a:cs typeface="Calibri" pitchFamily="34" charset="-120"/>
                        </a:rPr>
                        <a:t>M1  Random</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c>
                  <a:txBody>
                    <a:bodyPr/>
                    <a:lstStyle/>
                    <a:p>
                      <a:pPr algn="l" indent="0" marL="0">
                        <a:buNone/>
                      </a:pPr>
                      <a:r>
                        <a:rPr lang="en-US" sz="1200" dirty="0">
                          <a:solidFill>
                            <a:srgbClr val="4E6E88"/>
                          </a:solidFill>
                          <a:latin typeface="Calibri" pitchFamily="34" charset="0"/>
                          <a:ea typeface="Calibri" pitchFamily="34" charset="-122"/>
                          <a:cs typeface="Calibri" pitchFamily="34" charset="-120"/>
                        </a:rPr>
                        <a:t>Baseline — no coordination</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c>
                  <a:txBody>
                    <a:bodyPr/>
                    <a:lstStyle/>
                    <a:p>
                      <a:pPr algn="l" indent="0" marL="0">
                        <a:buNone/>
                      </a:pPr>
                      <a:r>
                        <a:rPr lang="en-US" sz="1200" b="1" dirty="0">
                          <a:solidFill>
                            <a:srgbClr val="4E6E88"/>
                          </a:solidFill>
                          <a:latin typeface="Calibri" pitchFamily="34" charset="0"/>
                          <a:ea typeface="Calibri" pitchFamily="34" charset="-122"/>
                          <a:cs typeface="Calibri" pitchFamily="34" charset="-120"/>
                        </a:rPr>
                        <a:t>18.74</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r>
              <a:tr h="713232">
                <a:tc>
                  <a:txBody>
                    <a:bodyPr/>
                    <a:lstStyle/>
                    <a:p>
                      <a:pPr algn="l" indent="0" marL="0">
                        <a:buNone/>
                      </a:pPr>
                      <a:r>
                        <a:rPr lang="en-US" sz="1200" dirty="0">
                          <a:solidFill>
                            <a:srgbClr val="EEF2F6"/>
                          </a:solidFill>
                          <a:latin typeface="Calibri" pitchFamily="34" charset="0"/>
                          <a:ea typeface="Calibri" pitchFamily="34" charset="-122"/>
                          <a:cs typeface="Calibri" pitchFamily="34" charset="-120"/>
                        </a:rPr>
                        <a:t>M2  Auction</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c>
                  <a:txBody>
                    <a:bodyPr/>
                    <a:lstStyle/>
                    <a:p>
                      <a:pPr algn="l" indent="0" marL="0">
                        <a:buNone/>
                      </a:pPr>
                      <a:r>
                        <a:rPr lang="en-US" sz="1200" dirty="0">
                          <a:solidFill>
                            <a:srgbClr val="EEF2F6"/>
                          </a:solidFill>
                          <a:latin typeface="Calibri" pitchFamily="34" charset="0"/>
                          <a:ea typeface="Calibri" pitchFamily="34" charset="-122"/>
                          <a:cs typeface="Calibri" pitchFamily="34" charset="-120"/>
                        </a:rPr>
                        <a:t>SSI auction, no battery limit</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c>
                  <a:txBody>
                    <a:bodyPr/>
                    <a:lstStyle/>
                    <a:p>
                      <a:pPr algn="l" indent="0" marL="0">
                        <a:buNone/>
                      </a:pPr>
                      <a:r>
                        <a:rPr lang="en-US" sz="1200" b="1" dirty="0">
                          <a:solidFill>
                            <a:srgbClr val="38B2CC"/>
                          </a:solidFill>
                          <a:latin typeface="Calibri" pitchFamily="34" charset="0"/>
                          <a:ea typeface="Calibri" pitchFamily="34" charset="-122"/>
                          <a:cs typeface="Calibri" pitchFamily="34" charset="-120"/>
                        </a:rPr>
                        <a:t>2.83</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r>
              <a:tr h="713232">
                <a:tc>
                  <a:txBody>
                    <a:bodyPr/>
                    <a:lstStyle/>
                    <a:p>
                      <a:pPr algn="l" indent="0" marL="0">
                        <a:buNone/>
                      </a:pPr>
                      <a:r>
                        <a:rPr lang="en-US" sz="1200" dirty="0">
                          <a:solidFill>
                            <a:srgbClr val="EEF2F6"/>
                          </a:solidFill>
                          <a:latin typeface="Calibri" pitchFamily="34" charset="0"/>
                          <a:ea typeface="Calibri" pitchFamily="34" charset="-122"/>
                          <a:cs typeface="Calibri" pitchFamily="34" charset="-120"/>
                        </a:rPr>
                        <a:t>M3  Constrained</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c>
                  <a:txBody>
                    <a:bodyPr/>
                    <a:lstStyle/>
                    <a:p>
                      <a:pPr algn="l" indent="0" marL="0">
                        <a:buNone/>
                      </a:pPr>
                      <a:r>
                        <a:rPr lang="en-US" sz="1200" dirty="0">
                          <a:solidFill>
                            <a:srgbClr val="EEF2F6"/>
                          </a:solidFill>
                          <a:latin typeface="Calibri" pitchFamily="34" charset="0"/>
                          <a:ea typeface="Calibri" pitchFamily="34" charset="-122"/>
                          <a:cs typeface="Calibri" pitchFamily="34" charset="-120"/>
                        </a:rPr>
                        <a:t>Battery reintroduced, one site per sortie</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c>
                  <a:txBody>
                    <a:bodyPr/>
                    <a:lstStyle/>
                    <a:p>
                      <a:pPr algn="l" indent="0" marL="0">
                        <a:buNone/>
                      </a:pPr>
                      <a:r>
                        <a:rPr lang="en-US" sz="1200" b="1" dirty="0">
                          <a:solidFill>
                            <a:srgbClr val="EEF2F6"/>
                          </a:solidFill>
                          <a:latin typeface="Calibri" pitchFamily="34" charset="0"/>
                          <a:ea typeface="Calibri" pitchFamily="34" charset="-122"/>
                          <a:cs typeface="Calibri" pitchFamily="34" charset="-120"/>
                        </a:rPr>
                        <a:t>6.32</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r>
              <a:tr h="713232">
                <a:tc>
                  <a:txBody>
                    <a:bodyPr/>
                    <a:lstStyle/>
                    <a:p>
                      <a:pPr algn="l" indent="0" marL="0">
                        <a:buNone/>
                      </a:pPr>
                      <a:r>
                        <a:rPr lang="en-US" sz="1200" b="1" dirty="0">
                          <a:solidFill>
                            <a:srgbClr val="F0A030"/>
                          </a:solidFill>
                          <a:latin typeface="Calibri" pitchFamily="34" charset="0"/>
                          <a:ea typeface="Calibri" pitchFamily="34" charset="-122"/>
                          <a:cs typeface="Calibri" pitchFamily="34" charset="-120"/>
                        </a:rPr>
                        <a:t>M4*  Multi-sortie</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c>
                  <a:txBody>
                    <a:bodyPr/>
                    <a:lstStyle/>
                    <a:p>
                      <a:pPr algn="l" indent="0" marL="0">
                        <a:buNone/>
                      </a:pPr>
                      <a:r>
                        <a:rPr lang="en-US" sz="1200" dirty="0">
                          <a:solidFill>
                            <a:srgbClr val="F0A030"/>
                          </a:solidFill>
                          <a:latin typeface="Calibri" pitchFamily="34" charset="0"/>
                          <a:ea typeface="Calibri" pitchFamily="34" charset="-122"/>
                          <a:cs typeface="Calibri" pitchFamily="34" charset="-120"/>
                        </a:rPr>
                        <a:t>Chained sites + novel p/d² bid</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c>
                  <a:txBody>
                    <a:bodyPr/>
                    <a:lstStyle/>
                    <a:p>
                      <a:pPr algn="l" indent="0" marL="0">
                        <a:buNone/>
                      </a:pPr>
                      <a:r>
                        <a:rPr lang="en-US" sz="1200" b="1" dirty="0">
                          <a:solidFill>
                            <a:srgbClr val="F0A030"/>
                          </a:solidFill>
                          <a:latin typeface="Calibri" pitchFamily="34" charset="0"/>
                          <a:ea typeface="Calibri" pitchFamily="34" charset="-122"/>
                          <a:cs typeface="Calibri" pitchFamily="34" charset="-120"/>
                        </a:rPr>
                        <a:t>3.11</a:t>
                      </a:r>
                      <a:endParaRPr lang="en-US" sz="1200" dirty="0">
                        <a:latin typeface="Calibri" charset="0"/>
                        <a:ea typeface="Calibri" charset="0"/>
                        <a:cs typeface="Calibri" charset="0"/>
                      </a:endParaRPr>
                    </a:p>
                  </a:txBody>
                  <a:tcPr marL="101600" marR="101600" marT="50800" marB="50800" anchor="ctr">
                    <a:lnL w="12700" cap="flat" cmpd="sng" algn="ctr">
                      <a:solidFill>
                        <a:srgbClr val="1C3550"/>
                      </a:solidFill>
                      <a:prstDash val="solid"/>
                      <a:round/>
                      <a:headEnd type="none" w="med" len="med"/>
                      <a:tailEnd type="none" w="med" len="med"/>
                    </a:lnL>
                    <a:lnR w="12700" cap="flat" cmpd="sng" algn="ctr">
                      <a:solidFill>
                        <a:srgbClr val="1C3550"/>
                      </a:solidFill>
                      <a:prstDash val="solid"/>
                      <a:round/>
                      <a:headEnd type="none" w="med" len="med"/>
                      <a:tailEnd type="none" w="med" len="med"/>
                    </a:lnR>
                    <a:lnT w="12700" cap="flat" cmpd="sng" algn="ctr">
                      <a:solidFill>
                        <a:srgbClr val="1C3550"/>
                      </a:solidFill>
                      <a:prstDash val="solid"/>
                      <a:round/>
                      <a:headEnd type="none" w="med" len="med"/>
                      <a:tailEnd type="none" w="med" len="med"/>
                    </a:lnT>
                    <a:lnB w="12700" cap="flat" cmpd="sng" algn="ctr">
                      <a:solidFill>
                        <a:srgbClr val="1C3550"/>
                      </a:solidFill>
                      <a:prstDash val="solid"/>
                      <a:round/>
                      <a:headEnd type="none" w="med" len="med"/>
                      <a:tailEnd type="none" w="med" len="med"/>
                    </a:lnB>
                    <a:solidFill>
                      <a:srgbClr val="13243A"/>
                    </a:solidFill>
                  </a:tcPr>
                </a:tc>
              </a:tr>
            </a:tbl>
          </a:graphicData>
        </a:graphic>
      </p:graphicFrame>
      <p:sp>
        <p:nvSpPr>
          <p:cNvPr id="8" name="Text 4"/>
          <p:cNvSpPr/>
          <p:nvPr/>
        </p:nvSpPr>
        <p:spPr>
          <a:xfrm>
            <a:off x="4983480" y="4599432"/>
            <a:ext cx="3840480" cy="411480"/>
          </a:xfrm>
          <a:prstGeom prst="rect">
            <a:avLst/>
          </a:prstGeom>
          <a:noFill/>
          <a:ln/>
        </p:spPr>
        <p:txBody>
          <a:bodyPr wrap="square" lIns="0" tIns="0" rIns="0" bIns="0" rtlCol="0" anchor="ctr"/>
          <a:lstStyle/>
          <a:p>
            <a:pPr algn="ctr" indent="0" marL="0">
              <a:buNone/>
            </a:pPr>
            <a:r>
              <a:rPr lang="en-US" sz="1150" i="1" dirty="0">
                <a:solidFill>
                  <a:srgbClr val="4E6E88"/>
                </a:solidFill>
                <a:latin typeface="Calibri" pitchFamily="34" charset="0"/>
                <a:ea typeface="Calibri" pitchFamily="34" charset="-122"/>
                <a:cs typeface="Calibri" pitchFamily="34" charset="-120"/>
              </a:rPr>
              <a:t>Each model answers one question:</a:t>
            </a:r>
            <a:endParaRPr lang="en-US" sz="1150" dirty="0"/>
          </a:p>
          <a:p>
            <a:pPr algn="ctr" indent="0" marL="0">
              <a:buNone/>
            </a:pPr>
            <a:r>
              <a:rPr lang="en-US" sz="1150" i="1" dirty="0">
                <a:solidFill>
                  <a:srgbClr val="4E6E88"/>
                </a:solidFill>
                <a:latin typeface="Calibri" pitchFamily="34" charset="0"/>
                <a:ea typeface="Calibri" pitchFamily="34" charset="-122"/>
                <a:cs typeface="Calibri" pitchFamily="34" charset="-120"/>
              </a:rPr>
              <a:t>What is this capability worth?</a:t>
            </a:r>
            <a:endParaRPr lang="en-US" sz="1150" dirty="0"/>
          </a:p>
        </p:txBody>
      </p:sp>
      <p:sp>
        <p:nvSpPr>
          <p:cNvPr id="9" name="Text 5"/>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COORDINATION MECHANISM</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700" b="1" dirty="0">
                <a:solidFill>
                  <a:srgbClr val="EEF2F6"/>
                </a:solidFill>
                <a:latin typeface="Calibri" pitchFamily="34" charset="0"/>
                <a:ea typeface="Calibri" pitchFamily="34" charset="-122"/>
                <a:cs typeface="Calibri" pitchFamily="34" charset="-120"/>
              </a:rPr>
              <a:t>The SSI Auction: How Robots Coordinate</a:t>
            </a:r>
            <a:endParaRPr lang="en-US" sz="27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sp>
        <p:nvSpPr>
          <p:cNvPr id="5" name="Text 3"/>
          <p:cNvSpPr/>
          <p:nvPr/>
        </p:nvSpPr>
        <p:spPr>
          <a:xfrm>
            <a:off x="5486400" y="1097280"/>
            <a:ext cx="3474720" cy="3291840"/>
          </a:xfrm>
          <a:prstGeom prst="rect">
            <a:avLst/>
          </a:prstGeom>
          <a:noFill/>
          <a:ln/>
        </p:spPr>
        <p:txBody>
          <a:bodyPr wrap="square" lIns="0" tIns="0" rIns="0" bIns="0" rtlCol="0" anchor="ctr"/>
          <a:lstStyle/>
          <a:p>
            <a:pPr algn="r" indent="0" marL="0">
              <a:buNone/>
            </a:pPr>
            <a:r>
              <a:rPr lang="en-US" sz="10000" b="1" dirty="0">
                <a:solidFill>
                  <a:srgbClr val="1A2E42"/>
                </a:solidFill>
                <a:latin typeface="Calibri" pitchFamily="34" charset="0"/>
                <a:ea typeface="Calibri" pitchFamily="34" charset="-122"/>
                <a:cs typeface="Calibri" pitchFamily="34" charset="-120"/>
              </a:rPr>
              <a:t>BID</a:t>
            </a:r>
            <a:endParaRPr lang="en-US" sz="10000" dirty="0"/>
          </a:p>
        </p:txBody>
      </p:sp>
      <p:sp>
        <p:nvSpPr>
          <p:cNvPr id="6" name="Shape 4"/>
          <p:cNvSpPr/>
          <p:nvPr/>
        </p:nvSpPr>
        <p:spPr>
          <a:xfrm>
            <a:off x="384048" y="987552"/>
            <a:ext cx="475488" cy="475488"/>
          </a:xfrm>
          <a:prstGeom prst="rect">
            <a:avLst/>
          </a:prstGeom>
          <a:solidFill>
            <a:srgbClr val="F0A030"/>
          </a:solidFill>
          <a:ln w="12700">
            <a:solidFill>
              <a:srgbClr val="F0A030"/>
            </a:solidFill>
            <a:prstDash val="solid"/>
          </a:ln>
        </p:spPr>
      </p:sp>
      <p:sp>
        <p:nvSpPr>
          <p:cNvPr id="7" name="Text 5"/>
          <p:cNvSpPr/>
          <p:nvPr/>
        </p:nvSpPr>
        <p:spPr>
          <a:xfrm>
            <a:off x="384048" y="987552"/>
            <a:ext cx="475488" cy="475488"/>
          </a:xfrm>
          <a:prstGeom prst="rect">
            <a:avLst/>
          </a:prstGeom>
          <a:noFill/>
          <a:ln/>
        </p:spPr>
        <p:txBody>
          <a:bodyPr wrap="square" lIns="0" tIns="0" rIns="0" bIns="0" rtlCol="0" anchor="ctr"/>
          <a:lstStyle/>
          <a:p>
            <a:pPr algn="ctr" indent="0" marL="0">
              <a:buNone/>
            </a:pPr>
            <a:r>
              <a:rPr lang="en-US" sz="1800" b="1" dirty="0">
                <a:solidFill>
                  <a:srgbClr val="060E18"/>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005840" y="987552"/>
            <a:ext cx="7498080" cy="274320"/>
          </a:xfrm>
          <a:prstGeom prst="rect">
            <a:avLst/>
          </a:prstGeom>
          <a:noFill/>
          <a:ln/>
        </p:spPr>
        <p:txBody>
          <a:bodyPr wrap="square" lIns="0" tIns="0" rIns="0" bIns="0" rtlCol="0" anchor="ctr"/>
          <a:lstStyle/>
          <a:p>
            <a:pPr algn="l" indent="0" marL="0">
              <a:buNone/>
            </a:pPr>
            <a:r>
              <a:rPr lang="en-US" sz="1350" b="1" dirty="0">
                <a:solidFill>
                  <a:srgbClr val="EEF2F6"/>
                </a:solidFill>
                <a:latin typeface="Calibri" pitchFamily="34" charset="0"/>
                <a:ea typeface="Calibri" pitchFamily="34" charset="-122"/>
                <a:cs typeface="Calibri" pitchFamily="34" charset="-120"/>
              </a:rPr>
              <a:t>Return to base</a:t>
            </a:r>
            <a:endParaRPr lang="en-US" sz="1350" dirty="0"/>
          </a:p>
        </p:txBody>
      </p:sp>
      <p:sp>
        <p:nvSpPr>
          <p:cNvPr id="9" name="Text 7"/>
          <p:cNvSpPr/>
          <p:nvPr/>
        </p:nvSpPr>
        <p:spPr>
          <a:xfrm>
            <a:off x="1005840" y="1280160"/>
            <a:ext cx="7498080" cy="566928"/>
          </a:xfrm>
          <a:prstGeom prst="rect">
            <a:avLst/>
          </a:prstGeom>
          <a:noFill/>
          <a:ln/>
        </p:spPr>
        <p:txBody>
          <a:bodyPr wrap="square" lIns="0" tIns="0" rIns="0" bIns="0" rtlCol="0" anchor="ctr"/>
          <a:lstStyle/>
          <a:p>
            <a:pPr algn="l" indent="0" marL="0">
              <a:buNone/>
            </a:pPr>
            <a:r>
              <a:rPr lang="en-US" sz="1250" dirty="0">
                <a:solidFill>
                  <a:srgbClr val="4E6E88"/>
                </a:solidFill>
                <a:latin typeface="Calibri" pitchFamily="34" charset="0"/>
                <a:ea typeface="Calibri" pitchFamily="34" charset="-122"/>
                <a:cs typeface="Calibri" pitchFamily="34" charset="-120"/>
              </a:rPr>
              <a:t>All robots return after a sortie. Posterior probabilities are updated from cleared sites.</a:t>
            </a:r>
            <a:endParaRPr lang="en-US" sz="1250" dirty="0"/>
          </a:p>
        </p:txBody>
      </p:sp>
      <p:sp>
        <p:nvSpPr>
          <p:cNvPr id="10" name="Shape 8"/>
          <p:cNvSpPr/>
          <p:nvPr/>
        </p:nvSpPr>
        <p:spPr>
          <a:xfrm>
            <a:off x="384048" y="1938528"/>
            <a:ext cx="475488" cy="475488"/>
          </a:xfrm>
          <a:prstGeom prst="rect">
            <a:avLst/>
          </a:prstGeom>
          <a:solidFill>
            <a:srgbClr val="F0A030"/>
          </a:solidFill>
          <a:ln w="12700">
            <a:solidFill>
              <a:srgbClr val="F0A030"/>
            </a:solidFill>
            <a:prstDash val="solid"/>
          </a:ln>
        </p:spPr>
      </p:sp>
      <p:sp>
        <p:nvSpPr>
          <p:cNvPr id="11" name="Text 9"/>
          <p:cNvSpPr/>
          <p:nvPr/>
        </p:nvSpPr>
        <p:spPr>
          <a:xfrm>
            <a:off x="384048" y="1938528"/>
            <a:ext cx="475488" cy="475488"/>
          </a:xfrm>
          <a:prstGeom prst="rect">
            <a:avLst/>
          </a:prstGeom>
          <a:noFill/>
          <a:ln/>
        </p:spPr>
        <p:txBody>
          <a:bodyPr wrap="square" lIns="0" tIns="0" rIns="0" bIns="0" rtlCol="0" anchor="ctr"/>
          <a:lstStyle/>
          <a:p>
            <a:pPr algn="ctr" indent="0" marL="0">
              <a:buNone/>
            </a:pPr>
            <a:r>
              <a:rPr lang="en-US" sz="1800" b="1" dirty="0">
                <a:solidFill>
                  <a:srgbClr val="060E18"/>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005840" y="1938528"/>
            <a:ext cx="7498080" cy="274320"/>
          </a:xfrm>
          <a:prstGeom prst="rect">
            <a:avLst/>
          </a:prstGeom>
          <a:noFill/>
          <a:ln/>
        </p:spPr>
        <p:txBody>
          <a:bodyPr wrap="square" lIns="0" tIns="0" rIns="0" bIns="0" rtlCol="0" anchor="ctr"/>
          <a:lstStyle/>
          <a:p>
            <a:pPr algn="l" indent="0" marL="0">
              <a:buNone/>
            </a:pPr>
            <a:r>
              <a:rPr lang="en-US" sz="1350" b="1" dirty="0">
                <a:solidFill>
                  <a:srgbClr val="EEF2F6"/>
                </a:solidFill>
                <a:latin typeface="Calibri" pitchFamily="34" charset="0"/>
                <a:ea typeface="Calibri" pitchFamily="34" charset="-122"/>
                <a:cs typeface="Calibri" pitchFamily="34" charset="-120"/>
              </a:rPr>
              <a:t>Each robot bids</a:t>
            </a:r>
            <a:endParaRPr lang="en-US" sz="1350" dirty="0"/>
          </a:p>
        </p:txBody>
      </p:sp>
      <p:sp>
        <p:nvSpPr>
          <p:cNvPr id="13" name="Text 11"/>
          <p:cNvSpPr/>
          <p:nvPr/>
        </p:nvSpPr>
        <p:spPr>
          <a:xfrm>
            <a:off x="1005840" y="2231136"/>
            <a:ext cx="7498080" cy="566928"/>
          </a:xfrm>
          <a:prstGeom prst="rect">
            <a:avLst/>
          </a:prstGeom>
          <a:noFill/>
          <a:ln/>
        </p:spPr>
        <p:txBody>
          <a:bodyPr wrap="square" lIns="0" tIns="0" rIns="0" bIns="0" rtlCol="0" anchor="ctr"/>
          <a:lstStyle/>
          <a:p>
            <a:pPr algn="l" indent="0" marL="0">
              <a:buNone/>
            </a:pPr>
            <a:r>
              <a:rPr lang="en-US" sz="1250" dirty="0">
                <a:solidFill>
                  <a:srgbClr val="4E6E88"/>
                </a:solidFill>
                <a:latin typeface="Calibri" pitchFamily="34" charset="0"/>
                <a:ea typeface="Calibri" pitchFamily="34" charset="-122"/>
                <a:cs typeface="Calibri" pitchFamily="34" charset="-120"/>
              </a:rPr>
              <a:t>Every unassigned robot submits a bid for every unassigned site. The bid encodes how valuable that site is from the robot's current position.</a:t>
            </a:r>
            <a:endParaRPr lang="en-US" sz="1250" dirty="0"/>
          </a:p>
        </p:txBody>
      </p:sp>
      <p:sp>
        <p:nvSpPr>
          <p:cNvPr id="14" name="Shape 12"/>
          <p:cNvSpPr/>
          <p:nvPr/>
        </p:nvSpPr>
        <p:spPr>
          <a:xfrm>
            <a:off x="384048" y="2889504"/>
            <a:ext cx="475488" cy="475488"/>
          </a:xfrm>
          <a:prstGeom prst="rect">
            <a:avLst/>
          </a:prstGeom>
          <a:solidFill>
            <a:srgbClr val="F0A030"/>
          </a:solidFill>
          <a:ln w="12700">
            <a:solidFill>
              <a:srgbClr val="F0A030"/>
            </a:solidFill>
            <a:prstDash val="solid"/>
          </a:ln>
        </p:spPr>
      </p:sp>
      <p:sp>
        <p:nvSpPr>
          <p:cNvPr id="15" name="Text 13"/>
          <p:cNvSpPr/>
          <p:nvPr/>
        </p:nvSpPr>
        <p:spPr>
          <a:xfrm>
            <a:off x="384048" y="2889504"/>
            <a:ext cx="475488" cy="475488"/>
          </a:xfrm>
          <a:prstGeom prst="rect">
            <a:avLst/>
          </a:prstGeom>
          <a:noFill/>
          <a:ln/>
        </p:spPr>
        <p:txBody>
          <a:bodyPr wrap="square" lIns="0" tIns="0" rIns="0" bIns="0" rtlCol="0" anchor="ctr"/>
          <a:lstStyle/>
          <a:p>
            <a:pPr algn="ctr" indent="0" marL="0">
              <a:buNone/>
            </a:pPr>
            <a:r>
              <a:rPr lang="en-US" sz="1800" b="1" dirty="0">
                <a:solidFill>
                  <a:srgbClr val="060E18"/>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005840" y="2889504"/>
            <a:ext cx="7498080" cy="274320"/>
          </a:xfrm>
          <a:prstGeom prst="rect">
            <a:avLst/>
          </a:prstGeom>
          <a:noFill/>
          <a:ln/>
        </p:spPr>
        <p:txBody>
          <a:bodyPr wrap="square" lIns="0" tIns="0" rIns="0" bIns="0" rtlCol="0" anchor="ctr"/>
          <a:lstStyle/>
          <a:p>
            <a:pPr algn="l" indent="0" marL="0">
              <a:buNone/>
            </a:pPr>
            <a:r>
              <a:rPr lang="en-US" sz="1350" b="1" dirty="0">
                <a:solidFill>
                  <a:srgbClr val="EEF2F6"/>
                </a:solidFill>
                <a:latin typeface="Calibri" pitchFamily="34" charset="0"/>
                <a:ea typeface="Calibri" pitchFamily="34" charset="-122"/>
                <a:cs typeface="Calibri" pitchFamily="34" charset="-120"/>
              </a:rPr>
              <a:t>Highest bid wins</a:t>
            </a:r>
            <a:endParaRPr lang="en-US" sz="1350" dirty="0"/>
          </a:p>
        </p:txBody>
      </p:sp>
      <p:sp>
        <p:nvSpPr>
          <p:cNvPr id="17" name="Text 15"/>
          <p:cNvSpPr/>
          <p:nvPr/>
        </p:nvSpPr>
        <p:spPr>
          <a:xfrm>
            <a:off x="1005840" y="3182112"/>
            <a:ext cx="7498080" cy="566928"/>
          </a:xfrm>
          <a:prstGeom prst="rect">
            <a:avLst/>
          </a:prstGeom>
          <a:noFill/>
          <a:ln/>
        </p:spPr>
        <p:txBody>
          <a:bodyPr wrap="square" lIns="0" tIns="0" rIns="0" bIns="0" rtlCol="0" anchor="ctr"/>
          <a:lstStyle/>
          <a:p>
            <a:pPr algn="l" indent="0" marL="0">
              <a:buNone/>
            </a:pPr>
            <a:r>
              <a:rPr lang="en-US" sz="1250" dirty="0">
                <a:solidFill>
                  <a:srgbClr val="4E6E88"/>
                </a:solidFill>
                <a:latin typeface="Calibri" pitchFamily="34" charset="0"/>
                <a:ea typeface="Calibri" pitchFamily="34" charset="-122"/>
                <a:cs typeface="Calibri" pitchFamily="34" charset="-120"/>
              </a:rPr>
              <a:t>The site-robot pair with the highest bid is allocated. Both are removed from contention.</a:t>
            </a:r>
            <a:endParaRPr lang="en-US" sz="1250" dirty="0"/>
          </a:p>
        </p:txBody>
      </p:sp>
      <p:sp>
        <p:nvSpPr>
          <p:cNvPr id="18" name="Shape 16"/>
          <p:cNvSpPr/>
          <p:nvPr/>
        </p:nvSpPr>
        <p:spPr>
          <a:xfrm>
            <a:off x="384048" y="3840480"/>
            <a:ext cx="475488" cy="475488"/>
          </a:xfrm>
          <a:prstGeom prst="rect">
            <a:avLst/>
          </a:prstGeom>
          <a:solidFill>
            <a:srgbClr val="F0A030"/>
          </a:solidFill>
          <a:ln w="12700">
            <a:solidFill>
              <a:srgbClr val="F0A030"/>
            </a:solidFill>
            <a:prstDash val="solid"/>
          </a:ln>
        </p:spPr>
      </p:sp>
      <p:sp>
        <p:nvSpPr>
          <p:cNvPr id="19" name="Text 17"/>
          <p:cNvSpPr/>
          <p:nvPr/>
        </p:nvSpPr>
        <p:spPr>
          <a:xfrm>
            <a:off x="384048" y="3840480"/>
            <a:ext cx="475488" cy="475488"/>
          </a:xfrm>
          <a:prstGeom prst="rect">
            <a:avLst/>
          </a:prstGeom>
          <a:noFill/>
          <a:ln/>
        </p:spPr>
        <p:txBody>
          <a:bodyPr wrap="square" lIns="0" tIns="0" rIns="0" bIns="0" rtlCol="0" anchor="ctr"/>
          <a:lstStyle/>
          <a:p>
            <a:pPr algn="ctr" indent="0" marL="0">
              <a:buNone/>
            </a:pPr>
            <a:r>
              <a:rPr lang="en-US" sz="1800" b="1" dirty="0">
                <a:solidFill>
                  <a:srgbClr val="060E18"/>
                </a:solidFill>
                <a:latin typeface="Calibri" pitchFamily="34" charset="0"/>
                <a:ea typeface="Calibri" pitchFamily="34" charset="-122"/>
                <a:cs typeface="Calibri" pitchFamily="34" charset="-120"/>
              </a:rPr>
              <a:t>4</a:t>
            </a:r>
            <a:endParaRPr lang="en-US" sz="1800" dirty="0"/>
          </a:p>
        </p:txBody>
      </p:sp>
      <p:sp>
        <p:nvSpPr>
          <p:cNvPr id="20" name="Text 18"/>
          <p:cNvSpPr/>
          <p:nvPr/>
        </p:nvSpPr>
        <p:spPr>
          <a:xfrm>
            <a:off x="1005840" y="3840480"/>
            <a:ext cx="7498080" cy="274320"/>
          </a:xfrm>
          <a:prstGeom prst="rect">
            <a:avLst/>
          </a:prstGeom>
          <a:noFill/>
          <a:ln/>
        </p:spPr>
        <p:txBody>
          <a:bodyPr wrap="square" lIns="0" tIns="0" rIns="0" bIns="0" rtlCol="0" anchor="ctr"/>
          <a:lstStyle/>
          <a:p>
            <a:pPr algn="l" indent="0" marL="0">
              <a:buNone/>
            </a:pPr>
            <a:r>
              <a:rPr lang="en-US" sz="1350" b="1" dirty="0">
                <a:solidFill>
                  <a:srgbClr val="EEF2F6"/>
                </a:solidFill>
                <a:latin typeface="Calibri" pitchFamily="34" charset="0"/>
                <a:ea typeface="Calibri" pitchFamily="34" charset="-122"/>
                <a:cs typeface="Calibri" pitchFamily="34" charset="-120"/>
              </a:rPr>
              <a:t>Repeat until done</a:t>
            </a:r>
            <a:endParaRPr lang="en-US" sz="1350" dirty="0"/>
          </a:p>
        </p:txBody>
      </p:sp>
      <p:sp>
        <p:nvSpPr>
          <p:cNvPr id="21" name="Text 19"/>
          <p:cNvSpPr/>
          <p:nvPr/>
        </p:nvSpPr>
        <p:spPr>
          <a:xfrm>
            <a:off x="1005840" y="4133088"/>
            <a:ext cx="7498080" cy="566928"/>
          </a:xfrm>
          <a:prstGeom prst="rect">
            <a:avLst/>
          </a:prstGeom>
          <a:noFill/>
          <a:ln/>
        </p:spPr>
        <p:txBody>
          <a:bodyPr wrap="square" lIns="0" tIns="0" rIns="0" bIns="0" rtlCol="0" anchor="ctr"/>
          <a:lstStyle/>
          <a:p>
            <a:pPr algn="l" indent="0" marL="0">
              <a:buNone/>
            </a:pPr>
            <a:r>
              <a:rPr lang="en-US" sz="1250" dirty="0">
                <a:solidFill>
                  <a:srgbClr val="4E6E88"/>
                </a:solidFill>
                <a:latin typeface="Calibri" pitchFamily="34" charset="0"/>
                <a:ea typeface="Calibri" pitchFamily="34" charset="-122"/>
                <a:cs typeface="Calibri" pitchFamily="34" charset="-120"/>
              </a:rPr>
              <a:t>Steps 2–3 iterate until all robots have assignments. Robots depart simultaneously.</a:t>
            </a:r>
            <a:endParaRPr lang="en-US" sz="1250" dirty="0"/>
          </a:p>
        </p:txBody>
      </p:sp>
      <p:sp>
        <p:nvSpPr>
          <p:cNvPr id="22" name="Shape 20"/>
          <p:cNvSpPr/>
          <p:nvPr/>
        </p:nvSpPr>
        <p:spPr>
          <a:xfrm>
            <a:off x="384048" y="4681728"/>
            <a:ext cx="8375904" cy="347472"/>
          </a:xfrm>
          <a:prstGeom prst="rect">
            <a:avLst/>
          </a:prstGeom>
          <a:solidFill>
            <a:srgbClr val="1A3050"/>
          </a:solidFill>
          <a:ln w="12700">
            <a:solidFill>
              <a:srgbClr val="1A3050"/>
            </a:solidFill>
            <a:prstDash val="solid"/>
          </a:ln>
        </p:spPr>
      </p:sp>
      <p:sp>
        <p:nvSpPr>
          <p:cNvPr id="23" name="Text 21"/>
          <p:cNvSpPr/>
          <p:nvPr/>
        </p:nvSpPr>
        <p:spPr>
          <a:xfrm>
            <a:off x="530352" y="4681728"/>
            <a:ext cx="8229600" cy="347472"/>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SSI (M3 FCR = 6.32) beats centralized Hungarian assignment (Hᵈ FCR = 6.88) by 8.1% — the iterative structure adapts assignments to fleet geometry.</a:t>
            </a:r>
            <a:endParaRPr lang="en-US" sz="1200" dirty="0"/>
          </a:p>
        </p:txBody>
      </p:sp>
      <p:sp>
        <p:nvSpPr>
          <p:cNvPr id="24" name="Text 22"/>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MODEL DESIGN</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600" b="1" dirty="0">
                <a:solidFill>
                  <a:srgbClr val="EEF2F6"/>
                </a:solidFill>
                <a:latin typeface="Calibri" pitchFamily="34" charset="0"/>
                <a:ea typeface="Calibri" pitchFamily="34" charset="-122"/>
                <a:cs typeface="Calibri" pitchFamily="34" charset="-120"/>
              </a:rPr>
              <a:t>From Single-Site to Multi-Site Sorties</a:t>
            </a:r>
            <a:endParaRPr lang="en-US" sz="26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sp>
        <p:nvSpPr>
          <p:cNvPr id="5" name="Shape 3"/>
          <p:cNvSpPr/>
          <p:nvPr/>
        </p:nvSpPr>
        <p:spPr>
          <a:xfrm>
            <a:off x="384048" y="987552"/>
            <a:ext cx="3931920" cy="1600200"/>
          </a:xfrm>
          <a:prstGeom prst="rect">
            <a:avLst/>
          </a:prstGeom>
          <a:solidFill>
            <a:srgbClr val="13243A"/>
          </a:solidFill>
          <a:ln w="12700">
            <a:solidFill>
              <a:srgbClr val="13243A"/>
            </a:solidFill>
            <a:prstDash val="solid"/>
          </a:ln>
        </p:spPr>
      </p:sp>
      <p:sp>
        <p:nvSpPr>
          <p:cNvPr id="6" name="Shape 4"/>
          <p:cNvSpPr/>
          <p:nvPr/>
        </p:nvSpPr>
        <p:spPr>
          <a:xfrm>
            <a:off x="384048" y="987552"/>
            <a:ext cx="3931920" cy="45720"/>
          </a:xfrm>
          <a:prstGeom prst="rect">
            <a:avLst/>
          </a:prstGeom>
          <a:solidFill>
            <a:srgbClr val="4E6E88"/>
          </a:solidFill>
          <a:ln w="12700">
            <a:solidFill>
              <a:srgbClr val="4E6E88"/>
            </a:solidFill>
            <a:prstDash val="solid"/>
          </a:ln>
        </p:spPr>
      </p:sp>
      <p:sp>
        <p:nvSpPr>
          <p:cNvPr id="7" name="Text 5"/>
          <p:cNvSpPr/>
          <p:nvPr/>
        </p:nvSpPr>
        <p:spPr>
          <a:xfrm>
            <a:off x="530352" y="1078992"/>
            <a:ext cx="3639312" cy="274320"/>
          </a:xfrm>
          <a:prstGeom prst="rect">
            <a:avLst/>
          </a:prstGeom>
          <a:noFill/>
          <a:ln/>
        </p:spPr>
        <p:txBody>
          <a:bodyPr wrap="square" lIns="0" tIns="0" rIns="0" bIns="0" rtlCol="0" anchor="ctr"/>
          <a:lstStyle/>
          <a:p>
            <a:pPr algn="l" indent="0" marL="0">
              <a:buNone/>
            </a:pPr>
            <a:r>
              <a:rPr lang="en-US" sz="1250" b="1" dirty="0">
                <a:solidFill>
                  <a:srgbClr val="4E6E88"/>
                </a:solidFill>
                <a:latin typeface="Calibri" pitchFamily="34" charset="0"/>
                <a:ea typeface="Calibri" pitchFamily="34" charset="-122"/>
                <a:cs typeface="Calibri" pitchFamily="34" charset="-120"/>
              </a:rPr>
              <a:t>Model 3 — The Problem</a:t>
            </a:r>
            <a:endParaRPr lang="en-US" sz="1250" dirty="0"/>
          </a:p>
        </p:txBody>
      </p:sp>
      <p:sp>
        <p:nvSpPr>
          <p:cNvPr id="8" name="Text 6"/>
          <p:cNvSpPr/>
          <p:nvPr/>
        </p:nvSpPr>
        <p:spPr>
          <a:xfrm>
            <a:off x="530352" y="1389888"/>
            <a:ext cx="3639312" cy="1097280"/>
          </a:xfrm>
          <a:prstGeom prst="rect">
            <a:avLst/>
          </a:prstGeom>
          <a:noFill/>
          <a:ln/>
        </p:spPr>
        <p:txBody>
          <a:bodyPr wrap="square" lIns="0" tIns="0" rIns="0" bIns="0" rtlCol="0" anchor="ctr"/>
          <a:lstStyle/>
          <a:p>
            <a:pPr algn="l" indent="0" marL="0">
              <a:lnSpc>
                <a:spcPct val="120000"/>
              </a:lnSpc>
              <a:buNone/>
            </a:pPr>
            <a:r>
              <a:rPr lang="en-US" sz="1250" dirty="0">
                <a:solidFill>
                  <a:srgbClr val="EEF2F6"/>
                </a:solidFill>
                <a:latin typeface="Calibri" pitchFamily="34" charset="0"/>
                <a:ea typeface="Calibri" pitchFamily="34" charset="-122"/>
                <a:cs typeface="Calibri" pitchFamily="34" charset="-120"/>
              </a:rPr>
              <a:t>Each sortie visits exactly one site. Round-trip cost = 2d. With E = 14 and d = 3: the robot uses 6 of 14 energy units on transit — 57% wasted on getting there and back.</a:t>
            </a:r>
            <a:endParaRPr lang="en-US" sz="1250" dirty="0"/>
          </a:p>
        </p:txBody>
      </p:sp>
      <p:sp>
        <p:nvSpPr>
          <p:cNvPr id="9" name="Shape 7"/>
          <p:cNvSpPr/>
          <p:nvPr/>
        </p:nvSpPr>
        <p:spPr>
          <a:xfrm>
            <a:off x="384048" y="2743200"/>
            <a:ext cx="3931920" cy="1691640"/>
          </a:xfrm>
          <a:prstGeom prst="rect">
            <a:avLst/>
          </a:prstGeom>
          <a:solidFill>
            <a:srgbClr val="13243A"/>
          </a:solidFill>
          <a:ln w="12700">
            <a:solidFill>
              <a:srgbClr val="13243A"/>
            </a:solidFill>
            <a:prstDash val="solid"/>
          </a:ln>
        </p:spPr>
      </p:sp>
      <p:sp>
        <p:nvSpPr>
          <p:cNvPr id="10" name="Shape 8"/>
          <p:cNvSpPr/>
          <p:nvPr/>
        </p:nvSpPr>
        <p:spPr>
          <a:xfrm>
            <a:off x="384048" y="2743200"/>
            <a:ext cx="3931920" cy="45720"/>
          </a:xfrm>
          <a:prstGeom prst="rect">
            <a:avLst/>
          </a:prstGeom>
          <a:solidFill>
            <a:srgbClr val="F0A030"/>
          </a:solidFill>
          <a:ln w="12700">
            <a:solidFill>
              <a:srgbClr val="F0A030"/>
            </a:solidFill>
            <a:prstDash val="solid"/>
          </a:ln>
        </p:spPr>
      </p:sp>
      <p:sp>
        <p:nvSpPr>
          <p:cNvPr id="11" name="Text 9"/>
          <p:cNvSpPr/>
          <p:nvPr/>
        </p:nvSpPr>
        <p:spPr>
          <a:xfrm>
            <a:off x="530352" y="2834640"/>
            <a:ext cx="3639312" cy="274320"/>
          </a:xfrm>
          <a:prstGeom prst="rect">
            <a:avLst/>
          </a:prstGeom>
          <a:noFill/>
          <a:ln/>
        </p:spPr>
        <p:txBody>
          <a:bodyPr wrap="square" lIns="0" tIns="0" rIns="0" bIns="0" rtlCol="0" anchor="ctr"/>
          <a:lstStyle/>
          <a:p>
            <a:pPr algn="l" indent="0" marL="0">
              <a:buNone/>
            </a:pPr>
            <a:r>
              <a:rPr lang="en-US" sz="1250" b="1" dirty="0">
                <a:solidFill>
                  <a:srgbClr val="F0A030"/>
                </a:solidFill>
                <a:latin typeface="Calibri" pitchFamily="34" charset="0"/>
                <a:ea typeface="Calibri" pitchFamily="34" charset="-122"/>
                <a:cs typeface="Calibri" pitchFamily="34" charset="-120"/>
              </a:rPr>
              <a:t>Model 4 — The Solution</a:t>
            </a:r>
            <a:endParaRPr lang="en-US" sz="1250" dirty="0"/>
          </a:p>
        </p:txBody>
      </p:sp>
      <p:sp>
        <p:nvSpPr>
          <p:cNvPr id="12" name="Text 10"/>
          <p:cNvSpPr/>
          <p:nvPr/>
        </p:nvSpPr>
        <p:spPr>
          <a:xfrm>
            <a:off x="530352" y="3145536"/>
            <a:ext cx="3639312" cy="822960"/>
          </a:xfrm>
          <a:prstGeom prst="rect">
            <a:avLst/>
          </a:prstGeom>
          <a:noFill/>
          <a:ln/>
        </p:spPr>
        <p:txBody>
          <a:bodyPr wrap="square" lIns="0" tIns="0" rIns="0" bIns="0" rtlCol="0" anchor="ctr"/>
          <a:lstStyle/>
          <a:p>
            <a:pPr algn="l" indent="0" marL="0">
              <a:lnSpc>
                <a:spcPct val="120000"/>
              </a:lnSpc>
              <a:buNone/>
            </a:pPr>
            <a:r>
              <a:rPr lang="en-US" sz="1250" dirty="0">
                <a:solidFill>
                  <a:srgbClr val="EEF2F6"/>
                </a:solidFill>
                <a:latin typeface="Calibri" pitchFamily="34" charset="0"/>
                <a:ea typeface="Calibri" pitchFamily="34" charset="-122"/>
                <a:cs typeface="Calibri" pitchFamily="34" charset="-120"/>
              </a:rPr>
              <a:t>After reaching site 1, check: can we visit site 2 and still return? If yes, extend. Chain as many sites as the budget permits.</a:t>
            </a:r>
            <a:endParaRPr lang="en-US" sz="1250" dirty="0"/>
          </a:p>
        </p:txBody>
      </p:sp>
      <p:sp>
        <p:nvSpPr>
          <p:cNvPr id="13" name="Shape 11"/>
          <p:cNvSpPr/>
          <p:nvPr/>
        </p:nvSpPr>
        <p:spPr>
          <a:xfrm>
            <a:off x="384048" y="4553712"/>
            <a:ext cx="3931920" cy="457200"/>
          </a:xfrm>
          <a:prstGeom prst="rect">
            <a:avLst/>
          </a:prstGeom>
          <a:solidFill>
            <a:srgbClr val="1A3050"/>
          </a:solidFill>
          <a:ln w="12700">
            <a:solidFill>
              <a:srgbClr val="1A3050"/>
            </a:solidFill>
            <a:prstDash val="solid"/>
          </a:ln>
        </p:spPr>
      </p:sp>
      <p:sp>
        <p:nvSpPr>
          <p:cNvPr id="14" name="Text 12"/>
          <p:cNvSpPr/>
          <p:nvPr/>
        </p:nvSpPr>
        <p:spPr>
          <a:xfrm>
            <a:off x="475488" y="4553712"/>
            <a:ext cx="3749040" cy="457200"/>
          </a:xfrm>
          <a:prstGeom prst="rect">
            <a:avLst/>
          </a:prstGeom>
          <a:noFill/>
          <a:ln/>
        </p:spPr>
        <p:txBody>
          <a:bodyPr wrap="square" lIns="0" tIns="0" rIns="0" bIns="0" rtlCol="0" anchor="ctr"/>
          <a:lstStyle/>
          <a:p>
            <a:pPr algn="ctr" indent="0" marL="0">
              <a:buNone/>
            </a:pPr>
            <a:r>
              <a:rPr lang="en-US" sz="1400" b="1" dirty="0">
                <a:solidFill>
                  <a:srgbClr val="EEF2F6"/>
                </a:solidFill>
                <a:latin typeface="Calibri" pitchFamily="34" charset="0"/>
                <a:ea typeface="Calibri" pitchFamily="34" charset="-122"/>
                <a:cs typeface="Calibri" pitchFamily="34" charset="-120"/>
              </a:rPr>
              <a:t>d(current → next) + d(next → base)  ≤  E_remaining</a:t>
            </a:r>
            <a:endParaRPr lang="en-US" sz="1400" dirty="0"/>
          </a:p>
        </p:txBody>
      </p:sp>
      <p:sp>
        <p:nvSpPr>
          <p:cNvPr id="15" name="Shape 13"/>
          <p:cNvSpPr/>
          <p:nvPr/>
        </p:nvSpPr>
        <p:spPr>
          <a:xfrm>
            <a:off x="4617720" y="987552"/>
            <a:ext cx="4114800" cy="1371600"/>
          </a:xfrm>
          <a:prstGeom prst="rect">
            <a:avLst/>
          </a:prstGeom>
          <a:solidFill>
            <a:srgbClr val="1A3050"/>
          </a:solidFill>
          <a:ln w="12700">
            <a:solidFill>
              <a:srgbClr val="1A3050"/>
            </a:solidFill>
            <a:prstDash val="solid"/>
          </a:ln>
        </p:spPr>
      </p:sp>
      <p:sp>
        <p:nvSpPr>
          <p:cNvPr id="16" name="Text 14"/>
          <p:cNvSpPr/>
          <p:nvPr/>
        </p:nvSpPr>
        <p:spPr>
          <a:xfrm>
            <a:off x="4709160" y="1078992"/>
            <a:ext cx="3931920" cy="754380"/>
          </a:xfrm>
          <a:prstGeom prst="rect">
            <a:avLst/>
          </a:prstGeom>
          <a:noFill/>
          <a:ln/>
        </p:spPr>
        <p:txBody>
          <a:bodyPr wrap="square" lIns="0" tIns="0" rIns="0" bIns="0" rtlCol="0" anchor="b"/>
          <a:lstStyle/>
          <a:p>
            <a:pPr algn="ctr" indent="0" marL="0">
              <a:buNone/>
            </a:pPr>
            <a:r>
              <a:rPr lang="en-US" sz="2800" b="1" dirty="0">
                <a:solidFill>
                  <a:srgbClr val="F0A030"/>
                </a:solidFill>
                <a:latin typeface="Calibri" pitchFamily="34" charset="0"/>
                <a:ea typeface="Calibri" pitchFamily="34" charset="-122"/>
                <a:cs typeface="Calibri" pitchFamily="34" charset="-120"/>
              </a:rPr>
              <a:t>~90%</a:t>
            </a:r>
            <a:endParaRPr lang="en-US" sz="2800" dirty="0"/>
          </a:p>
        </p:txBody>
      </p:sp>
      <p:sp>
        <p:nvSpPr>
          <p:cNvPr id="17" name="Text 15"/>
          <p:cNvSpPr/>
          <p:nvPr/>
        </p:nvSpPr>
        <p:spPr>
          <a:xfrm>
            <a:off x="4709160" y="1783080"/>
            <a:ext cx="3931920" cy="493776"/>
          </a:xfrm>
          <a:prstGeom prst="rect">
            <a:avLst/>
          </a:prstGeom>
          <a:noFill/>
          <a:ln/>
        </p:spPr>
        <p:txBody>
          <a:bodyPr wrap="square" lIns="0" tIns="0" rIns="0" bIns="0" rtlCol="0" anchor="t"/>
          <a:lstStyle/>
          <a:p>
            <a:pPr algn="ctr" indent="0" marL="0">
              <a:buNone/>
            </a:pPr>
            <a:r>
              <a:rPr lang="en-US" sz="1100" dirty="0">
                <a:solidFill>
                  <a:srgbClr val="EEF2F6"/>
                </a:solidFill>
                <a:latin typeface="Calibri" pitchFamily="34" charset="0"/>
                <a:ea typeface="Calibri" pitchFamily="34" charset="-122"/>
                <a:cs typeface="Calibri" pitchFamily="34" charset="-120"/>
              </a:rPr>
              <a:t>of M2→M3 gap</a:t>
            </a:r>
            <a:endParaRPr lang="en-US" sz="1100" dirty="0"/>
          </a:p>
          <a:p>
            <a:pPr algn="ctr" indent="0" marL="0">
              <a:buNone/>
            </a:pPr>
            <a:r>
              <a:rPr lang="en-US" sz="1100" dirty="0">
                <a:solidFill>
                  <a:srgbClr val="EEF2F6"/>
                </a:solidFill>
                <a:latin typeface="Calibri" pitchFamily="34" charset="0"/>
                <a:ea typeface="Calibri" pitchFamily="34" charset="-122"/>
                <a:cs typeface="Calibri" pitchFamily="34" charset="-120"/>
              </a:rPr>
              <a:t>recovered by M4</a:t>
            </a:r>
            <a:endParaRPr lang="en-US" sz="1100" dirty="0"/>
          </a:p>
        </p:txBody>
      </p:sp>
      <p:sp>
        <p:nvSpPr>
          <p:cNvPr id="18" name="Shape 16"/>
          <p:cNvSpPr/>
          <p:nvPr/>
        </p:nvSpPr>
        <p:spPr>
          <a:xfrm>
            <a:off x="4617720" y="2542032"/>
            <a:ext cx="4114800" cy="1371600"/>
          </a:xfrm>
          <a:prstGeom prst="rect">
            <a:avLst/>
          </a:prstGeom>
          <a:solidFill>
            <a:srgbClr val="1A3050"/>
          </a:solidFill>
          <a:ln w="12700">
            <a:solidFill>
              <a:srgbClr val="1A3050"/>
            </a:solidFill>
            <a:prstDash val="solid"/>
          </a:ln>
        </p:spPr>
      </p:sp>
      <p:sp>
        <p:nvSpPr>
          <p:cNvPr id="19" name="Text 17"/>
          <p:cNvSpPr/>
          <p:nvPr/>
        </p:nvSpPr>
        <p:spPr>
          <a:xfrm>
            <a:off x="4709160" y="2633472"/>
            <a:ext cx="3931920" cy="754380"/>
          </a:xfrm>
          <a:prstGeom prst="rect">
            <a:avLst/>
          </a:prstGeom>
          <a:noFill/>
          <a:ln/>
        </p:spPr>
        <p:txBody>
          <a:bodyPr wrap="square" lIns="0" tIns="0" rIns="0" bIns="0" rtlCol="0" anchor="b"/>
          <a:lstStyle/>
          <a:p>
            <a:pPr algn="ctr" indent="0" marL="0">
              <a:buNone/>
            </a:pPr>
            <a:r>
              <a:rPr lang="en-US" sz="2800" b="1" dirty="0">
                <a:solidFill>
                  <a:srgbClr val="F0A030"/>
                </a:solidFill>
                <a:latin typeface="Calibri" pitchFamily="34" charset="0"/>
                <a:ea typeface="Calibri" pitchFamily="34" charset="-122"/>
                <a:cs typeface="Calibri" pitchFamily="34" charset="-120"/>
              </a:rPr>
              <a:t>6.32</a:t>
            </a:r>
            <a:endParaRPr lang="en-US" sz="2800" dirty="0"/>
          </a:p>
        </p:txBody>
      </p:sp>
      <p:sp>
        <p:nvSpPr>
          <p:cNvPr id="20" name="Text 18"/>
          <p:cNvSpPr/>
          <p:nvPr/>
        </p:nvSpPr>
        <p:spPr>
          <a:xfrm>
            <a:off x="4709160" y="3337560"/>
            <a:ext cx="3931920" cy="493776"/>
          </a:xfrm>
          <a:prstGeom prst="rect">
            <a:avLst/>
          </a:prstGeom>
          <a:noFill/>
          <a:ln/>
        </p:spPr>
        <p:txBody>
          <a:bodyPr wrap="square" lIns="0" tIns="0" rIns="0" bIns="0" rtlCol="0" anchor="t"/>
          <a:lstStyle/>
          <a:p>
            <a:pPr algn="ctr" indent="0" marL="0">
              <a:buNone/>
            </a:pPr>
            <a:r>
              <a:rPr lang="en-US" sz="1100" dirty="0">
                <a:solidFill>
                  <a:srgbClr val="EEF2F6"/>
                </a:solidFill>
                <a:latin typeface="Calibri" pitchFamily="34" charset="0"/>
                <a:ea typeface="Calibri" pitchFamily="34" charset="-122"/>
                <a:cs typeface="Calibri" pitchFamily="34" charset="-120"/>
              </a:rPr>
              <a:t>M3 FCR</a:t>
            </a:r>
            <a:endParaRPr lang="en-US" sz="1100" dirty="0"/>
          </a:p>
          <a:p>
            <a:pPr algn="ctr" indent="0" marL="0">
              <a:buNone/>
            </a:pPr>
            <a:r>
              <a:rPr lang="en-US" sz="1100" dirty="0">
                <a:solidFill>
                  <a:srgbClr val="EEF2F6"/>
                </a:solidFill>
                <a:latin typeface="Calibri" pitchFamily="34" charset="0"/>
                <a:ea typeface="Calibri" pitchFamily="34" charset="-122"/>
                <a:cs typeface="Calibri" pitchFamily="34" charset="-120"/>
              </a:rPr>
              <a:t>(1 site per sortie)</a:t>
            </a:r>
            <a:endParaRPr lang="en-US" sz="1100" dirty="0"/>
          </a:p>
        </p:txBody>
      </p:sp>
      <p:sp>
        <p:nvSpPr>
          <p:cNvPr id="21" name="Shape 19"/>
          <p:cNvSpPr/>
          <p:nvPr/>
        </p:nvSpPr>
        <p:spPr>
          <a:xfrm>
            <a:off x="4617720" y="4096512"/>
            <a:ext cx="4114800" cy="1371600"/>
          </a:xfrm>
          <a:prstGeom prst="rect">
            <a:avLst/>
          </a:prstGeom>
          <a:solidFill>
            <a:srgbClr val="1A3050"/>
          </a:solidFill>
          <a:ln w="12700">
            <a:solidFill>
              <a:srgbClr val="1A3050"/>
            </a:solidFill>
            <a:prstDash val="solid"/>
          </a:ln>
        </p:spPr>
      </p:sp>
      <p:sp>
        <p:nvSpPr>
          <p:cNvPr id="22" name="Text 20"/>
          <p:cNvSpPr/>
          <p:nvPr/>
        </p:nvSpPr>
        <p:spPr>
          <a:xfrm>
            <a:off x="4709160" y="4187952"/>
            <a:ext cx="3931920" cy="754380"/>
          </a:xfrm>
          <a:prstGeom prst="rect">
            <a:avLst/>
          </a:prstGeom>
          <a:noFill/>
          <a:ln/>
        </p:spPr>
        <p:txBody>
          <a:bodyPr wrap="square" lIns="0" tIns="0" rIns="0" bIns="0" rtlCol="0" anchor="b"/>
          <a:lstStyle/>
          <a:p>
            <a:pPr algn="ctr" indent="0" marL="0">
              <a:buNone/>
            </a:pPr>
            <a:r>
              <a:rPr lang="en-US" sz="2800" b="1" dirty="0">
                <a:solidFill>
                  <a:srgbClr val="F0A030"/>
                </a:solidFill>
                <a:latin typeface="Calibri" pitchFamily="34" charset="0"/>
                <a:ea typeface="Calibri" pitchFamily="34" charset="-122"/>
                <a:cs typeface="Calibri" pitchFamily="34" charset="-120"/>
              </a:rPr>
              <a:t>3.11</a:t>
            </a:r>
            <a:endParaRPr lang="en-US" sz="2800" dirty="0"/>
          </a:p>
        </p:txBody>
      </p:sp>
      <p:sp>
        <p:nvSpPr>
          <p:cNvPr id="23" name="Text 21"/>
          <p:cNvSpPr/>
          <p:nvPr/>
        </p:nvSpPr>
        <p:spPr>
          <a:xfrm>
            <a:off x="4709160" y="4892040"/>
            <a:ext cx="3931920" cy="493776"/>
          </a:xfrm>
          <a:prstGeom prst="rect">
            <a:avLst/>
          </a:prstGeom>
          <a:noFill/>
          <a:ln/>
        </p:spPr>
        <p:txBody>
          <a:bodyPr wrap="square" lIns="0" tIns="0" rIns="0" bIns="0" rtlCol="0" anchor="t"/>
          <a:lstStyle/>
          <a:p>
            <a:pPr algn="ctr" indent="0" marL="0">
              <a:buNone/>
            </a:pPr>
            <a:r>
              <a:rPr lang="en-US" sz="1100" dirty="0">
                <a:solidFill>
                  <a:srgbClr val="EEF2F6"/>
                </a:solidFill>
                <a:latin typeface="Calibri" pitchFamily="34" charset="0"/>
                <a:ea typeface="Calibri" pitchFamily="34" charset="-122"/>
                <a:cs typeface="Calibri" pitchFamily="34" charset="-120"/>
              </a:rPr>
              <a:t>M4* FCR</a:t>
            </a:r>
            <a:endParaRPr lang="en-US" sz="1100" dirty="0"/>
          </a:p>
          <a:p>
            <a:pPr algn="ctr" indent="0" marL="0">
              <a:buNone/>
            </a:pPr>
            <a:r>
              <a:rPr lang="en-US" sz="1100" dirty="0">
                <a:solidFill>
                  <a:srgbClr val="EEF2F6"/>
                </a:solidFill>
                <a:latin typeface="Calibri" pitchFamily="34" charset="0"/>
                <a:ea typeface="Calibri" pitchFamily="34" charset="-122"/>
                <a:cs typeface="Calibri" pitchFamily="34" charset="-120"/>
              </a:rPr>
              <a:t>(chained sorties)</a:t>
            </a:r>
            <a:endParaRPr lang="en-US" sz="1100" dirty="0"/>
          </a:p>
        </p:txBody>
      </p:sp>
      <p:sp>
        <p:nvSpPr>
          <p:cNvPr id="24" name="Text 22"/>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PRIMARY CONTRIBUTION</a:t>
            </a:r>
            <a:endParaRPr lang="en-US" sz="800" dirty="0"/>
          </a:p>
        </p:txBody>
      </p:sp>
      <p:sp>
        <p:nvSpPr>
          <p:cNvPr id="3" name="Text 1"/>
          <p:cNvSpPr/>
          <p:nvPr/>
        </p:nvSpPr>
        <p:spPr>
          <a:xfrm>
            <a:off x="384048" y="274320"/>
            <a:ext cx="8375904" cy="548640"/>
          </a:xfrm>
          <a:prstGeom prst="rect">
            <a:avLst/>
          </a:prstGeom>
          <a:noFill/>
          <a:ln/>
        </p:spPr>
        <p:txBody>
          <a:bodyPr wrap="square" lIns="0" tIns="0" rIns="0" bIns="0" rtlCol="0" anchor="ctr"/>
          <a:lstStyle/>
          <a:p>
            <a:pPr algn="l" indent="0" marL="0">
              <a:buNone/>
            </a:pPr>
            <a:r>
              <a:rPr lang="en-US" sz="2400" b="1" dirty="0">
                <a:solidFill>
                  <a:srgbClr val="EEF2F6"/>
                </a:solidFill>
                <a:latin typeface="Calibri" pitchFamily="34" charset="0"/>
                <a:ea typeface="Calibri" pitchFamily="34" charset="-122"/>
                <a:cs typeface="Calibri" pitchFamily="34" charset="-120"/>
              </a:rPr>
              <a:t>The p/d² Bid Function: Novel Algorithmic Contribution</a:t>
            </a:r>
            <a:endParaRPr lang="en-US" sz="2400" dirty="0"/>
          </a:p>
        </p:txBody>
      </p:sp>
      <p:sp>
        <p:nvSpPr>
          <p:cNvPr id="4" name="Shape 2"/>
          <p:cNvSpPr/>
          <p:nvPr/>
        </p:nvSpPr>
        <p:spPr>
          <a:xfrm>
            <a:off x="384048" y="859536"/>
            <a:ext cx="8375904" cy="20117"/>
          </a:xfrm>
          <a:prstGeom prst="rect">
            <a:avLst/>
          </a:prstGeom>
          <a:solidFill>
            <a:srgbClr val="F0A030"/>
          </a:solidFill>
          <a:ln w="12700">
            <a:solidFill>
              <a:srgbClr val="F0A030"/>
            </a:solidFill>
            <a:prstDash val="solid"/>
          </a:ln>
        </p:spPr>
      </p:sp>
      <p:sp>
        <p:nvSpPr>
          <p:cNvPr id="5" name="Shape 3"/>
          <p:cNvSpPr/>
          <p:nvPr/>
        </p:nvSpPr>
        <p:spPr>
          <a:xfrm>
            <a:off x="384048" y="969264"/>
            <a:ext cx="2377440" cy="621792"/>
          </a:xfrm>
          <a:prstGeom prst="rect">
            <a:avLst/>
          </a:prstGeom>
          <a:solidFill>
            <a:srgbClr val="13243A"/>
          </a:solidFill>
          <a:ln w="12700">
            <a:solidFill>
              <a:srgbClr val="13243A"/>
            </a:solidFill>
            <a:prstDash val="solid"/>
          </a:ln>
        </p:spPr>
      </p:sp>
      <p:sp>
        <p:nvSpPr>
          <p:cNvPr id="6" name="Text 4"/>
          <p:cNvSpPr/>
          <p:nvPr/>
        </p:nvSpPr>
        <p:spPr>
          <a:xfrm>
            <a:off x="475488" y="969264"/>
            <a:ext cx="2194560" cy="621792"/>
          </a:xfrm>
          <a:prstGeom prst="rect">
            <a:avLst/>
          </a:prstGeom>
          <a:noFill/>
          <a:ln/>
        </p:spPr>
        <p:txBody>
          <a:bodyPr wrap="square" lIns="0" tIns="0" rIns="0" bIns="0" rtlCol="0" anchor="ctr"/>
          <a:lstStyle/>
          <a:p>
            <a:pPr algn="ctr" indent="0" marL="0">
              <a:buNone/>
            </a:pPr>
            <a:r>
              <a:rPr lang="en-US" sz="2200" b="1" dirty="0">
                <a:solidFill>
                  <a:srgbClr val="4E6E88"/>
                </a:solidFill>
                <a:latin typeface="Calibri" pitchFamily="34" charset="0"/>
                <a:ea typeface="Calibri" pitchFamily="34" charset="-122"/>
                <a:cs typeface="Calibri" pitchFamily="34" charset="-120"/>
              </a:rPr>
              <a:t>Classical  p/d</a:t>
            </a:r>
            <a:endParaRPr lang="en-US" sz="2200" dirty="0"/>
          </a:p>
        </p:txBody>
      </p:sp>
      <p:sp>
        <p:nvSpPr>
          <p:cNvPr id="7" name="Text 5"/>
          <p:cNvSpPr/>
          <p:nvPr/>
        </p:nvSpPr>
        <p:spPr>
          <a:xfrm>
            <a:off x="2834640" y="969264"/>
            <a:ext cx="548640" cy="621792"/>
          </a:xfrm>
          <a:prstGeom prst="rect">
            <a:avLst/>
          </a:prstGeom>
          <a:noFill/>
          <a:ln/>
        </p:spPr>
        <p:txBody>
          <a:bodyPr wrap="square" lIns="0" tIns="0" rIns="0" bIns="0" rtlCol="0" anchor="ctr"/>
          <a:lstStyle/>
          <a:p>
            <a:pPr algn="ctr" indent="0" marL="0">
              <a:buNone/>
            </a:pPr>
            <a:r>
              <a:rPr lang="en-US" sz="2000" b="1" dirty="0">
                <a:solidFill>
                  <a:srgbClr val="1C3550"/>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3456432" y="969264"/>
            <a:ext cx="2377440" cy="621792"/>
          </a:xfrm>
          <a:prstGeom prst="rect">
            <a:avLst/>
          </a:prstGeom>
          <a:solidFill>
            <a:srgbClr val="1A3050"/>
          </a:solidFill>
          <a:ln w="12700">
            <a:solidFill>
              <a:srgbClr val="1A3050"/>
            </a:solidFill>
            <a:prstDash val="solid"/>
          </a:ln>
        </p:spPr>
      </p:sp>
      <p:sp>
        <p:nvSpPr>
          <p:cNvPr id="9" name="Text 7"/>
          <p:cNvSpPr/>
          <p:nvPr/>
        </p:nvSpPr>
        <p:spPr>
          <a:xfrm>
            <a:off x="3547872" y="969264"/>
            <a:ext cx="2194560" cy="621792"/>
          </a:xfrm>
          <a:prstGeom prst="rect">
            <a:avLst/>
          </a:prstGeom>
          <a:noFill/>
          <a:ln/>
        </p:spPr>
        <p:txBody>
          <a:bodyPr wrap="square" lIns="0" tIns="0" rIns="0" bIns="0" rtlCol="0" anchor="ctr"/>
          <a:lstStyle/>
          <a:p>
            <a:pPr algn="ctr" indent="0" marL="0">
              <a:buNone/>
            </a:pPr>
            <a:r>
              <a:rPr lang="en-US" sz="2200" b="1" dirty="0">
                <a:solidFill>
                  <a:srgbClr val="F0A030"/>
                </a:solidFill>
                <a:latin typeface="Calibri" pitchFamily="34" charset="0"/>
                <a:ea typeface="Calibri" pitchFamily="34" charset="-122"/>
                <a:cs typeface="Calibri" pitchFamily="34" charset="-120"/>
              </a:rPr>
              <a:t>This thesis  p/d²</a:t>
            </a:r>
            <a:endParaRPr lang="en-US" sz="2200" dirty="0"/>
          </a:p>
        </p:txBody>
      </p:sp>
      <p:sp>
        <p:nvSpPr>
          <p:cNvPr id="10" name="Text 8"/>
          <p:cNvSpPr/>
          <p:nvPr/>
        </p:nvSpPr>
        <p:spPr>
          <a:xfrm>
            <a:off x="384048" y="1737360"/>
            <a:ext cx="5577840" cy="274320"/>
          </a:xfrm>
          <a:prstGeom prst="rect">
            <a:avLst/>
          </a:prstGeom>
          <a:noFill/>
          <a:ln/>
        </p:spPr>
        <p:txBody>
          <a:bodyPr wrap="square" lIns="0" tIns="0" rIns="0" bIns="0" rtlCol="0" anchor="ctr"/>
          <a:lstStyle/>
          <a:p>
            <a:pPr algn="l" indent="0" marL="0">
              <a:buNone/>
            </a:pPr>
            <a:r>
              <a:rPr lang="en-US" sz="1300" b="1" dirty="0">
                <a:solidFill>
                  <a:srgbClr val="38B2CC"/>
                </a:solidFill>
                <a:latin typeface="Calibri" pitchFamily="34" charset="0"/>
                <a:ea typeface="Calibri" pitchFamily="34" charset="-122"/>
                <a:cs typeface="Calibri" pitchFamily="34" charset="-120"/>
              </a:rPr>
              <a:t>The cost-foreclosure argument:</a:t>
            </a:r>
            <a:endParaRPr lang="en-US" sz="1300" dirty="0"/>
          </a:p>
        </p:txBody>
      </p:sp>
      <p:sp>
        <p:nvSpPr>
          <p:cNvPr id="11" name="Text 9"/>
          <p:cNvSpPr/>
          <p:nvPr/>
        </p:nvSpPr>
        <p:spPr>
          <a:xfrm>
            <a:off x="384048" y="2066544"/>
            <a:ext cx="5577840" cy="384048"/>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1.  Anchor at distance d costs at least 2d energy (round-trip minimum).</a:t>
            </a:r>
            <a:endParaRPr lang="en-US" sz="1250" dirty="0"/>
          </a:p>
        </p:txBody>
      </p:sp>
      <p:sp>
        <p:nvSpPr>
          <p:cNvPr id="12" name="Text 10"/>
          <p:cNvSpPr/>
          <p:nvPr/>
        </p:nvSpPr>
        <p:spPr>
          <a:xfrm>
            <a:off x="384048" y="2523744"/>
            <a:ext cx="5577840" cy="384048"/>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2.  Remaining budget for chain extensions  =  E − 2d   (linear in d).</a:t>
            </a:r>
            <a:endParaRPr lang="en-US" sz="1250" dirty="0"/>
          </a:p>
        </p:txBody>
      </p:sp>
      <p:sp>
        <p:nvSpPr>
          <p:cNvPr id="13" name="Text 11"/>
          <p:cNvSpPr/>
          <p:nvPr/>
        </p:nvSpPr>
        <p:spPr>
          <a:xfrm>
            <a:off x="384048" y="2980944"/>
            <a:ext cx="5577840" cy="384048"/>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3.  Every extra unit of d shrinks the extension budget by 2 units.</a:t>
            </a:r>
            <a:endParaRPr lang="en-US" sz="1250" dirty="0"/>
          </a:p>
        </p:txBody>
      </p:sp>
      <p:sp>
        <p:nvSpPr>
          <p:cNvPr id="14" name="Text 12"/>
          <p:cNvSpPr/>
          <p:nvPr/>
        </p:nvSpPr>
        <p:spPr>
          <a:xfrm>
            <a:off x="384048" y="3438144"/>
            <a:ext cx="5577840" cy="384048"/>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4.  Effective cost of distance is superlinear, not linear.</a:t>
            </a:r>
            <a:endParaRPr lang="en-US" sz="1250" dirty="0"/>
          </a:p>
        </p:txBody>
      </p:sp>
      <p:sp>
        <p:nvSpPr>
          <p:cNvPr id="15" name="Text 13"/>
          <p:cNvSpPr/>
          <p:nvPr/>
        </p:nvSpPr>
        <p:spPr>
          <a:xfrm>
            <a:off x="384048" y="3895344"/>
            <a:ext cx="5577840" cy="384048"/>
          </a:xfrm>
          <a:prstGeom prst="rect">
            <a:avLst/>
          </a:prstGeom>
          <a:noFill/>
          <a:ln/>
        </p:spPr>
        <p:txBody>
          <a:bodyPr wrap="square" lIns="0" tIns="0" rIns="0" bIns="0" rtlCol="0" anchor="ctr"/>
          <a:lstStyle/>
          <a:p>
            <a:pPr algn="l" indent="0" marL="0">
              <a:buNone/>
            </a:pPr>
            <a:r>
              <a:rPr lang="en-US" sz="1250" b="1" dirty="0">
                <a:solidFill>
                  <a:srgbClr val="F0A030"/>
                </a:solidFill>
                <a:latin typeface="Calibri" pitchFamily="34" charset="0"/>
                <a:ea typeface="Calibri" pitchFamily="34" charset="-122"/>
                <a:cs typeface="Calibri" pitchFamily="34" charset="-120"/>
              </a:rPr>
              <a:t>5.  Therefore the bid should penalize d more than linearly — p/d² is the natural approximation.</a:t>
            </a:r>
            <a:endParaRPr lang="en-US" sz="1250" dirty="0"/>
          </a:p>
        </p:txBody>
      </p:sp>
      <p:pic>
        <p:nvPicPr>
          <p:cNvPr id="16" name="Image 0" descr="C:\Users\fooja\Documents\GitHub\Multi-Robot-Algo\.claude\worktrees\flamboyant-rosalind-2467e7\thesis\figures\fig_bid_variants.png">    </p:cNvPr>
          <p:cNvPicPr>
            <a:picLocks noChangeAspect="1"/>
          </p:cNvPicPr>
          <p:nvPr/>
        </p:nvPicPr>
        <p:blipFill>
          <a:blip r:embed="rId1"/>
          <a:stretch>
            <a:fillRect/>
          </a:stretch>
        </p:blipFill>
        <p:spPr>
          <a:xfrm>
            <a:off x="6144768" y="914400"/>
            <a:ext cx="2633472" cy="4041648"/>
          </a:xfrm>
          <a:prstGeom prst="rect">
            <a:avLst/>
          </a:prstGeom>
        </p:spPr>
      </p:pic>
      <p:sp>
        <p:nvSpPr>
          <p:cNvPr id="17" name="Text 14"/>
          <p:cNvSpPr/>
          <p:nvPr/>
        </p:nvSpPr>
        <p:spPr>
          <a:xfrm>
            <a:off x="6144768" y="4992624"/>
            <a:ext cx="2633472" cy="237744"/>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FCR distributions:</a:t>
            </a:r>
            <a:endParaRPr lang="en-US" sz="950" dirty="0"/>
          </a:p>
          <a:p>
            <a:pPr algn="ctr" indent="0" marL="0">
              <a:buNone/>
            </a:pPr>
            <a:r>
              <a:rPr lang="en-US" sz="950" i="1" dirty="0">
                <a:solidFill>
                  <a:srgbClr val="4E6E88"/>
                </a:solidFill>
                <a:latin typeface="Calibri" pitchFamily="34" charset="0"/>
                <a:ea typeface="Calibri" pitchFamily="34" charset="-122"/>
                <a:cs typeface="Calibri" pitchFamily="34" charset="-120"/>
              </a:rPr>
              <a:t>p/d vs p/d² vs uniform</a:t>
            </a:r>
            <a:endParaRPr lang="en-US" sz="950" dirty="0"/>
          </a:p>
        </p:txBody>
      </p:sp>
      <p:sp>
        <p:nvSpPr>
          <p:cNvPr id="18" name="Text 15"/>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ALGORITHM WALKTHROUGH</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700" b="1" dirty="0">
                <a:solidFill>
                  <a:srgbClr val="EEF2F6"/>
                </a:solidFill>
                <a:latin typeface="Calibri" pitchFamily="34" charset="0"/>
                <a:ea typeface="Calibri" pitchFamily="34" charset="-122"/>
                <a:cs typeface="Calibri" pitchFamily="34" charset="-120"/>
              </a:rPr>
              <a:t>One Complete Iteration of M4*</a:t>
            </a:r>
            <a:endParaRPr lang="en-US" sz="27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pic>
        <p:nvPicPr>
          <p:cNvPr id="5" name="Image 0" descr="C:\Users\fooja\Documents\GitHub\Multi-Robot-Algo\.claude\worktrees\flamboyant-rosalind-2467e7\thesis\figures\fig_m4star_walkthrough.png">    </p:cNvPr>
          <p:cNvPicPr>
            <a:picLocks noChangeAspect="1"/>
          </p:cNvPicPr>
          <p:nvPr/>
        </p:nvPicPr>
        <p:blipFill>
          <a:blip r:embed="rId1"/>
          <a:stretch>
            <a:fillRect/>
          </a:stretch>
        </p:blipFill>
        <p:spPr>
          <a:xfrm>
            <a:off x="292608" y="914400"/>
            <a:ext cx="8558784" cy="3749040"/>
          </a:xfrm>
          <a:prstGeom prst="rect">
            <a:avLst/>
          </a:prstGeom>
        </p:spPr>
      </p:pic>
      <p:sp>
        <p:nvSpPr>
          <p:cNvPr id="6" name="Text 3"/>
          <p:cNvSpPr/>
          <p:nvPr/>
        </p:nvSpPr>
        <p:spPr>
          <a:xfrm>
            <a:off x="292608" y="4700016"/>
            <a:ext cx="8558784" cy="237744"/>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A: Prior probabilities (circle size = pᵢ).   B: Auction assigns anchor sites to 3 robots.   C: p/d² chain extends each sortie.   D: Bayesian update after round completion.</a:t>
            </a:r>
            <a:endParaRPr lang="en-US" sz="950" dirty="0"/>
          </a:p>
        </p:txBody>
      </p:sp>
      <p:sp>
        <p:nvSpPr>
          <p:cNvPr id="7" name="Text 4"/>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E32"/>
        </a:solidFill>
      </p:bgPr>
    </p:bg>
    <p:spTree>
      <p:nvGrpSpPr>
        <p:cNvPr id="1" name=""/>
        <p:cNvGrpSpPr/>
        <p:nvPr/>
      </p:nvGrpSpPr>
      <p:grpSpPr>
        <a:xfrm>
          <a:off x="0" y="0"/>
          <a:ext cx="0" cy="0"/>
          <a:chOff x="0" y="0"/>
          <a:chExt cx="0" cy="0"/>
        </a:xfrm>
      </p:grpSpPr>
      <p:sp>
        <p:nvSpPr>
          <p:cNvPr id="2" name="Shape 0"/>
          <p:cNvSpPr/>
          <p:nvPr/>
        </p:nvSpPr>
        <p:spPr>
          <a:xfrm>
            <a:off x="0" y="0"/>
            <a:ext cx="91440" cy="5148072"/>
          </a:xfrm>
          <a:prstGeom prst="rect">
            <a:avLst/>
          </a:prstGeom>
          <a:solidFill>
            <a:srgbClr val="F0A030"/>
          </a:solidFill>
          <a:ln w="12700">
            <a:solidFill>
              <a:srgbClr val="F0A030"/>
            </a:solidFill>
            <a:prstDash val="solid"/>
          </a:ln>
        </p:spPr>
      </p:sp>
      <p:sp>
        <p:nvSpPr>
          <p:cNvPr id="3" name="Text 1"/>
          <p:cNvSpPr/>
          <p:nvPr/>
        </p:nvSpPr>
        <p:spPr>
          <a:xfrm>
            <a:off x="5029200" y="457200"/>
            <a:ext cx="3657600" cy="4206240"/>
          </a:xfrm>
          <a:prstGeom prst="rect">
            <a:avLst/>
          </a:prstGeom>
          <a:noFill/>
          <a:ln/>
        </p:spPr>
        <p:txBody>
          <a:bodyPr wrap="square" lIns="0" tIns="0" rIns="0" bIns="0" rtlCol="0" anchor="ctr"/>
          <a:lstStyle/>
          <a:p>
            <a:pPr algn="r" indent="0" marL="0">
              <a:buNone/>
            </a:pPr>
            <a:r>
              <a:rPr lang="en-US" sz="14000" b="1" dirty="0">
                <a:solidFill>
                  <a:srgbClr val="1A2E42"/>
                </a:solidFill>
                <a:latin typeface="Calibri" pitchFamily="34" charset="0"/>
                <a:ea typeface="Calibri" pitchFamily="34" charset="-122"/>
                <a:cs typeface="Calibri" pitchFamily="34" charset="-120"/>
              </a:rPr>
              <a:t>III</a:t>
            </a:r>
            <a:endParaRPr lang="en-US" sz="14000" dirty="0"/>
          </a:p>
        </p:txBody>
      </p:sp>
      <p:sp>
        <p:nvSpPr>
          <p:cNvPr id="4" name="Text 2"/>
          <p:cNvSpPr/>
          <p:nvPr/>
        </p:nvSpPr>
        <p:spPr>
          <a:xfrm>
            <a:off x="365760" y="1280160"/>
            <a:ext cx="1645920" cy="1280160"/>
          </a:xfrm>
          <a:prstGeom prst="rect">
            <a:avLst/>
          </a:prstGeom>
          <a:noFill/>
          <a:ln/>
        </p:spPr>
        <p:txBody>
          <a:bodyPr wrap="square" lIns="0" tIns="0" rIns="0" bIns="0" rtlCol="0" anchor="ctr"/>
          <a:lstStyle/>
          <a:p>
            <a:pPr algn="l" indent="0" marL="0">
              <a:buNone/>
            </a:pPr>
            <a:r>
              <a:rPr lang="en-US" sz="7200" b="1" dirty="0">
                <a:solidFill>
                  <a:srgbClr val="1A3050"/>
                </a:solidFill>
                <a:latin typeface="Calibri" pitchFamily="34" charset="0"/>
                <a:ea typeface="Calibri" pitchFamily="34" charset="-122"/>
                <a:cs typeface="Calibri" pitchFamily="34" charset="-120"/>
              </a:rPr>
              <a:t>III</a:t>
            </a:r>
            <a:endParaRPr lang="en-US" sz="7200" dirty="0"/>
          </a:p>
        </p:txBody>
      </p:sp>
      <p:sp>
        <p:nvSpPr>
          <p:cNvPr id="5" name="Text 3"/>
          <p:cNvSpPr/>
          <p:nvPr/>
        </p:nvSpPr>
        <p:spPr>
          <a:xfrm>
            <a:off x="365760" y="2743200"/>
            <a:ext cx="8046720" cy="658368"/>
          </a:xfrm>
          <a:prstGeom prst="rect">
            <a:avLst/>
          </a:prstGeom>
          <a:noFill/>
          <a:ln/>
        </p:spPr>
        <p:txBody>
          <a:bodyPr wrap="square" lIns="0" tIns="0" rIns="0" bIns="0" rtlCol="0" anchor="ctr"/>
          <a:lstStyle/>
          <a:p>
            <a:pPr algn="l" indent="0" marL="0">
              <a:buNone/>
            </a:pPr>
            <a:r>
              <a:rPr lang="en-US" sz="3400" b="1" dirty="0">
                <a:solidFill>
                  <a:srgbClr val="EEF2F6"/>
                </a:solidFill>
                <a:latin typeface="Calibri" pitchFamily="34" charset="0"/>
                <a:ea typeface="Calibri" pitchFamily="34" charset="-122"/>
                <a:cs typeface="Calibri" pitchFamily="34" charset="-120"/>
              </a:rPr>
              <a:t>The Results</a:t>
            </a:r>
            <a:endParaRPr lang="en-US" sz="3400" dirty="0"/>
          </a:p>
        </p:txBody>
      </p:sp>
      <p:sp>
        <p:nvSpPr>
          <p:cNvPr id="6" name="Text 4"/>
          <p:cNvSpPr/>
          <p:nvPr/>
        </p:nvSpPr>
        <p:spPr>
          <a:xfrm>
            <a:off x="365760" y="3456432"/>
            <a:ext cx="8046720" cy="365760"/>
          </a:xfrm>
          <a:prstGeom prst="rect">
            <a:avLst/>
          </a:prstGeom>
          <a:noFill/>
          <a:ln/>
        </p:spPr>
        <p:txBody>
          <a:bodyPr wrap="square" lIns="0" tIns="0" rIns="0" bIns="0" rtlCol="0" anchor="ctr"/>
          <a:lstStyle/>
          <a:p>
            <a:pPr algn="l" indent="0" marL="0">
              <a:buNone/>
            </a:pPr>
            <a:r>
              <a:rPr lang="en-US" sz="1400" i="1" dirty="0">
                <a:solidFill>
                  <a:srgbClr val="4E6E88"/>
                </a:solidFill>
                <a:latin typeface="Calibri" pitchFamily="34" charset="0"/>
                <a:ea typeface="Calibri" pitchFamily="34" charset="-122"/>
                <a:cs typeface="Calibri" pitchFamily="34" charset="-120"/>
              </a:rPr>
              <a:t>Five experiments, 5,000 trials each — what the numbers actually say.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MAIN RESULTS</a:t>
            </a:r>
            <a:endParaRPr lang="en-US" sz="800" dirty="0"/>
          </a:p>
        </p:txBody>
      </p:sp>
      <p:sp>
        <p:nvSpPr>
          <p:cNvPr id="3" name="Text 1"/>
          <p:cNvSpPr/>
          <p:nvPr/>
        </p:nvSpPr>
        <p:spPr>
          <a:xfrm>
            <a:off x="384048" y="274320"/>
            <a:ext cx="8375904" cy="548640"/>
          </a:xfrm>
          <a:prstGeom prst="rect">
            <a:avLst/>
          </a:prstGeom>
          <a:noFill/>
          <a:ln/>
        </p:spPr>
        <p:txBody>
          <a:bodyPr wrap="square" lIns="0" tIns="0" rIns="0" bIns="0" rtlCol="0" anchor="ctr"/>
          <a:lstStyle/>
          <a:p>
            <a:pPr algn="l" indent="0" marL="0">
              <a:buNone/>
            </a:pPr>
            <a:r>
              <a:rPr lang="en-US" sz="2400" b="1" dirty="0">
                <a:solidFill>
                  <a:srgbClr val="EEF2F6"/>
                </a:solidFill>
                <a:latin typeface="Calibri" pitchFamily="34" charset="0"/>
                <a:ea typeface="Calibri" pitchFamily="34" charset="-122"/>
                <a:cs typeface="Calibri" pitchFamily="34" charset="-120"/>
              </a:rPr>
              <a:t>5,000 Paired Monte Carlo Trials — Headline Numbers</a:t>
            </a:r>
            <a:endParaRPr lang="en-US" sz="2400" dirty="0"/>
          </a:p>
        </p:txBody>
      </p:sp>
      <p:sp>
        <p:nvSpPr>
          <p:cNvPr id="4" name="Shape 2"/>
          <p:cNvSpPr/>
          <p:nvPr/>
        </p:nvSpPr>
        <p:spPr>
          <a:xfrm>
            <a:off x="384048" y="859536"/>
            <a:ext cx="8375904" cy="20117"/>
          </a:xfrm>
          <a:prstGeom prst="rect">
            <a:avLst/>
          </a:prstGeom>
          <a:solidFill>
            <a:srgbClr val="F0A030"/>
          </a:solidFill>
          <a:ln w="12700">
            <a:solidFill>
              <a:srgbClr val="F0A030"/>
            </a:solidFill>
            <a:prstDash val="solid"/>
          </a:ln>
        </p:spPr>
      </p:sp>
      <p:pic>
        <p:nvPicPr>
          <p:cNvPr id="5" name="Image 0" descr="C:\Users\fooja\Documents\GitHub\Multi-Robot-Algo\.claude\worktrees\flamboyant-rosalind-2467e7\thesis\figures\fig_main_comparison.png">    </p:cNvPr>
          <p:cNvPicPr>
            <a:picLocks noChangeAspect="1"/>
          </p:cNvPicPr>
          <p:nvPr/>
        </p:nvPicPr>
        <p:blipFill>
          <a:blip r:embed="rId1"/>
          <a:stretch>
            <a:fillRect/>
          </a:stretch>
        </p:blipFill>
        <p:spPr>
          <a:xfrm>
            <a:off x="292608" y="914400"/>
            <a:ext cx="4754880" cy="3977640"/>
          </a:xfrm>
          <a:prstGeom prst="rect">
            <a:avLst/>
          </a:prstGeom>
        </p:spPr>
      </p:pic>
      <p:sp>
        <p:nvSpPr>
          <p:cNvPr id="6" name="Text 3"/>
          <p:cNvSpPr/>
          <p:nvPr/>
        </p:nvSpPr>
        <p:spPr>
          <a:xfrm>
            <a:off x="292608" y="4919472"/>
            <a:ext cx="4754880" cy="237744"/>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Mean FCR per model. n=30, R=3, E=14, L=10. 95% confidence intervals shown.</a:t>
            </a:r>
            <a:endParaRPr lang="en-US" sz="950" dirty="0"/>
          </a:p>
        </p:txBody>
      </p:sp>
      <p:sp>
        <p:nvSpPr>
          <p:cNvPr id="7" name="Text 4"/>
          <p:cNvSpPr/>
          <p:nvPr/>
        </p:nvSpPr>
        <p:spPr>
          <a:xfrm>
            <a:off x="5193792" y="969264"/>
            <a:ext cx="3017520" cy="438912"/>
          </a:xfrm>
          <a:prstGeom prst="rect">
            <a:avLst/>
          </a:prstGeom>
          <a:noFill/>
          <a:ln/>
        </p:spPr>
        <p:txBody>
          <a:bodyPr wrap="square" lIns="0" tIns="0" rIns="0" bIns="0" rtlCol="0" anchor="ctr"/>
          <a:lstStyle/>
          <a:p>
            <a:pPr algn="l" indent="0" marL="0">
              <a:buNone/>
            </a:pPr>
            <a:r>
              <a:rPr lang="en-US" sz="1150" dirty="0">
                <a:solidFill>
                  <a:srgbClr val="4E6E88"/>
                </a:solidFill>
                <a:latin typeface="Calibri" pitchFamily="34" charset="0"/>
                <a:ea typeface="Calibri" pitchFamily="34" charset="-122"/>
                <a:cs typeface="Calibri" pitchFamily="34" charset="-120"/>
              </a:rPr>
              <a:t>M1  Random</a:t>
            </a:r>
            <a:endParaRPr lang="en-US" sz="1150" dirty="0"/>
          </a:p>
        </p:txBody>
      </p:sp>
      <p:sp>
        <p:nvSpPr>
          <p:cNvPr id="8" name="Text 5"/>
          <p:cNvSpPr/>
          <p:nvPr/>
        </p:nvSpPr>
        <p:spPr>
          <a:xfrm>
            <a:off x="8229600" y="969264"/>
            <a:ext cx="621792" cy="438912"/>
          </a:xfrm>
          <a:prstGeom prst="rect">
            <a:avLst/>
          </a:prstGeom>
          <a:noFill/>
          <a:ln/>
        </p:spPr>
        <p:txBody>
          <a:bodyPr wrap="square" lIns="0" tIns="0" rIns="0" bIns="0" rtlCol="0" anchor="ctr"/>
          <a:lstStyle/>
          <a:p>
            <a:pPr algn="r" indent="0" marL="0">
              <a:buNone/>
            </a:pPr>
            <a:r>
              <a:rPr lang="en-US" sz="1400" b="1" dirty="0">
                <a:solidFill>
                  <a:srgbClr val="4E6E88"/>
                </a:solidFill>
                <a:latin typeface="Calibri" pitchFamily="34" charset="0"/>
                <a:ea typeface="Calibri" pitchFamily="34" charset="-122"/>
                <a:cs typeface="Calibri" pitchFamily="34" charset="-120"/>
              </a:rPr>
              <a:t>18.74</a:t>
            </a:r>
            <a:endParaRPr lang="en-US" sz="1400" dirty="0"/>
          </a:p>
        </p:txBody>
      </p:sp>
      <p:sp>
        <p:nvSpPr>
          <p:cNvPr id="9" name="Text 6"/>
          <p:cNvSpPr/>
          <p:nvPr/>
        </p:nvSpPr>
        <p:spPr>
          <a:xfrm>
            <a:off x="5193792" y="1536192"/>
            <a:ext cx="3017520" cy="438912"/>
          </a:xfrm>
          <a:prstGeom prst="rect">
            <a:avLst/>
          </a:prstGeom>
          <a:noFill/>
          <a:ln/>
        </p:spPr>
        <p:txBody>
          <a:bodyPr wrap="square" lIns="0" tIns="0" rIns="0" bIns="0" rtlCol="0" anchor="ctr"/>
          <a:lstStyle/>
          <a:p>
            <a:pPr algn="l" indent="0" marL="0">
              <a:buNone/>
            </a:pPr>
            <a:r>
              <a:rPr lang="en-US" sz="1150" dirty="0">
                <a:solidFill>
                  <a:srgbClr val="38B2CC"/>
                </a:solidFill>
                <a:latin typeface="Calibri" pitchFamily="34" charset="0"/>
                <a:ea typeface="Calibri" pitchFamily="34" charset="-122"/>
                <a:cs typeface="Calibri" pitchFamily="34" charset="-120"/>
              </a:rPr>
              <a:t>M2  Auction (no battery)</a:t>
            </a:r>
            <a:endParaRPr lang="en-US" sz="1150" dirty="0"/>
          </a:p>
        </p:txBody>
      </p:sp>
      <p:sp>
        <p:nvSpPr>
          <p:cNvPr id="10" name="Text 7"/>
          <p:cNvSpPr/>
          <p:nvPr/>
        </p:nvSpPr>
        <p:spPr>
          <a:xfrm>
            <a:off x="8229600" y="1536192"/>
            <a:ext cx="621792" cy="438912"/>
          </a:xfrm>
          <a:prstGeom prst="rect">
            <a:avLst/>
          </a:prstGeom>
          <a:noFill/>
          <a:ln/>
        </p:spPr>
        <p:txBody>
          <a:bodyPr wrap="square" lIns="0" tIns="0" rIns="0" bIns="0" rtlCol="0" anchor="ctr"/>
          <a:lstStyle/>
          <a:p>
            <a:pPr algn="r" indent="0" marL="0">
              <a:buNone/>
            </a:pPr>
            <a:r>
              <a:rPr lang="en-US" sz="1400" b="1" dirty="0">
                <a:solidFill>
                  <a:srgbClr val="38B2CC"/>
                </a:solidFill>
                <a:latin typeface="Calibri" pitchFamily="34" charset="0"/>
                <a:ea typeface="Calibri" pitchFamily="34" charset="-122"/>
                <a:cs typeface="Calibri" pitchFamily="34" charset="-120"/>
              </a:rPr>
              <a:t>2.83</a:t>
            </a:r>
            <a:endParaRPr lang="en-US" sz="1400" dirty="0"/>
          </a:p>
        </p:txBody>
      </p:sp>
      <p:sp>
        <p:nvSpPr>
          <p:cNvPr id="11" name="Text 8"/>
          <p:cNvSpPr/>
          <p:nvPr/>
        </p:nvSpPr>
        <p:spPr>
          <a:xfrm>
            <a:off x="5193792" y="2103120"/>
            <a:ext cx="3017520" cy="438912"/>
          </a:xfrm>
          <a:prstGeom prst="rect">
            <a:avLst/>
          </a:prstGeom>
          <a:noFill/>
          <a:ln/>
        </p:spPr>
        <p:txBody>
          <a:bodyPr wrap="square" lIns="0" tIns="0" rIns="0" bIns="0" rtlCol="0" anchor="ctr"/>
          <a:lstStyle/>
          <a:p>
            <a:pPr algn="l" indent="0" marL="0">
              <a:buNone/>
            </a:pPr>
            <a:r>
              <a:rPr lang="en-US" sz="1150" dirty="0">
                <a:solidFill>
                  <a:srgbClr val="4E6E88"/>
                </a:solidFill>
                <a:latin typeface="Calibri" pitchFamily="34" charset="0"/>
                <a:ea typeface="Calibri" pitchFamily="34" charset="-122"/>
                <a:cs typeface="Calibri" pitchFamily="34" charset="-120"/>
              </a:rPr>
              <a:t>H_d  Hungarian (distance)</a:t>
            </a:r>
            <a:endParaRPr lang="en-US" sz="1150" dirty="0"/>
          </a:p>
        </p:txBody>
      </p:sp>
      <p:sp>
        <p:nvSpPr>
          <p:cNvPr id="12" name="Text 9"/>
          <p:cNvSpPr/>
          <p:nvPr/>
        </p:nvSpPr>
        <p:spPr>
          <a:xfrm>
            <a:off x="8229600" y="2103120"/>
            <a:ext cx="621792" cy="438912"/>
          </a:xfrm>
          <a:prstGeom prst="rect">
            <a:avLst/>
          </a:prstGeom>
          <a:noFill/>
          <a:ln/>
        </p:spPr>
        <p:txBody>
          <a:bodyPr wrap="square" lIns="0" tIns="0" rIns="0" bIns="0" rtlCol="0" anchor="ctr"/>
          <a:lstStyle/>
          <a:p>
            <a:pPr algn="r" indent="0" marL="0">
              <a:buNone/>
            </a:pPr>
            <a:r>
              <a:rPr lang="en-US" sz="1400" b="1" dirty="0">
                <a:solidFill>
                  <a:srgbClr val="4E6E88"/>
                </a:solidFill>
                <a:latin typeface="Calibri" pitchFamily="34" charset="0"/>
                <a:ea typeface="Calibri" pitchFamily="34" charset="-122"/>
                <a:cs typeface="Calibri" pitchFamily="34" charset="-120"/>
              </a:rPr>
              <a:t>6.88</a:t>
            </a:r>
            <a:endParaRPr lang="en-US" sz="1400" dirty="0"/>
          </a:p>
        </p:txBody>
      </p:sp>
      <p:sp>
        <p:nvSpPr>
          <p:cNvPr id="13" name="Text 10"/>
          <p:cNvSpPr/>
          <p:nvPr/>
        </p:nvSpPr>
        <p:spPr>
          <a:xfrm>
            <a:off x="5193792" y="2670048"/>
            <a:ext cx="3017520" cy="438912"/>
          </a:xfrm>
          <a:prstGeom prst="rect">
            <a:avLst/>
          </a:prstGeom>
          <a:noFill/>
          <a:ln/>
        </p:spPr>
        <p:txBody>
          <a:bodyPr wrap="square" lIns="0" tIns="0" rIns="0" bIns="0" rtlCol="0" anchor="ctr"/>
          <a:lstStyle/>
          <a:p>
            <a:pPr algn="l" indent="0" marL="0">
              <a:buNone/>
            </a:pPr>
            <a:r>
              <a:rPr lang="en-US" sz="1150" dirty="0">
                <a:solidFill>
                  <a:srgbClr val="EEF2F6"/>
                </a:solidFill>
                <a:latin typeface="Calibri" pitchFamily="34" charset="0"/>
                <a:ea typeface="Calibri" pitchFamily="34" charset="-122"/>
                <a:cs typeface="Calibri" pitchFamily="34" charset="-120"/>
              </a:rPr>
              <a:t>M3  Single-site sortie</a:t>
            </a:r>
            <a:endParaRPr lang="en-US" sz="1150" dirty="0"/>
          </a:p>
        </p:txBody>
      </p:sp>
      <p:sp>
        <p:nvSpPr>
          <p:cNvPr id="14" name="Text 11"/>
          <p:cNvSpPr/>
          <p:nvPr/>
        </p:nvSpPr>
        <p:spPr>
          <a:xfrm>
            <a:off x="8229600" y="2670048"/>
            <a:ext cx="621792" cy="438912"/>
          </a:xfrm>
          <a:prstGeom prst="rect">
            <a:avLst/>
          </a:prstGeom>
          <a:noFill/>
          <a:ln/>
        </p:spPr>
        <p:txBody>
          <a:bodyPr wrap="square" lIns="0" tIns="0" rIns="0" bIns="0" rtlCol="0" anchor="ctr"/>
          <a:lstStyle/>
          <a:p>
            <a:pPr algn="r" indent="0" marL="0">
              <a:buNone/>
            </a:pPr>
            <a:r>
              <a:rPr lang="en-US" sz="1400" b="1" dirty="0">
                <a:solidFill>
                  <a:srgbClr val="EEF2F6"/>
                </a:solidFill>
                <a:latin typeface="Calibri" pitchFamily="34" charset="0"/>
                <a:ea typeface="Calibri" pitchFamily="34" charset="-122"/>
                <a:cs typeface="Calibri" pitchFamily="34" charset="-120"/>
              </a:rPr>
              <a:t>6.32</a:t>
            </a:r>
            <a:endParaRPr lang="en-US" sz="1400" dirty="0"/>
          </a:p>
        </p:txBody>
      </p:sp>
      <p:sp>
        <p:nvSpPr>
          <p:cNvPr id="15" name="Text 12"/>
          <p:cNvSpPr/>
          <p:nvPr/>
        </p:nvSpPr>
        <p:spPr>
          <a:xfrm>
            <a:off x="5193792" y="3236976"/>
            <a:ext cx="3017520" cy="438912"/>
          </a:xfrm>
          <a:prstGeom prst="rect">
            <a:avLst/>
          </a:prstGeom>
          <a:noFill/>
          <a:ln/>
        </p:spPr>
        <p:txBody>
          <a:bodyPr wrap="square" lIns="0" tIns="0" rIns="0" bIns="0" rtlCol="0" anchor="ctr"/>
          <a:lstStyle/>
          <a:p>
            <a:pPr algn="l" indent="0" marL="0">
              <a:buNone/>
            </a:pPr>
            <a:r>
              <a:rPr lang="en-US" sz="1150" dirty="0">
                <a:solidFill>
                  <a:srgbClr val="EEF2F6"/>
                </a:solidFill>
                <a:latin typeface="Calibri" pitchFamily="34" charset="0"/>
                <a:ea typeface="Calibri" pitchFamily="34" charset="-122"/>
                <a:cs typeface="Calibri" pitchFamily="34" charset="-120"/>
              </a:rPr>
              <a:t>M4  Multi-sortie (p/d)</a:t>
            </a:r>
            <a:endParaRPr lang="en-US" sz="1150" dirty="0"/>
          </a:p>
        </p:txBody>
      </p:sp>
      <p:sp>
        <p:nvSpPr>
          <p:cNvPr id="16" name="Text 13"/>
          <p:cNvSpPr/>
          <p:nvPr/>
        </p:nvSpPr>
        <p:spPr>
          <a:xfrm>
            <a:off x="8229600" y="3236976"/>
            <a:ext cx="621792" cy="438912"/>
          </a:xfrm>
          <a:prstGeom prst="rect">
            <a:avLst/>
          </a:prstGeom>
          <a:noFill/>
          <a:ln/>
        </p:spPr>
        <p:txBody>
          <a:bodyPr wrap="square" lIns="0" tIns="0" rIns="0" bIns="0" rtlCol="0" anchor="ctr"/>
          <a:lstStyle/>
          <a:p>
            <a:pPr algn="r" indent="0" marL="0">
              <a:buNone/>
            </a:pPr>
            <a:r>
              <a:rPr lang="en-US" sz="1400" b="1" dirty="0">
                <a:solidFill>
                  <a:srgbClr val="EEF2F6"/>
                </a:solidFill>
                <a:latin typeface="Calibri" pitchFamily="34" charset="0"/>
                <a:ea typeface="Calibri" pitchFamily="34" charset="-122"/>
                <a:cs typeface="Calibri" pitchFamily="34" charset="-120"/>
              </a:rPr>
              <a:t>3.16</a:t>
            </a:r>
            <a:endParaRPr lang="en-US" sz="1400" dirty="0"/>
          </a:p>
        </p:txBody>
      </p:sp>
      <p:sp>
        <p:nvSpPr>
          <p:cNvPr id="17" name="Text 14"/>
          <p:cNvSpPr/>
          <p:nvPr/>
        </p:nvSpPr>
        <p:spPr>
          <a:xfrm>
            <a:off x="5193792" y="3803904"/>
            <a:ext cx="3017520" cy="438912"/>
          </a:xfrm>
          <a:prstGeom prst="rect">
            <a:avLst/>
          </a:prstGeom>
          <a:noFill/>
          <a:ln/>
        </p:spPr>
        <p:txBody>
          <a:bodyPr wrap="square" lIns="0" tIns="0" rIns="0" bIns="0" rtlCol="0" anchor="ctr"/>
          <a:lstStyle/>
          <a:p>
            <a:pPr algn="l" indent="0" marL="0">
              <a:buNone/>
            </a:pPr>
            <a:r>
              <a:rPr lang="en-US" sz="1150" b="1" dirty="0">
                <a:solidFill>
                  <a:srgbClr val="F0A030"/>
                </a:solidFill>
                <a:latin typeface="Calibri" pitchFamily="34" charset="0"/>
                <a:ea typeface="Calibri" pitchFamily="34" charset="-122"/>
                <a:cs typeface="Calibri" pitchFamily="34" charset="-120"/>
              </a:rPr>
              <a:t>M4*  Multi-sortie (p/d²)</a:t>
            </a:r>
            <a:endParaRPr lang="en-US" sz="1150" dirty="0"/>
          </a:p>
        </p:txBody>
      </p:sp>
      <p:sp>
        <p:nvSpPr>
          <p:cNvPr id="18" name="Text 15"/>
          <p:cNvSpPr/>
          <p:nvPr/>
        </p:nvSpPr>
        <p:spPr>
          <a:xfrm>
            <a:off x="8229600" y="3803904"/>
            <a:ext cx="621792" cy="438912"/>
          </a:xfrm>
          <a:prstGeom prst="rect">
            <a:avLst/>
          </a:prstGeom>
          <a:noFill/>
          <a:ln/>
        </p:spPr>
        <p:txBody>
          <a:bodyPr wrap="square" lIns="0" tIns="0" rIns="0" bIns="0" rtlCol="0" anchor="ctr"/>
          <a:lstStyle/>
          <a:p>
            <a:pPr algn="r" indent="0" marL="0">
              <a:buNone/>
            </a:pPr>
            <a:r>
              <a:rPr lang="en-US" sz="1400" b="1" dirty="0">
                <a:solidFill>
                  <a:srgbClr val="F0A030"/>
                </a:solidFill>
                <a:latin typeface="Calibri" pitchFamily="34" charset="0"/>
                <a:ea typeface="Calibri" pitchFamily="34" charset="-122"/>
                <a:cs typeface="Calibri" pitchFamily="34" charset="-120"/>
              </a:rPr>
              <a:t>3.11</a:t>
            </a:r>
            <a:endParaRPr lang="en-US" sz="1400" dirty="0"/>
          </a:p>
        </p:txBody>
      </p:sp>
      <p:sp>
        <p:nvSpPr>
          <p:cNvPr id="19" name="Shape 16"/>
          <p:cNvSpPr/>
          <p:nvPr/>
        </p:nvSpPr>
        <p:spPr>
          <a:xfrm>
            <a:off x="5193792" y="4462272"/>
            <a:ext cx="3657600" cy="18288"/>
          </a:xfrm>
          <a:prstGeom prst="rect">
            <a:avLst/>
          </a:prstGeom>
          <a:solidFill>
            <a:srgbClr val="1C3550"/>
          </a:solidFill>
          <a:ln w="12700">
            <a:solidFill>
              <a:srgbClr val="1C3550"/>
            </a:solidFill>
            <a:prstDash val="solid"/>
          </a:ln>
        </p:spPr>
      </p:sp>
      <p:sp>
        <p:nvSpPr>
          <p:cNvPr id="20" name="Text 17"/>
          <p:cNvSpPr/>
          <p:nvPr/>
        </p:nvSpPr>
        <p:spPr>
          <a:xfrm>
            <a:off x="5193792" y="4526280"/>
            <a:ext cx="3657600" cy="256032"/>
          </a:xfrm>
          <a:prstGeom prst="rect">
            <a:avLst/>
          </a:prstGeom>
          <a:noFill/>
          <a:ln/>
        </p:spPr>
        <p:txBody>
          <a:bodyPr wrap="square" lIns="0" tIns="0" rIns="0" bIns="0" rtlCol="0" anchor="ctr"/>
          <a:lstStyle/>
          <a:p>
            <a:pPr algn="l" indent="0" marL="0">
              <a:buNone/>
            </a:pPr>
            <a:r>
              <a:rPr lang="en-US" sz="1000" i="1" dirty="0">
                <a:solidFill>
                  <a:srgbClr val="4E6E88"/>
                </a:solidFill>
                <a:latin typeface="Calibri" pitchFamily="34" charset="0"/>
                <a:ea typeface="Calibri" pitchFamily="34" charset="-122"/>
                <a:cs typeface="Calibri" pitchFamily="34" charset="-120"/>
              </a:rPr>
              <a:t>Wilcoxon signed-rank, Bonferroni corrected, p &lt; 0.001 for H1–H4</a:t>
            </a:r>
            <a:endParaRPr lang="en-US" sz="1000" dirty="0"/>
          </a:p>
        </p:txBody>
      </p:sp>
      <p:sp>
        <p:nvSpPr>
          <p:cNvPr id="21" name="Text 18"/>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FINDING 1 — COORDINATION GAIN</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700" b="1" dirty="0">
                <a:solidFill>
                  <a:srgbClr val="EEF2F6"/>
                </a:solidFill>
                <a:latin typeface="Calibri" pitchFamily="34" charset="0"/>
                <a:ea typeface="Calibri" pitchFamily="34" charset="-122"/>
                <a:cs typeface="Calibri" pitchFamily="34" charset="-120"/>
              </a:rPr>
              <a:t>6.6× Improvement from Coordination Alone</a:t>
            </a:r>
            <a:endParaRPr lang="en-US" sz="27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pic>
        <p:nvPicPr>
          <p:cNvPr id="5" name="Image 0" descr="C:\Users\fooja\Documents\GitHub\Multi-Robot-Algo\.claude\worktrees\flamboyant-rosalind-2467e7\thesis\figures\fig_m1_vs_m4star.png">    </p:cNvPr>
          <p:cNvPicPr>
            <a:picLocks noChangeAspect="1"/>
          </p:cNvPicPr>
          <p:nvPr/>
        </p:nvPicPr>
        <p:blipFill>
          <a:blip r:embed="rId1"/>
          <a:stretch>
            <a:fillRect/>
          </a:stretch>
        </p:blipFill>
        <p:spPr>
          <a:xfrm>
            <a:off x="292608" y="914400"/>
            <a:ext cx="8558784" cy="3794760"/>
          </a:xfrm>
          <a:prstGeom prst="rect">
            <a:avLst/>
          </a:prstGeom>
        </p:spPr>
      </p:pic>
      <p:sp>
        <p:nvSpPr>
          <p:cNvPr id="6" name="Text 3"/>
          <p:cNvSpPr/>
          <p:nvPr/>
        </p:nvSpPr>
        <p:spPr>
          <a:xfrm>
            <a:off x="292608" y="4754880"/>
            <a:ext cx="8558784" cy="237744"/>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Same 30-site instance. Left: M1 uncoordinated (FCR = 53.65). Right: M4* coordinated (FCR = 3.02). Same robots. Same battery. Same target location. Different algorithm.</a:t>
            </a:r>
            <a:endParaRPr lang="en-US" sz="950" dirty="0"/>
          </a:p>
        </p:txBody>
      </p:sp>
      <p:sp>
        <p:nvSpPr>
          <p:cNvPr id="7" name="Text 4"/>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FINDING 2 — TARGET-DELAY ANOMALY</a:t>
            </a:r>
            <a:endParaRPr lang="en-US" sz="800" dirty="0"/>
          </a:p>
        </p:txBody>
      </p:sp>
      <p:sp>
        <p:nvSpPr>
          <p:cNvPr id="3" name="Text 1"/>
          <p:cNvSpPr/>
          <p:nvPr/>
        </p:nvSpPr>
        <p:spPr>
          <a:xfrm>
            <a:off x="384048" y="274320"/>
            <a:ext cx="8375904" cy="548640"/>
          </a:xfrm>
          <a:prstGeom prst="rect">
            <a:avLst/>
          </a:prstGeom>
          <a:noFill/>
          <a:ln/>
        </p:spPr>
        <p:txBody>
          <a:bodyPr wrap="square" lIns="0" tIns="0" rIns="0" bIns="0" rtlCol="0" anchor="ctr"/>
          <a:lstStyle/>
          <a:p>
            <a:pPr algn="l" indent="0" marL="0">
              <a:buNone/>
            </a:pPr>
            <a:r>
              <a:rPr lang="en-US" sz="2400" b="1" dirty="0">
                <a:solidFill>
                  <a:srgbClr val="EEF2F6"/>
                </a:solidFill>
                <a:latin typeface="Calibri" pitchFamily="34" charset="0"/>
                <a:ea typeface="Calibri" pitchFamily="34" charset="-122"/>
                <a:cs typeface="Calibri" pitchFamily="34" charset="-120"/>
              </a:rPr>
              <a:t>When Making a Tour Shorter Makes the Search Worse</a:t>
            </a:r>
            <a:endParaRPr lang="en-US" sz="2400" dirty="0"/>
          </a:p>
        </p:txBody>
      </p:sp>
      <p:sp>
        <p:nvSpPr>
          <p:cNvPr id="4" name="Shape 2"/>
          <p:cNvSpPr/>
          <p:nvPr/>
        </p:nvSpPr>
        <p:spPr>
          <a:xfrm>
            <a:off x="384048" y="859536"/>
            <a:ext cx="8375904" cy="20117"/>
          </a:xfrm>
          <a:prstGeom prst="rect">
            <a:avLst/>
          </a:prstGeom>
          <a:solidFill>
            <a:srgbClr val="F0A030"/>
          </a:solidFill>
          <a:ln w="12700">
            <a:solidFill>
              <a:srgbClr val="F0A030"/>
            </a:solidFill>
            <a:prstDash val="solid"/>
          </a:ln>
        </p:spPr>
      </p:sp>
      <p:sp>
        <p:nvSpPr>
          <p:cNvPr id="5" name="Text 3"/>
          <p:cNvSpPr/>
          <p:nvPr/>
        </p:nvSpPr>
        <p:spPr>
          <a:xfrm>
            <a:off x="384048" y="969264"/>
            <a:ext cx="4389120" cy="274320"/>
          </a:xfrm>
          <a:prstGeom prst="rect">
            <a:avLst/>
          </a:prstGeom>
          <a:noFill/>
          <a:ln/>
        </p:spPr>
        <p:txBody>
          <a:bodyPr wrap="square" lIns="0" tIns="0" rIns="0" bIns="0" rtlCol="0" anchor="ctr"/>
          <a:lstStyle/>
          <a:p>
            <a:pPr algn="l" indent="0" marL="0">
              <a:buNone/>
            </a:pPr>
            <a:r>
              <a:rPr lang="en-US" sz="1300" b="1" dirty="0">
                <a:solidFill>
                  <a:srgbClr val="38B2CC"/>
                </a:solidFill>
                <a:latin typeface="Calibri" pitchFamily="34" charset="0"/>
                <a:ea typeface="Calibri" pitchFamily="34" charset="-122"/>
                <a:cs typeface="Calibri" pitchFamily="34" charset="-120"/>
              </a:rPr>
              <a:t>Hypothesis:</a:t>
            </a:r>
            <a:endParaRPr lang="en-US" sz="1300" dirty="0"/>
          </a:p>
        </p:txBody>
      </p:sp>
      <p:sp>
        <p:nvSpPr>
          <p:cNvPr id="6" name="Text 4"/>
          <p:cNvSpPr/>
          <p:nvPr/>
        </p:nvSpPr>
        <p:spPr>
          <a:xfrm>
            <a:off x="384048" y="1280160"/>
            <a:ext cx="4389120" cy="658368"/>
          </a:xfrm>
          <a:prstGeom prst="rect">
            <a:avLst/>
          </a:prstGeom>
          <a:noFill/>
          <a:ln/>
        </p:spPr>
        <p:txBody>
          <a:bodyPr wrap="square" lIns="0" tIns="0" rIns="0" bIns="0" rtlCol="0" anchor="ctr"/>
          <a:lstStyle/>
          <a:p>
            <a:pPr algn="l" indent="0" marL="0">
              <a:lnSpc>
                <a:spcPct val="120000"/>
              </a:lnSpc>
              <a:buNone/>
            </a:pPr>
            <a:r>
              <a:rPr lang="en-US" sz="1250" dirty="0">
                <a:solidFill>
                  <a:srgbClr val="EEF2F6"/>
                </a:solidFill>
                <a:latin typeface="Calibri" pitchFamily="34" charset="0"/>
                <a:ea typeface="Calibri" pitchFamily="34" charset="-122"/>
                <a:cs typeface="Calibri" pitchFamily="34" charset="-120"/>
              </a:rPr>
              <a:t>Apply 2-opt post-processing — the standard tour-length optimizer — to M4* tours. Shorter tours should mean faster search.</a:t>
            </a:r>
            <a:endParaRPr lang="en-US" sz="1250" dirty="0"/>
          </a:p>
        </p:txBody>
      </p:sp>
      <p:sp>
        <p:nvSpPr>
          <p:cNvPr id="7" name="Text 5"/>
          <p:cNvSpPr/>
          <p:nvPr/>
        </p:nvSpPr>
        <p:spPr>
          <a:xfrm>
            <a:off x="384048" y="2066544"/>
            <a:ext cx="4389120" cy="274320"/>
          </a:xfrm>
          <a:prstGeom prst="rect">
            <a:avLst/>
          </a:prstGeom>
          <a:noFill/>
          <a:ln/>
        </p:spPr>
        <p:txBody>
          <a:bodyPr wrap="square" lIns="0" tIns="0" rIns="0" bIns="0" rtlCol="0" anchor="ctr"/>
          <a:lstStyle/>
          <a:p>
            <a:pPr algn="l" indent="0" marL="0">
              <a:buNone/>
            </a:pPr>
            <a:r>
              <a:rPr lang="en-US" sz="1300" b="1" dirty="0">
                <a:solidFill>
                  <a:srgbClr val="F0A030"/>
                </a:solidFill>
                <a:latin typeface="Calibri" pitchFamily="34" charset="0"/>
                <a:ea typeface="Calibri" pitchFamily="34" charset="-122"/>
                <a:cs typeface="Calibri" pitchFamily="34" charset="-120"/>
              </a:rPr>
              <a:t>Result (1,000 trials):</a:t>
            </a:r>
            <a:endParaRPr lang="en-US" sz="1300" dirty="0"/>
          </a:p>
        </p:txBody>
      </p:sp>
      <p:sp>
        <p:nvSpPr>
          <p:cNvPr id="8" name="Shape 6"/>
          <p:cNvSpPr/>
          <p:nvPr/>
        </p:nvSpPr>
        <p:spPr>
          <a:xfrm>
            <a:off x="384048" y="2395728"/>
            <a:ext cx="4389120" cy="585216"/>
          </a:xfrm>
          <a:prstGeom prst="rect">
            <a:avLst/>
          </a:prstGeom>
          <a:solidFill>
            <a:srgbClr val="13243A"/>
          </a:solidFill>
          <a:ln w="12700">
            <a:solidFill>
              <a:srgbClr val="13243A"/>
            </a:solidFill>
            <a:prstDash val="solid"/>
          </a:ln>
        </p:spPr>
      </p:sp>
      <p:sp>
        <p:nvSpPr>
          <p:cNvPr id="9" name="Text 7"/>
          <p:cNvSpPr/>
          <p:nvPr/>
        </p:nvSpPr>
        <p:spPr>
          <a:xfrm>
            <a:off x="530352" y="2395728"/>
            <a:ext cx="1463040" cy="585216"/>
          </a:xfrm>
          <a:prstGeom prst="rect">
            <a:avLst/>
          </a:prstGeom>
          <a:noFill/>
          <a:ln/>
        </p:spPr>
        <p:txBody>
          <a:bodyPr wrap="square" lIns="0" tIns="0" rIns="0" bIns="0" rtlCol="0" anchor="ctr"/>
          <a:lstStyle/>
          <a:p>
            <a:pPr algn="l" indent="0" marL="0">
              <a:buNone/>
            </a:pPr>
            <a:r>
              <a:rPr lang="en-US" sz="1200" b="1" dirty="0">
                <a:solidFill>
                  <a:srgbClr val="4E6E88"/>
                </a:solidFill>
                <a:latin typeface="Calibri" pitchFamily="34" charset="0"/>
                <a:ea typeface="Calibri" pitchFamily="34" charset="-122"/>
                <a:cs typeface="Calibri" pitchFamily="34" charset="-120"/>
              </a:rPr>
              <a:t>Tour length</a:t>
            </a:r>
            <a:endParaRPr lang="en-US" sz="1200" dirty="0"/>
          </a:p>
        </p:txBody>
      </p:sp>
      <p:sp>
        <p:nvSpPr>
          <p:cNvPr id="10" name="Text 8"/>
          <p:cNvSpPr/>
          <p:nvPr/>
        </p:nvSpPr>
        <p:spPr>
          <a:xfrm>
            <a:off x="2057400" y="2395728"/>
            <a:ext cx="2743200" cy="585216"/>
          </a:xfrm>
          <a:prstGeom prst="rect">
            <a:avLst/>
          </a:prstGeom>
          <a:noFill/>
          <a:ln/>
        </p:spPr>
        <p:txBody>
          <a:bodyPr wrap="square" lIns="0" tIns="0" rIns="0" bIns="0" rtlCol="0" anchor="ctr"/>
          <a:lstStyle/>
          <a:p>
            <a:pPr algn="l" indent="0" marL="0">
              <a:buNone/>
            </a:pPr>
            <a:r>
              <a:rPr lang="en-US" sz="1200" dirty="0">
                <a:solidFill>
                  <a:srgbClr val="38B2CC"/>
                </a:solidFill>
                <a:latin typeface="Calibri" pitchFamily="34" charset="0"/>
                <a:ea typeface="Calibri" pitchFamily="34" charset="-122"/>
                <a:cs typeface="Calibri" pitchFamily="34" charset="-120"/>
              </a:rPr>
              <a:t>12.567 → 12.024   (−0.543 units)</a:t>
            </a:r>
            <a:endParaRPr lang="en-US" sz="1200" dirty="0"/>
          </a:p>
        </p:txBody>
      </p:sp>
      <p:sp>
        <p:nvSpPr>
          <p:cNvPr id="11" name="Shape 9"/>
          <p:cNvSpPr/>
          <p:nvPr/>
        </p:nvSpPr>
        <p:spPr>
          <a:xfrm>
            <a:off x="384048" y="3090672"/>
            <a:ext cx="4389120" cy="585216"/>
          </a:xfrm>
          <a:prstGeom prst="rect">
            <a:avLst/>
          </a:prstGeom>
          <a:solidFill>
            <a:srgbClr val="13243A"/>
          </a:solidFill>
          <a:ln w="12700">
            <a:solidFill>
              <a:srgbClr val="13243A"/>
            </a:solidFill>
            <a:prstDash val="solid"/>
          </a:ln>
        </p:spPr>
      </p:sp>
      <p:sp>
        <p:nvSpPr>
          <p:cNvPr id="12" name="Text 10"/>
          <p:cNvSpPr/>
          <p:nvPr/>
        </p:nvSpPr>
        <p:spPr>
          <a:xfrm>
            <a:off x="530352" y="3090672"/>
            <a:ext cx="1463040" cy="585216"/>
          </a:xfrm>
          <a:prstGeom prst="rect">
            <a:avLst/>
          </a:prstGeom>
          <a:noFill/>
          <a:ln/>
        </p:spPr>
        <p:txBody>
          <a:bodyPr wrap="square" lIns="0" tIns="0" rIns="0" bIns="0" rtlCol="0" anchor="ctr"/>
          <a:lstStyle/>
          <a:p>
            <a:pPr algn="l" indent="0" marL="0">
              <a:buNone/>
            </a:pPr>
            <a:r>
              <a:rPr lang="en-US" sz="1200" b="1" dirty="0">
                <a:solidFill>
                  <a:srgbClr val="4E6E88"/>
                </a:solidFill>
                <a:latin typeface="Calibri" pitchFamily="34" charset="0"/>
                <a:ea typeface="Calibri" pitchFamily="34" charset="-122"/>
                <a:cs typeface="Calibri" pitchFamily="34" charset="-120"/>
              </a:rPr>
              <a:t>Mean FCR</a:t>
            </a:r>
            <a:endParaRPr lang="en-US" sz="1200" dirty="0"/>
          </a:p>
        </p:txBody>
      </p:sp>
      <p:sp>
        <p:nvSpPr>
          <p:cNvPr id="13" name="Text 11"/>
          <p:cNvSpPr/>
          <p:nvPr/>
        </p:nvSpPr>
        <p:spPr>
          <a:xfrm>
            <a:off x="2057400" y="3090672"/>
            <a:ext cx="2743200" cy="585216"/>
          </a:xfrm>
          <a:prstGeom prst="rect">
            <a:avLst/>
          </a:prstGeom>
          <a:noFill/>
          <a:ln/>
        </p:spPr>
        <p:txBody>
          <a:bodyPr wrap="square" lIns="0" tIns="0" rIns="0" bIns="0" rtlCol="0" anchor="ctr"/>
          <a:lstStyle/>
          <a:p>
            <a:pPr algn="l" indent="0" marL="0">
              <a:buNone/>
            </a:pPr>
            <a:r>
              <a:rPr lang="en-US" sz="1500" b="1" dirty="0">
                <a:solidFill>
                  <a:srgbClr val="F0A030"/>
                </a:solidFill>
                <a:latin typeface="Calibri" pitchFamily="34" charset="0"/>
                <a:ea typeface="Calibri" pitchFamily="34" charset="-122"/>
                <a:cs typeface="Calibri" pitchFamily="34" charset="-120"/>
              </a:rPr>
              <a:t>3.093 → 3.257       (+5.3%)</a:t>
            </a:r>
            <a:endParaRPr lang="en-US" sz="1500" dirty="0"/>
          </a:p>
        </p:txBody>
      </p:sp>
      <p:sp>
        <p:nvSpPr>
          <p:cNvPr id="14" name="Text 12"/>
          <p:cNvSpPr/>
          <p:nvPr/>
        </p:nvSpPr>
        <p:spPr>
          <a:xfrm>
            <a:off x="384048" y="3840480"/>
            <a:ext cx="4389120" cy="1188720"/>
          </a:xfrm>
          <a:prstGeom prst="rect">
            <a:avLst/>
          </a:prstGeom>
          <a:noFill/>
          <a:ln/>
        </p:spPr>
        <p:txBody>
          <a:bodyPr wrap="square" lIns="0" tIns="0" rIns="0" bIns="0" rtlCol="0" anchor="ctr"/>
          <a:lstStyle/>
          <a:p>
            <a:pPr algn="l" indent="0" marL="0">
              <a:lnSpc>
                <a:spcPct val="120000"/>
              </a:lnSpc>
              <a:buNone/>
            </a:pPr>
            <a:r>
              <a:rPr lang="en-US" sz="1200" dirty="0">
                <a:solidFill>
                  <a:srgbClr val="EEF2F6"/>
                </a:solidFill>
                <a:latin typeface="Calibri" pitchFamily="34" charset="0"/>
                <a:ea typeface="Calibri" pitchFamily="34" charset="-122"/>
                <a:cs typeface="Calibri" pitchFamily="34" charset="-120"/>
              </a:rPr>
              <a:t>Why: 2-opt optimizes geometric tour length — it is blind to site probabilities. The greedy p/d² chain already places high-probability sites early, where the target is most likely to be. 2-opt reorders by geometry alone, diluting this probability-weighted prefix.</a:t>
            </a:r>
            <a:endParaRPr lang="en-US" sz="1200" dirty="0"/>
          </a:p>
          <a:p>
            <a:pPr algn="l" indent="0" marL="0">
              <a:lnSpc>
                <a:spcPct val="120000"/>
              </a:lnSpc>
              <a:buNone/>
            </a:pPr>
            <a:endParaRPr lang="en-US" sz="1200" dirty="0"/>
          </a:p>
          <a:p>
            <a:pPr algn="l" indent="0" marL="0">
              <a:lnSpc>
                <a:spcPct val="120000"/>
              </a:lnSpc>
              <a:buNone/>
            </a:pPr>
            <a:r>
              <a:rPr lang="en-US" sz="1200" dirty="0">
                <a:solidFill>
                  <a:srgbClr val="EEF2F6"/>
                </a:solidFill>
                <a:latin typeface="Calibri" pitchFamily="34" charset="0"/>
                <a:ea typeface="Calibri" pitchFamily="34" charset="-122"/>
                <a:cs typeface="Calibri" pitchFamily="34" charset="-120"/>
              </a:rPr>
              <a:t>The standard "build, then polish with 2-opt" pipeline is not merely neutral — it is actively harmful under Bayesian priors and finder-centric objectives.</a:t>
            </a:r>
            <a:endParaRPr lang="en-US" sz="1200" dirty="0"/>
          </a:p>
        </p:txBody>
      </p:sp>
      <p:pic>
        <p:nvPicPr>
          <p:cNvPr id="15" name="Image 0" descr="C:\Users\fooja\Documents\GitHub\Multi-Robot-Algo\.claude\worktrees\flamboyant-rosalind-2467e7\thesis\figures\fig_target_delay.png">    </p:cNvPr>
          <p:cNvPicPr>
            <a:picLocks noChangeAspect="1"/>
          </p:cNvPicPr>
          <p:nvPr/>
        </p:nvPicPr>
        <p:blipFill>
          <a:blip r:embed="rId1"/>
          <a:stretch>
            <a:fillRect/>
          </a:stretch>
        </p:blipFill>
        <p:spPr>
          <a:xfrm>
            <a:off x="5029200" y="914400"/>
            <a:ext cx="3803904" cy="4041648"/>
          </a:xfrm>
          <a:prstGeom prst="rect">
            <a:avLst/>
          </a:prstGeom>
        </p:spPr>
      </p:pic>
      <p:sp>
        <p:nvSpPr>
          <p:cNvPr id="16" name="Text 13"/>
          <p:cNvSpPr/>
          <p:nvPr/>
        </p:nvSpPr>
        <p:spPr>
          <a:xfrm>
            <a:off x="5029200" y="4992624"/>
            <a:ext cx="3803904" cy="237744"/>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Left: target rank distribution (greedy vs 2-opt). Right: per-trial scatter — upper-right = anomaly.</a:t>
            </a:r>
            <a:endParaRPr lang="en-US" sz="950" dirty="0"/>
          </a:p>
        </p:txBody>
      </p:sp>
      <p:sp>
        <p:nvSpPr>
          <p:cNvPr id="17" name="Text 14"/>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PARAMETRIC SWEEP — ENERGY</a:t>
            </a:r>
            <a:endParaRPr lang="en-US" sz="800" dirty="0"/>
          </a:p>
        </p:txBody>
      </p:sp>
      <p:sp>
        <p:nvSpPr>
          <p:cNvPr id="3" name="Text 1"/>
          <p:cNvSpPr/>
          <p:nvPr/>
        </p:nvSpPr>
        <p:spPr>
          <a:xfrm>
            <a:off x="384048" y="274320"/>
            <a:ext cx="8375904" cy="548640"/>
          </a:xfrm>
          <a:prstGeom prst="rect">
            <a:avLst/>
          </a:prstGeom>
          <a:noFill/>
          <a:ln/>
        </p:spPr>
        <p:txBody>
          <a:bodyPr wrap="square" lIns="0" tIns="0" rIns="0" bIns="0" rtlCol="0" anchor="ctr"/>
          <a:lstStyle/>
          <a:p>
            <a:pPr algn="l" indent="0" marL="0">
              <a:buNone/>
            </a:pPr>
            <a:r>
              <a:rPr lang="en-US" sz="2400" b="1" dirty="0">
                <a:solidFill>
                  <a:srgbClr val="EEF2F6"/>
                </a:solidFill>
                <a:latin typeface="Calibri" pitchFamily="34" charset="0"/>
                <a:ea typeface="Calibri" pitchFamily="34" charset="-122"/>
                <a:cs typeface="Calibri" pitchFamily="34" charset="-120"/>
              </a:rPr>
              <a:t>Results Hold Across Battery Budgets (E = 8 to 30)</a:t>
            </a:r>
            <a:endParaRPr lang="en-US" sz="2400" dirty="0"/>
          </a:p>
        </p:txBody>
      </p:sp>
      <p:sp>
        <p:nvSpPr>
          <p:cNvPr id="4" name="Shape 2"/>
          <p:cNvSpPr/>
          <p:nvPr/>
        </p:nvSpPr>
        <p:spPr>
          <a:xfrm>
            <a:off x="384048" y="859536"/>
            <a:ext cx="8375904" cy="20117"/>
          </a:xfrm>
          <a:prstGeom prst="rect">
            <a:avLst/>
          </a:prstGeom>
          <a:solidFill>
            <a:srgbClr val="F0A030"/>
          </a:solidFill>
          <a:ln w="12700">
            <a:solidFill>
              <a:srgbClr val="F0A030"/>
            </a:solidFill>
            <a:prstDash val="solid"/>
          </a:ln>
        </p:spPr>
      </p:sp>
      <p:pic>
        <p:nvPicPr>
          <p:cNvPr id="5" name="Image 0" descr="C:\Users\fooja\Documents\GitHub\Multi-Robot-Algo\.claude\worktrees\flamboyant-rosalind-2467e7\thesis\figures\fig_energy_sweep.png">    </p:cNvPr>
          <p:cNvPicPr>
            <a:picLocks noChangeAspect="1"/>
          </p:cNvPicPr>
          <p:nvPr/>
        </p:nvPicPr>
        <p:blipFill>
          <a:blip r:embed="rId1"/>
          <a:stretch>
            <a:fillRect/>
          </a:stretch>
        </p:blipFill>
        <p:spPr>
          <a:xfrm>
            <a:off x="292608" y="914400"/>
            <a:ext cx="5029200" cy="3931920"/>
          </a:xfrm>
          <a:prstGeom prst="rect">
            <a:avLst/>
          </a:prstGeom>
        </p:spPr>
      </p:pic>
      <p:sp>
        <p:nvSpPr>
          <p:cNvPr id="6" name="Text 3"/>
          <p:cNvSpPr/>
          <p:nvPr/>
        </p:nvSpPr>
        <p:spPr>
          <a:xfrm>
            <a:off x="292608" y="4882896"/>
            <a:ext cx="5029200" cy="237744"/>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FCR vs energy budget E. At E = 30, M4* surpasses the unconstrained M2 ceiling (2.83 → 2.67).</a:t>
            </a:r>
            <a:endParaRPr lang="en-US" sz="950" dirty="0"/>
          </a:p>
        </p:txBody>
      </p:sp>
      <p:sp>
        <p:nvSpPr>
          <p:cNvPr id="7" name="Text 4"/>
          <p:cNvSpPr/>
          <p:nvPr/>
        </p:nvSpPr>
        <p:spPr>
          <a:xfrm>
            <a:off x="5486400" y="1005840"/>
            <a:ext cx="3337560" cy="274320"/>
          </a:xfrm>
          <a:prstGeom prst="rect">
            <a:avLst/>
          </a:prstGeom>
          <a:noFill/>
          <a:ln/>
        </p:spPr>
        <p:txBody>
          <a:bodyPr wrap="square" lIns="0" tIns="0" rIns="0" bIns="0" rtlCol="0" anchor="ctr"/>
          <a:lstStyle/>
          <a:p>
            <a:pPr algn="l" indent="0" marL="0">
              <a:buNone/>
            </a:pPr>
            <a:r>
              <a:rPr lang="en-US" sz="1250" b="1" dirty="0">
                <a:solidFill>
                  <a:srgbClr val="F0A030"/>
                </a:solidFill>
                <a:latin typeface="Calibri" pitchFamily="34" charset="0"/>
                <a:ea typeface="Calibri" pitchFamily="34" charset="-122"/>
                <a:cs typeface="Calibri" pitchFamily="34" charset="-120"/>
              </a:rPr>
              <a:t>Monotone improvement</a:t>
            </a:r>
            <a:endParaRPr lang="en-US" sz="1250" dirty="0"/>
          </a:p>
        </p:txBody>
      </p:sp>
      <p:sp>
        <p:nvSpPr>
          <p:cNvPr id="8" name="Text 5"/>
          <p:cNvSpPr/>
          <p:nvPr/>
        </p:nvSpPr>
        <p:spPr>
          <a:xfrm>
            <a:off x="5486400" y="1316736"/>
            <a:ext cx="3337560" cy="530352"/>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M4* FCR decreases from 3.18 at E=8 to 2.67 at E=30. More battery always helps.</a:t>
            </a:r>
            <a:endParaRPr lang="en-US" sz="1200" dirty="0"/>
          </a:p>
        </p:txBody>
      </p:sp>
      <p:sp>
        <p:nvSpPr>
          <p:cNvPr id="9" name="Shape 6"/>
          <p:cNvSpPr/>
          <p:nvPr/>
        </p:nvSpPr>
        <p:spPr>
          <a:xfrm>
            <a:off x="5486400" y="1883664"/>
            <a:ext cx="3337560" cy="18288"/>
          </a:xfrm>
          <a:prstGeom prst="rect">
            <a:avLst/>
          </a:prstGeom>
          <a:solidFill>
            <a:srgbClr val="1C3550"/>
          </a:solidFill>
          <a:ln w="12700">
            <a:solidFill>
              <a:srgbClr val="1C3550"/>
            </a:solidFill>
            <a:prstDash val="solid"/>
          </a:ln>
        </p:spPr>
      </p:sp>
      <p:sp>
        <p:nvSpPr>
          <p:cNvPr id="10" name="Text 7"/>
          <p:cNvSpPr/>
          <p:nvPr/>
        </p:nvSpPr>
        <p:spPr>
          <a:xfrm>
            <a:off x="5486400" y="1993392"/>
            <a:ext cx="3337560" cy="274320"/>
          </a:xfrm>
          <a:prstGeom prst="rect">
            <a:avLst/>
          </a:prstGeom>
          <a:noFill/>
          <a:ln/>
        </p:spPr>
        <p:txBody>
          <a:bodyPr wrap="square" lIns="0" tIns="0" rIns="0" bIns="0" rtlCol="0" anchor="ctr"/>
          <a:lstStyle/>
          <a:p>
            <a:pPr algn="l" indent="0" marL="0">
              <a:buNone/>
            </a:pPr>
            <a:r>
              <a:rPr lang="en-US" sz="1250" b="1" dirty="0">
                <a:solidFill>
                  <a:srgbClr val="F0A030"/>
                </a:solidFill>
                <a:latin typeface="Calibri" pitchFamily="34" charset="0"/>
                <a:ea typeface="Calibri" pitchFamily="34" charset="-122"/>
                <a:cs typeface="Calibri" pitchFamily="34" charset="-120"/>
              </a:rPr>
              <a:t>Ceiling crossover</a:t>
            </a:r>
            <a:endParaRPr lang="en-US" sz="1250" dirty="0"/>
          </a:p>
        </p:txBody>
      </p:sp>
      <p:sp>
        <p:nvSpPr>
          <p:cNvPr id="11" name="Text 8"/>
          <p:cNvSpPr/>
          <p:nvPr/>
        </p:nvSpPr>
        <p:spPr>
          <a:xfrm>
            <a:off x="5486400" y="2304288"/>
            <a:ext cx="3337560" cy="530352"/>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At high E, M4* surpasses unconstrained M2 — chaining leverages extra battery better than node-to-node movement.</a:t>
            </a:r>
            <a:endParaRPr lang="en-US" sz="1200" dirty="0"/>
          </a:p>
        </p:txBody>
      </p:sp>
      <p:sp>
        <p:nvSpPr>
          <p:cNvPr id="12" name="Shape 9"/>
          <p:cNvSpPr/>
          <p:nvPr/>
        </p:nvSpPr>
        <p:spPr>
          <a:xfrm>
            <a:off x="5486400" y="2871216"/>
            <a:ext cx="3337560" cy="18288"/>
          </a:xfrm>
          <a:prstGeom prst="rect">
            <a:avLst/>
          </a:prstGeom>
          <a:solidFill>
            <a:srgbClr val="1C3550"/>
          </a:solidFill>
          <a:ln w="12700">
            <a:solidFill>
              <a:srgbClr val="1C3550"/>
            </a:solidFill>
            <a:prstDash val="solid"/>
          </a:ln>
        </p:spPr>
      </p:sp>
      <p:sp>
        <p:nvSpPr>
          <p:cNvPr id="13" name="Text 10"/>
          <p:cNvSpPr/>
          <p:nvPr/>
        </p:nvSpPr>
        <p:spPr>
          <a:xfrm>
            <a:off x="5486400" y="2980944"/>
            <a:ext cx="3337560" cy="274320"/>
          </a:xfrm>
          <a:prstGeom prst="rect">
            <a:avLst/>
          </a:prstGeom>
          <a:noFill/>
          <a:ln/>
        </p:spPr>
        <p:txBody>
          <a:bodyPr wrap="square" lIns="0" tIns="0" rIns="0" bIns="0" rtlCol="0" anchor="ctr"/>
          <a:lstStyle/>
          <a:p>
            <a:pPr algn="l" indent="0" marL="0">
              <a:buNone/>
            </a:pPr>
            <a:r>
              <a:rPr lang="en-US" sz="1250" b="1" dirty="0">
                <a:solidFill>
                  <a:srgbClr val="F0A030"/>
                </a:solidFill>
                <a:latin typeface="Calibri" pitchFamily="34" charset="0"/>
                <a:ea typeface="Calibri" pitchFamily="34" charset="-122"/>
                <a:cs typeface="Calibri" pitchFamily="34" charset="-120"/>
              </a:rPr>
              <a:t>p/d² advantage grows</a:t>
            </a:r>
            <a:endParaRPr lang="en-US" sz="1250" dirty="0"/>
          </a:p>
        </p:txBody>
      </p:sp>
      <p:sp>
        <p:nvSpPr>
          <p:cNvPr id="14" name="Text 11"/>
          <p:cNvSpPr/>
          <p:nvPr/>
        </p:nvSpPr>
        <p:spPr>
          <a:xfrm>
            <a:off x="5486400" y="3291840"/>
            <a:ext cx="3337560" cy="530352"/>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The M4* vs M4 gap widens at tight budgets, confirming the cost-foreclosure theory.</a:t>
            </a:r>
            <a:endParaRPr lang="en-US" sz="1200" dirty="0"/>
          </a:p>
        </p:txBody>
      </p:sp>
      <p:sp>
        <p:nvSpPr>
          <p:cNvPr id="15" name="Shape 12"/>
          <p:cNvSpPr/>
          <p:nvPr/>
        </p:nvSpPr>
        <p:spPr>
          <a:xfrm>
            <a:off x="5486400" y="3858768"/>
            <a:ext cx="3337560" cy="18288"/>
          </a:xfrm>
          <a:prstGeom prst="rect">
            <a:avLst/>
          </a:prstGeom>
          <a:solidFill>
            <a:srgbClr val="1C3550"/>
          </a:solidFill>
          <a:ln w="12700">
            <a:solidFill>
              <a:srgbClr val="1C3550"/>
            </a:solidFill>
            <a:prstDash val="solid"/>
          </a:ln>
        </p:spPr>
      </p:sp>
      <p:sp>
        <p:nvSpPr>
          <p:cNvPr id="16" name="Text 13"/>
          <p:cNvSpPr/>
          <p:nvPr/>
        </p:nvSpPr>
        <p:spPr>
          <a:xfrm>
            <a:off x="5486400" y="3968496"/>
            <a:ext cx="3337560" cy="274320"/>
          </a:xfrm>
          <a:prstGeom prst="rect">
            <a:avLst/>
          </a:prstGeom>
          <a:noFill/>
          <a:ln/>
        </p:spPr>
        <p:txBody>
          <a:bodyPr wrap="square" lIns="0" tIns="0" rIns="0" bIns="0" rtlCol="0" anchor="ctr"/>
          <a:lstStyle/>
          <a:p>
            <a:pPr algn="l" indent="0" marL="0">
              <a:buNone/>
            </a:pPr>
            <a:r>
              <a:rPr lang="en-US" sz="1250" b="1" dirty="0">
                <a:solidFill>
                  <a:srgbClr val="F0A030"/>
                </a:solidFill>
                <a:latin typeface="Calibri" pitchFamily="34" charset="0"/>
                <a:ea typeface="Calibri" pitchFamily="34" charset="-122"/>
                <a:cs typeface="Calibri" pitchFamily="34" charset="-120"/>
              </a:rPr>
              <a:t>M1 is flat</a:t>
            </a:r>
            <a:endParaRPr lang="en-US" sz="1250" dirty="0"/>
          </a:p>
        </p:txBody>
      </p:sp>
      <p:sp>
        <p:nvSpPr>
          <p:cNvPr id="17" name="Text 14"/>
          <p:cNvSpPr/>
          <p:nvPr/>
        </p:nvSpPr>
        <p:spPr>
          <a:xfrm>
            <a:off x="5486400" y="4279392"/>
            <a:ext cx="3337560" cy="530352"/>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Uncoordinated search gains nothing from more battery — the coordination structure is the limiting factor.</a:t>
            </a:r>
            <a:endParaRPr lang="en-US" sz="1200" dirty="0"/>
          </a:p>
        </p:txBody>
      </p:sp>
      <p:sp>
        <p:nvSpPr>
          <p:cNvPr id="18" name="Text 15"/>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PARAMETRIC SWEEP — INSTANCE SIZE</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600" b="1" dirty="0">
                <a:solidFill>
                  <a:srgbClr val="EEF2F6"/>
                </a:solidFill>
                <a:latin typeface="Calibri" pitchFamily="34" charset="0"/>
                <a:ea typeface="Calibri" pitchFamily="34" charset="-122"/>
                <a:cs typeface="Calibri" pitchFamily="34" charset="-120"/>
              </a:rPr>
              <a:t>Coordination Advantage Grows with Problem Scale</a:t>
            </a:r>
            <a:endParaRPr lang="en-US" sz="26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pic>
        <p:nvPicPr>
          <p:cNvPr id="5" name="Image 0" descr="C:\Users\fooja\Documents\GitHub\Multi-Robot-Algo\.claude\worktrees\flamboyant-rosalind-2467e7\thesis\figures\fig_instance_scaling.png">    </p:cNvPr>
          <p:cNvPicPr>
            <a:picLocks noChangeAspect="1"/>
          </p:cNvPicPr>
          <p:nvPr/>
        </p:nvPicPr>
        <p:blipFill>
          <a:blip r:embed="rId1"/>
          <a:stretch>
            <a:fillRect/>
          </a:stretch>
        </p:blipFill>
        <p:spPr>
          <a:xfrm>
            <a:off x="292608" y="914400"/>
            <a:ext cx="5029200" cy="3931920"/>
          </a:xfrm>
          <a:prstGeom prst="rect">
            <a:avLst/>
          </a:prstGeom>
        </p:spPr>
      </p:pic>
      <p:sp>
        <p:nvSpPr>
          <p:cNvPr id="6" name="Text 3"/>
          <p:cNvSpPr/>
          <p:nvPr/>
        </p:nvSpPr>
        <p:spPr>
          <a:xfrm>
            <a:off x="292608" y="4882896"/>
            <a:ext cx="5029200" cy="237744"/>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FCR vs instance size n = 30, 50, 100. Model ranking preserved; coordination gap widens.</a:t>
            </a:r>
            <a:endParaRPr lang="en-US" sz="950" dirty="0"/>
          </a:p>
        </p:txBody>
      </p:sp>
      <p:sp>
        <p:nvSpPr>
          <p:cNvPr id="7" name="Shape 4"/>
          <p:cNvSpPr/>
          <p:nvPr/>
        </p:nvSpPr>
        <p:spPr>
          <a:xfrm>
            <a:off x="5486400" y="969264"/>
            <a:ext cx="3337560" cy="2377440"/>
          </a:xfrm>
          <a:prstGeom prst="rect">
            <a:avLst/>
          </a:prstGeom>
          <a:solidFill>
            <a:srgbClr val="13243A"/>
          </a:solidFill>
          <a:ln w="12700">
            <a:solidFill>
              <a:srgbClr val="13243A"/>
            </a:solidFill>
            <a:prstDash val="solid"/>
          </a:ln>
        </p:spPr>
      </p:sp>
      <p:sp>
        <p:nvSpPr>
          <p:cNvPr id="8" name="Text 5"/>
          <p:cNvSpPr/>
          <p:nvPr/>
        </p:nvSpPr>
        <p:spPr>
          <a:xfrm>
            <a:off x="5623560" y="1078992"/>
            <a:ext cx="3063240" cy="274320"/>
          </a:xfrm>
          <a:prstGeom prst="rect">
            <a:avLst/>
          </a:prstGeom>
          <a:noFill/>
          <a:ln/>
        </p:spPr>
        <p:txBody>
          <a:bodyPr wrap="square" lIns="0" tIns="0" rIns="0" bIns="0" rtlCol="0" anchor="ctr"/>
          <a:lstStyle/>
          <a:p>
            <a:pPr algn="l" indent="0" marL="0">
              <a:buNone/>
            </a:pPr>
            <a:r>
              <a:rPr lang="en-US" sz="1300" b="1" dirty="0">
                <a:solidFill>
                  <a:srgbClr val="F0A030"/>
                </a:solidFill>
                <a:latin typeface="Calibri" pitchFamily="34" charset="0"/>
                <a:ea typeface="Calibri" pitchFamily="34" charset="-122"/>
                <a:cs typeface="Calibri" pitchFamily="34" charset="-120"/>
              </a:rPr>
              <a:t>At n = 100 sites:</a:t>
            </a:r>
            <a:endParaRPr lang="en-US" sz="1300" dirty="0"/>
          </a:p>
        </p:txBody>
      </p:sp>
      <p:sp>
        <p:nvSpPr>
          <p:cNvPr id="9" name="Text 6"/>
          <p:cNvSpPr/>
          <p:nvPr/>
        </p:nvSpPr>
        <p:spPr>
          <a:xfrm>
            <a:off x="5623560" y="1426464"/>
            <a:ext cx="3063240" cy="347472"/>
          </a:xfrm>
          <a:prstGeom prst="rect">
            <a:avLst/>
          </a:prstGeom>
          <a:noFill/>
          <a:ln/>
        </p:spPr>
        <p:txBody>
          <a:bodyPr wrap="square" lIns="0" tIns="0" rIns="0" bIns="0" rtlCol="0" anchor="ctr"/>
          <a:lstStyle/>
          <a:p>
            <a:pPr algn="l" indent="0" marL="0">
              <a:buNone/>
            </a:pPr>
            <a:r>
              <a:rPr lang="en-US" sz="1400" b="1" dirty="0">
                <a:solidFill>
                  <a:srgbClr val="4E6E88"/>
                </a:solidFill>
                <a:latin typeface="Calibri" pitchFamily="34" charset="0"/>
                <a:ea typeface="Calibri" pitchFamily="34" charset="-122"/>
                <a:cs typeface="Calibri" pitchFamily="34" charset="-120"/>
              </a:rPr>
              <a:t>M1 FCR  =  60.65</a:t>
            </a:r>
            <a:endParaRPr lang="en-US" sz="1400" dirty="0"/>
          </a:p>
        </p:txBody>
      </p:sp>
      <p:sp>
        <p:nvSpPr>
          <p:cNvPr id="10" name="Text 7"/>
          <p:cNvSpPr/>
          <p:nvPr/>
        </p:nvSpPr>
        <p:spPr>
          <a:xfrm>
            <a:off x="5623560" y="1810512"/>
            <a:ext cx="3063240" cy="347472"/>
          </a:xfrm>
          <a:prstGeom prst="rect">
            <a:avLst/>
          </a:prstGeom>
          <a:noFill/>
          <a:ln/>
        </p:spPr>
        <p:txBody>
          <a:bodyPr wrap="square" lIns="0" tIns="0" rIns="0" bIns="0" rtlCol="0" anchor="ctr"/>
          <a:lstStyle/>
          <a:p>
            <a:pPr algn="l" indent="0" marL="0">
              <a:buNone/>
            </a:pPr>
            <a:r>
              <a:rPr lang="en-US" sz="1400" b="1" dirty="0">
                <a:solidFill>
                  <a:srgbClr val="F0A030"/>
                </a:solidFill>
                <a:latin typeface="Calibri" pitchFamily="34" charset="0"/>
                <a:ea typeface="Calibri" pitchFamily="34" charset="-122"/>
                <a:cs typeface="Calibri" pitchFamily="34" charset="-120"/>
              </a:rPr>
              <a:t>M4* FCR  =  5.60</a:t>
            </a:r>
            <a:endParaRPr lang="en-US" sz="1400" dirty="0"/>
          </a:p>
        </p:txBody>
      </p:sp>
      <p:sp>
        <p:nvSpPr>
          <p:cNvPr id="11" name="Text 8"/>
          <p:cNvSpPr/>
          <p:nvPr/>
        </p:nvSpPr>
        <p:spPr>
          <a:xfrm>
            <a:off x="5623560" y="2231136"/>
            <a:ext cx="3063240" cy="347472"/>
          </a:xfrm>
          <a:prstGeom prst="rect">
            <a:avLst/>
          </a:prstGeom>
          <a:noFill/>
          <a:ln/>
        </p:spPr>
        <p:txBody>
          <a:bodyPr wrap="square" lIns="0" tIns="0" rIns="0" bIns="0" rtlCol="0" anchor="ctr"/>
          <a:lstStyle/>
          <a:p>
            <a:pPr algn="l" indent="0" marL="0">
              <a:buNone/>
            </a:pPr>
            <a:r>
              <a:rPr lang="en-US" sz="1400" b="1" dirty="0">
                <a:solidFill>
                  <a:srgbClr val="38B2CC"/>
                </a:solidFill>
                <a:latin typeface="Calibri" pitchFamily="34" charset="0"/>
                <a:ea typeface="Calibri" pitchFamily="34" charset="-122"/>
                <a:cs typeface="Calibri" pitchFamily="34" charset="-120"/>
              </a:rPr>
              <a:t>Coordination gain: 10.8×</a:t>
            </a:r>
            <a:endParaRPr lang="en-US" sz="1400" dirty="0"/>
          </a:p>
        </p:txBody>
      </p:sp>
      <p:sp>
        <p:nvSpPr>
          <p:cNvPr id="12" name="Text 9"/>
          <p:cNvSpPr/>
          <p:nvPr/>
        </p:nvSpPr>
        <p:spPr>
          <a:xfrm>
            <a:off x="5623560" y="2606040"/>
            <a:ext cx="3063240" cy="292608"/>
          </a:xfrm>
          <a:prstGeom prst="rect">
            <a:avLst/>
          </a:prstGeom>
          <a:noFill/>
          <a:ln/>
        </p:spPr>
        <p:txBody>
          <a:bodyPr wrap="square" lIns="0" tIns="0" rIns="0" bIns="0" rtlCol="0" anchor="ctr"/>
          <a:lstStyle/>
          <a:p>
            <a:pPr algn="l" indent="0" marL="0">
              <a:buNone/>
            </a:pPr>
            <a:r>
              <a:rPr lang="en-US" sz="1150" i="1" dirty="0">
                <a:solidFill>
                  <a:srgbClr val="4E6E88"/>
                </a:solidFill>
                <a:latin typeface="Calibri" pitchFamily="34" charset="0"/>
                <a:ea typeface="Calibri" pitchFamily="34" charset="-122"/>
                <a:cs typeface="Calibri" pitchFamily="34" charset="-120"/>
              </a:rPr>
              <a:t>vs 6.6× at n = 30</a:t>
            </a:r>
            <a:endParaRPr lang="en-US" sz="1150" dirty="0"/>
          </a:p>
        </p:txBody>
      </p:sp>
      <p:sp>
        <p:nvSpPr>
          <p:cNvPr id="13" name="Text 10"/>
          <p:cNvSpPr/>
          <p:nvPr/>
        </p:nvSpPr>
        <p:spPr>
          <a:xfrm>
            <a:off x="5486400" y="3511296"/>
            <a:ext cx="3337560" cy="1078992"/>
          </a:xfrm>
          <a:prstGeom prst="rect">
            <a:avLst/>
          </a:prstGeom>
          <a:noFill/>
          <a:ln/>
        </p:spPr>
        <p:txBody>
          <a:bodyPr wrap="square" lIns="0" tIns="0" rIns="0" bIns="0" rtlCol="0" anchor="ctr"/>
          <a:lstStyle/>
          <a:p>
            <a:pPr algn="l" indent="0" marL="0">
              <a:lnSpc>
                <a:spcPct val="120000"/>
              </a:lnSpc>
              <a:buNone/>
            </a:pPr>
            <a:r>
              <a:rPr lang="en-US" sz="1250" dirty="0">
                <a:solidFill>
                  <a:srgbClr val="EEF2F6"/>
                </a:solidFill>
                <a:latin typeface="Calibri" pitchFamily="34" charset="0"/>
                <a:ea typeface="Calibri" pitchFamily="34" charset="-122"/>
                <a:cs typeface="Calibri" pitchFamily="34" charset="-120"/>
              </a:rPr>
              <a:t>The larger the disaster scene, the more critical coordination becomes. Real deployments with hundreds of locations will see even larger gains from the M4* framework.</a:t>
            </a:r>
            <a:endParaRPr lang="en-US" sz="1250" dirty="0"/>
          </a:p>
        </p:txBody>
      </p:sp>
      <p:sp>
        <p:nvSpPr>
          <p:cNvPr id="14" name="Text 11"/>
          <p:cNvSpPr/>
          <p:nvPr/>
        </p:nvSpPr>
        <p:spPr>
          <a:xfrm>
            <a:off x="5486400" y="4645152"/>
            <a:ext cx="3337560" cy="274320"/>
          </a:xfrm>
          <a:prstGeom prst="rect">
            <a:avLst/>
          </a:prstGeom>
          <a:noFill/>
          <a:ln/>
        </p:spPr>
        <p:txBody>
          <a:bodyPr wrap="square" lIns="0" tIns="0" rIns="0" bIns="0" rtlCol="0" anchor="ctr"/>
          <a:lstStyle/>
          <a:p>
            <a:pPr algn="l" indent="0" marL="0">
              <a:buNone/>
            </a:pPr>
            <a:r>
              <a:rPr lang="en-US" sz="1200" b="1" i="1" dirty="0">
                <a:solidFill>
                  <a:srgbClr val="38B2CC"/>
                </a:solidFill>
                <a:latin typeface="Calibri" pitchFamily="34" charset="0"/>
                <a:ea typeface="Calibri" pitchFamily="34" charset="-122"/>
                <a:cs typeface="Calibri" pitchFamily="34" charset="-120"/>
              </a:rPr>
              <a:t>Model ranking preserved at all n.</a:t>
            </a:r>
            <a:endParaRPr lang="en-US" sz="1200" dirty="0"/>
          </a:p>
        </p:txBody>
      </p:sp>
      <p:sp>
        <p:nvSpPr>
          <p:cNvPr id="15" name="Text 12"/>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PARAMETRIC SWEEP — FLEET SIZE</a:t>
            </a:r>
            <a:endParaRPr lang="en-US" sz="800" dirty="0"/>
          </a:p>
        </p:txBody>
      </p:sp>
      <p:sp>
        <p:nvSpPr>
          <p:cNvPr id="3" name="Text 1"/>
          <p:cNvSpPr/>
          <p:nvPr/>
        </p:nvSpPr>
        <p:spPr>
          <a:xfrm>
            <a:off x="384048" y="274320"/>
            <a:ext cx="8375904" cy="548640"/>
          </a:xfrm>
          <a:prstGeom prst="rect">
            <a:avLst/>
          </a:prstGeom>
          <a:noFill/>
          <a:ln/>
        </p:spPr>
        <p:txBody>
          <a:bodyPr wrap="square" lIns="0" tIns="0" rIns="0" bIns="0" rtlCol="0" anchor="ctr"/>
          <a:lstStyle/>
          <a:p>
            <a:pPr algn="l" indent="0" marL="0">
              <a:buNone/>
            </a:pPr>
            <a:r>
              <a:rPr lang="en-US" sz="2400" b="1" dirty="0">
                <a:solidFill>
                  <a:srgbClr val="EEF2F6"/>
                </a:solidFill>
                <a:latin typeface="Calibri" pitchFamily="34" charset="0"/>
                <a:ea typeface="Calibri" pitchFamily="34" charset="-122"/>
                <a:cs typeface="Calibri" pitchFamily="34" charset="-120"/>
              </a:rPr>
              <a:t>Diminishing Returns, But No Ceiling for Coordination</a:t>
            </a:r>
            <a:endParaRPr lang="en-US" sz="2400" dirty="0"/>
          </a:p>
        </p:txBody>
      </p:sp>
      <p:sp>
        <p:nvSpPr>
          <p:cNvPr id="4" name="Shape 2"/>
          <p:cNvSpPr/>
          <p:nvPr/>
        </p:nvSpPr>
        <p:spPr>
          <a:xfrm>
            <a:off x="384048" y="859536"/>
            <a:ext cx="8375904" cy="20117"/>
          </a:xfrm>
          <a:prstGeom prst="rect">
            <a:avLst/>
          </a:prstGeom>
          <a:solidFill>
            <a:srgbClr val="F0A030"/>
          </a:solidFill>
          <a:ln w="12700">
            <a:solidFill>
              <a:srgbClr val="F0A030"/>
            </a:solidFill>
            <a:prstDash val="solid"/>
          </a:ln>
        </p:spPr>
      </p:sp>
      <p:pic>
        <p:nvPicPr>
          <p:cNvPr id="5" name="Image 0" descr="C:\Users\fooja\Documents\GitHub\Multi-Robot-Algo\.claude\worktrees\flamboyant-rosalind-2467e7\thesis\figures\fig_robot_sweep.png">    </p:cNvPr>
          <p:cNvPicPr>
            <a:picLocks noChangeAspect="1"/>
          </p:cNvPicPr>
          <p:nvPr/>
        </p:nvPicPr>
        <p:blipFill>
          <a:blip r:embed="rId1"/>
          <a:stretch>
            <a:fillRect/>
          </a:stretch>
        </p:blipFill>
        <p:spPr>
          <a:xfrm>
            <a:off x="292608" y="914400"/>
            <a:ext cx="5029200" cy="3931920"/>
          </a:xfrm>
          <a:prstGeom prst="rect">
            <a:avLst/>
          </a:prstGeom>
        </p:spPr>
      </p:pic>
      <p:sp>
        <p:nvSpPr>
          <p:cNvPr id="6" name="Text 3"/>
          <p:cNvSpPr/>
          <p:nvPr/>
        </p:nvSpPr>
        <p:spPr>
          <a:xfrm>
            <a:off x="292608" y="4882896"/>
            <a:ext cx="5029200" cy="237744"/>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FCR vs fleet size R = 1 to 10. At R = 10, M4* (1.81) surpasses the unconstrained M2 (1.84).</a:t>
            </a:r>
            <a:endParaRPr lang="en-US" sz="950" dirty="0"/>
          </a:p>
        </p:txBody>
      </p:sp>
      <p:sp>
        <p:nvSpPr>
          <p:cNvPr id="7" name="Shape 4"/>
          <p:cNvSpPr/>
          <p:nvPr/>
        </p:nvSpPr>
        <p:spPr>
          <a:xfrm>
            <a:off x="5486400" y="969264"/>
            <a:ext cx="3337560" cy="822960"/>
          </a:xfrm>
          <a:prstGeom prst="rect">
            <a:avLst/>
          </a:prstGeom>
          <a:solidFill>
            <a:srgbClr val="13243A"/>
          </a:solidFill>
          <a:ln w="12700">
            <a:solidFill>
              <a:srgbClr val="13243A"/>
            </a:solidFill>
            <a:prstDash val="solid"/>
          </a:ln>
        </p:spPr>
      </p:sp>
      <p:sp>
        <p:nvSpPr>
          <p:cNvPr id="8" name="Text 5"/>
          <p:cNvSpPr/>
          <p:nvPr/>
        </p:nvSpPr>
        <p:spPr>
          <a:xfrm>
            <a:off x="5623560" y="1042416"/>
            <a:ext cx="3063240" cy="274320"/>
          </a:xfrm>
          <a:prstGeom prst="rect">
            <a:avLst/>
          </a:prstGeom>
          <a:noFill/>
          <a:ln/>
        </p:spPr>
        <p:txBody>
          <a:bodyPr wrap="square" lIns="0" tIns="0" rIns="0" bIns="0" rtlCol="0" anchor="ctr"/>
          <a:lstStyle/>
          <a:p>
            <a:pPr algn="l" indent="0" marL="0">
              <a:buNone/>
            </a:pPr>
            <a:r>
              <a:rPr lang="en-US" sz="1250" b="1" dirty="0">
                <a:solidFill>
                  <a:srgbClr val="F0A030"/>
                </a:solidFill>
                <a:latin typeface="Calibri" pitchFamily="34" charset="0"/>
                <a:ea typeface="Calibri" pitchFamily="34" charset="-122"/>
                <a:cs typeface="Calibri" pitchFamily="34" charset="-120"/>
              </a:rPr>
              <a:t>R = 1</a:t>
            </a:r>
            <a:endParaRPr lang="en-US" sz="1250" dirty="0"/>
          </a:p>
        </p:txBody>
      </p:sp>
      <p:sp>
        <p:nvSpPr>
          <p:cNvPr id="9" name="Text 6"/>
          <p:cNvSpPr/>
          <p:nvPr/>
        </p:nvSpPr>
        <p:spPr>
          <a:xfrm>
            <a:off x="5623560" y="1353312"/>
            <a:ext cx="3063240" cy="347472"/>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All models converge — coordination requires multiple robots.</a:t>
            </a:r>
            <a:endParaRPr lang="en-US" sz="1200" dirty="0"/>
          </a:p>
        </p:txBody>
      </p:sp>
      <p:sp>
        <p:nvSpPr>
          <p:cNvPr id="10" name="Shape 7"/>
          <p:cNvSpPr/>
          <p:nvPr/>
        </p:nvSpPr>
        <p:spPr>
          <a:xfrm>
            <a:off x="5486400" y="1920240"/>
            <a:ext cx="3337560" cy="822960"/>
          </a:xfrm>
          <a:prstGeom prst="rect">
            <a:avLst/>
          </a:prstGeom>
          <a:solidFill>
            <a:srgbClr val="13243A"/>
          </a:solidFill>
          <a:ln w="12700">
            <a:solidFill>
              <a:srgbClr val="13243A"/>
            </a:solidFill>
            <a:prstDash val="solid"/>
          </a:ln>
        </p:spPr>
      </p:sp>
      <p:sp>
        <p:nvSpPr>
          <p:cNvPr id="11" name="Text 8"/>
          <p:cNvSpPr/>
          <p:nvPr/>
        </p:nvSpPr>
        <p:spPr>
          <a:xfrm>
            <a:off x="5623560" y="1993392"/>
            <a:ext cx="3063240" cy="274320"/>
          </a:xfrm>
          <a:prstGeom prst="rect">
            <a:avLst/>
          </a:prstGeom>
          <a:noFill/>
          <a:ln/>
        </p:spPr>
        <p:txBody>
          <a:bodyPr wrap="square" lIns="0" tIns="0" rIns="0" bIns="0" rtlCol="0" anchor="ctr"/>
          <a:lstStyle/>
          <a:p>
            <a:pPr algn="l" indent="0" marL="0">
              <a:buNone/>
            </a:pPr>
            <a:r>
              <a:rPr lang="en-US" sz="1250" b="1" dirty="0">
                <a:solidFill>
                  <a:srgbClr val="F0A030"/>
                </a:solidFill>
                <a:latin typeface="Calibri" pitchFamily="34" charset="0"/>
                <a:ea typeface="Calibri" pitchFamily="34" charset="-122"/>
                <a:cs typeface="Calibri" pitchFamily="34" charset="-120"/>
              </a:rPr>
              <a:t>R = 3</a:t>
            </a:r>
            <a:endParaRPr lang="en-US" sz="1250" dirty="0"/>
          </a:p>
        </p:txBody>
      </p:sp>
      <p:sp>
        <p:nvSpPr>
          <p:cNvPr id="12" name="Text 9"/>
          <p:cNvSpPr/>
          <p:nvPr/>
        </p:nvSpPr>
        <p:spPr>
          <a:xfrm>
            <a:off x="5623560" y="2304288"/>
            <a:ext cx="3063240" cy="347472"/>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Default: M4* = 3.11, M2 = 2.83.</a:t>
            </a:r>
            <a:endParaRPr lang="en-US" sz="1200" dirty="0"/>
          </a:p>
        </p:txBody>
      </p:sp>
      <p:sp>
        <p:nvSpPr>
          <p:cNvPr id="13" name="Shape 10"/>
          <p:cNvSpPr/>
          <p:nvPr/>
        </p:nvSpPr>
        <p:spPr>
          <a:xfrm>
            <a:off x="5486400" y="2871216"/>
            <a:ext cx="3337560" cy="822960"/>
          </a:xfrm>
          <a:prstGeom prst="rect">
            <a:avLst/>
          </a:prstGeom>
          <a:solidFill>
            <a:srgbClr val="13243A"/>
          </a:solidFill>
          <a:ln w="12700">
            <a:solidFill>
              <a:srgbClr val="13243A"/>
            </a:solidFill>
            <a:prstDash val="solid"/>
          </a:ln>
        </p:spPr>
      </p:sp>
      <p:sp>
        <p:nvSpPr>
          <p:cNvPr id="14" name="Text 11"/>
          <p:cNvSpPr/>
          <p:nvPr/>
        </p:nvSpPr>
        <p:spPr>
          <a:xfrm>
            <a:off x="5623560" y="2944368"/>
            <a:ext cx="3063240" cy="274320"/>
          </a:xfrm>
          <a:prstGeom prst="rect">
            <a:avLst/>
          </a:prstGeom>
          <a:noFill/>
          <a:ln/>
        </p:spPr>
        <p:txBody>
          <a:bodyPr wrap="square" lIns="0" tIns="0" rIns="0" bIns="0" rtlCol="0" anchor="ctr"/>
          <a:lstStyle/>
          <a:p>
            <a:pPr algn="l" indent="0" marL="0">
              <a:buNone/>
            </a:pPr>
            <a:r>
              <a:rPr lang="en-US" sz="1250" b="1" dirty="0">
                <a:solidFill>
                  <a:srgbClr val="F0A030"/>
                </a:solidFill>
                <a:latin typeface="Calibri" pitchFamily="34" charset="0"/>
                <a:ea typeface="Calibri" pitchFamily="34" charset="-122"/>
                <a:cs typeface="Calibri" pitchFamily="34" charset="-120"/>
              </a:rPr>
              <a:t>R = 10</a:t>
            </a:r>
            <a:endParaRPr lang="en-US" sz="1250" dirty="0"/>
          </a:p>
        </p:txBody>
      </p:sp>
      <p:sp>
        <p:nvSpPr>
          <p:cNvPr id="15" name="Text 12"/>
          <p:cNvSpPr/>
          <p:nvPr/>
        </p:nvSpPr>
        <p:spPr>
          <a:xfrm>
            <a:off x="5623560" y="3255264"/>
            <a:ext cx="3063240" cy="347472"/>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M4* = 1.81 surpasses unconstrained M2 = 1.84.</a:t>
            </a:r>
            <a:endParaRPr lang="en-US" sz="1200" dirty="0"/>
          </a:p>
        </p:txBody>
      </p:sp>
      <p:sp>
        <p:nvSpPr>
          <p:cNvPr id="16" name="Shape 13"/>
          <p:cNvSpPr/>
          <p:nvPr/>
        </p:nvSpPr>
        <p:spPr>
          <a:xfrm>
            <a:off x="5486400" y="3822192"/>
            <a:ext cx="3337560" cy="822960"/>
          </a:xfrm>
          <a:prstGeom prst="rect">
            <a:avLst/>
          </a:prstGeom>
          <a:solidFill>
            <a:srgbClr val="13243A"/>
          </a:solidFill>
          <a:ln w="12700">
            <a:solidFill>
              <a:srgbClr val="13243A"/>
            </a:solidFill>
            <a:prstDash val="solid"/>
          </a:ln>
        </p:spPr>
      </p:sp>
      <p:sp>
        <p:nvSpPr>
          <p:cNvPr id="17" name="Text 14"/>
          <p:cNvSpPr/>
          <p:nvPr/>
        </p:nvSpPr>
        <p:spPr>
          <a:xfrm>
            <a:off x="5623560" y="3895344"/>
            <a:ext cx="3063240" cy="274320"/>
          </a:xfrm>
          <a:prstGeom prst="rect">
            <a:avLst/>
          </a:prstGeom>
          <a:noFill/>
          <a:ln/>
        </p:spPr>
        <p:txBody>
          <a:bodyPr wrap="square" lIns="0" tIns="0" rIns="0" bIns="0" rtlCol="0" anchor="ctr"/>
          <a:lstStyle/>
          <a:p>
            <a:pPr algn="l" indent="0" marL="0">
              <a:buNone/>
            </a:pPr>
            <a:r>
              <a:rPr lang="en-US" sz="1250" b="1" dirty="0">
                <a:solidFill>
                  <a:srgbClr val="F0A030"/>
                </a:solidFill>
                <a:latin typeface="Calibri" pitchFamily="34" charset="0"/>
                <a:ea typeface="Calibri" pitchFamily="34" charset="-122"/>
                <a:cs typeface="Calibri" pitchFamily="34" charset="-120"/>
              </a:rPr>
              <a:t>Diminishing returns</a:t>
            </a:r>
            <a:endParaRPr lang="en-US" sz="1250" dirty="0"/>
          </a:p>
        </p:txBody>
      </p:sp>
      <p:sp>
        <p:nvSpPr>
          <p:cNvPr id="18" name="Text 15"/>
          <p:cNvSpPr/>
          <p:nvPr/>
        </p:nvSpPr>
        <p:spPr>
          <a:xfrm>
            <a:off x="5623560" y="4206240"/>
            <a:ext cx="3063240" cy="347472"/>
          </a:xfrm>
          <a:prstGeom prst="rect">
            <a:avLst/>
          </a:prstGeom>
          <a:noFill/>
          <a:ln/>
        </p:spPr>
        <p:txBody>
          <a:bodyPr wrap="square" lIns="0" tIns="0" rIns="0" bIns="0" rtlCol="0" anchor="ctr"/>
          <a:lstStyle/>
          <a:p>
            <a:pPr algn="l" indent="0" marL="0">
              <a:buNone/>
            </a:pPr>
            <a:r>
              <a:rPr lang="en-US" sz="1200" dirty="0">
                <a:solidFill>
                  <a:srgbClr val="EEF2F6"/>
                </a:solidFill>
                <a:latin typeface="Calibri" pitchFamily="34" charset="0"/>
                <a:ea typeface="Calibri" pitchFamily="34" charset="-122"/>
                <a:cs typeface="Calibri" pitchFamily="34" charset="-120"/>
              </a:rPr>
              <a:t>Practical sweet spot is R = 3–5 for most instances.</a:t>
            </a:r>
            <a:endParaRPr lang="en-US" sz="1200" dirty="0"/>
          </a:p>
        </p:txBody>
      </p:sp>
      <p:sp>
        <p:nvSpPr>
          <p:cNvPr id="19" name="Text 16"/>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STATISTICAL VALIDATION</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600" b="1" dirty="0">
                <a:solidFill>
                  <a:srgbClr val="EEF2F6"/>
                </a:solidFill>
                <a:latin typeface="Calibri" pitchFamily="34" charset="0"/>
                <a:ea typeface="Calibri" pitchFamily="34" charset="-122"/>
                <a:cs typeface="Calibri" pitchFamily="34" charset="-120"/>
              </a:rPr>
              <a:t>All Key Findings Are Statistically Significant</a:t>
            </a:r>
            <a:endParaRPr lang="en-US" sz="26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pic>
        <p:nvPicPr>
          <p:cNvPr id="5" name="Image 0" descr="C:\Users\fooja\Documents\GitHub\Multi-Robot-Algo\.claude\worktrees\flamboyant-rosalind-2467e7\thesis\figures\fig_significance_ci.png">    </p:cNvPr>
          <p:cNvPicPr>
            <a:picLocks noChangeAspect="1"/>
          </p:cNvPicPr>
          <p:nvPr/>
        </p:nvPicPr>
        <p:blipFill>
          <a:blip r:embed="rId1"/>
          <a:stretch>
            <a:fillRect/>
          </a:stretch>
        </p:blipFill>
        <p:spPr>
          <a:xfrm>
            <a:off x="292608" y="914400"/>
            <a:ext cx="4754880" cy="3977640"/>
          </a:xfrm>
          <a:prstGeom prst="rect">
            <a:avLst/>
          </a:prstGeom>
        </p:spPr>
      </p:pic>
      <p:sp>
        <p:nvSpPr>
          <p:cNvPr id="6" name="Text 3"/>
          <p:cNvSpPr/>
          <p:nvPr/>
        </p:nvSpPr>
        <p:spPr>
          <a:xfrm>
            <a:off x="292608" y="4919472"/>
            <a:ext cx="4754880" cy="237744"/>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95% confidence intervals for mean FCR differences. Non-overlapping CIs confirm significance.</a:t>
            </a:r>
            <a:endParaRPr lang="en-US" sz="950" dirty="0"/>
          </a:p>
        </p:txBody>
      </p:sp>
      <p:sp>
        <p:nvSpPr>
          <p:cNvPr id="7" name="Shape 4"/>
          <p:cNvSpPr/>
          <p:nvPr/>
        </p:nvSpPr>
        <p:spPr>
          <a:xfrm>
            <a:off x="5138928" y="969264"/>
            <a:ext cx="3703320" cy="822960"/>
          </a:xfrm>
          <a:prstGeom prst="rect">
            <a:avLst/>
          </a:prstGeom>
          <a:solidFill>
            <a:srgbClr val="13243A"/>
          </a:solidFill>
          <a:ln w="12700">
            <a:solidFill>
              <a:srgbClr val="13243A"/>
            </a:solidFill>
            <a:prstDash val="solid"/>
          </a:ln>
        </p:spPr>
      </p:sp>
      <p:sp>
        <p:nvSpPr>
          <p:cNvPr id="8" name="Text 5"/>
          <p:cNvSpPr/>
          <p:nvPr/>
        </p:nvSpPr>
        <p:spPr>
          <a:xfrm>
            <a:off x="5248656" y="1042416"/>
            <a:ext cx="475488" cy="347472"/>
          </a:xfrm>
          <a:prstGeom prst="rect">
            <a:avLst/>
          </a:prstGeom>
          <a:noFill/>
          <a:ln/>
        </p:spPr>
        <p:txBody>
          <a:bodyPr wrap="square" lIns="0" tIns="0" rIns="0" bIns="0" rtlCol="0" anchor="ctr"/>
          <a:lstStyle/>
          <a:p>
            <a:pPr algn="ctr" indent="0" marL="0">
              <a:buNone/>
            </a:pPr>
            <a:r>
              <a:rPr lang="en-US" sz="1600" b="1" dirty="0">
                <a:solidFill>
                  <a:srgbClr val="F0A030"/>
                </a:solidFill>
                <a:latin typeface="Calibri" pitchFamily="34" charset="0"/>
                <a:ea typeface="Calibri" pitchFamily="34" charset="-122"/>
                <a:cs typeface="Calibri" pitchFamily="34" charset="-120"/>
              </a:rPr>
              <a:t>H1</a:t>
            </a:r>
            <a:endParaRPr lang="en-US" sz="1600" dirty="0"/>
          </a:p>
        </p:txBody>
      </p:sp>
      <p:sp>
        <p:nvSpPr>
          <p:cNvPr id="9" name="Text 6"/>
          <p:cNvSpPr/>
          <p:nvPr/>
        </p:nvSpPr>
        <p:spPr>
          <a:xfrm>
            <a:off x="5779008" y="1042416"/>
            <a:ext cx="2331720" cy="347472"/>
          </a:xfrm>
          <a:prstGeom prst="rect">
            <a:avLst/>
          </a:prstGeom>
          <a:noFill/>
          <a:ln/>
        </p:spPr>
        <p:txBody>
          <a:bodyPr wrap="square" lIns="0" tIns="0" rIns="0" bIns="0" rtlCol="0" anchor="ctr"/>
          <a:lstStyle/>
          <a:p>
            <a:pPr algn="l" indent="0" marL="0">
              <a:buNone/>
            </a:pPr>
            <a:r>
              <a:rPr lang="en-US" sz="1150" dirty="0">
                <a:solidFill>
                  <a:srgbClr val="EEF2F6"/>
                </a:solidFill>
                <a:latin typeface="Calibri" pitchFamily="34" charset="0"/>
                <a:ea typeface="Calibri" pitchFamily="34" charset="-122"/>
                <a:cs typeface="Calibri" pitchFamily="34" charset="-120"/>
              </a:rPr>
              <a:t>M2 vs M1 — coordination gain</a:t>
            </a:r>
            <a:endParaRPr lang="en-US" sz="1150" dirty="0"/>
          </a:p>
        </p:txBody>
      </p:sp>
      <p:sp>
        <p:nvSpPr>
          <p:cNvPr id="10" name="Text 7"/>
          <p:cNvSpPr/>
          <p:nvPr/>
        </p:nvSpPr>
        <p:spPr>
          <a:xfrm>
            <a:off x="8138160" y="1042416"/>
            <a:ext cx="585216" cy="347472"/>
          </a:xfrm>
          <a:prstGeom prst="rect">
            <a:avLst/>
          </a:prstGeom>
          <a:noFill/>
          <a:ln/>
        </p:spPr>
        <p:txBody>
          <a:bodyPr wrap="square" lIns="0" tIns="0" rIns="0" bIns="0" rtlCol="0" anchor="ctr"/>
          <a:lstStyle/>
          <a:p>
            <a:pPr algn="r" indent="0" marL="0">
              <a:buNone/>
            </a:pPr>
            <a:r>
              <a:rPr lang="en-US" sz="1100" b="1" dirty="0">
                <a:solidFill>
                  <a:srgbClr val="38B2CC"/>
                </a:solidFill>
                <a:latin typeface="Calibri" pitchFamily="34" charset="0"/>
                <a:ea typeface="Calibri" pitchFamily="34" charset="-122"/>
                <a:cs typeface="Calibri" pitchFamily="34" charset="-120"/>
              </a:rPr>
              <a:t>p &lt; 0.001</a:t>
            </a:r>
            <a:endParaRPr lang="en-US" sz="1100" dirty="0"/>
          </a:p>
        </p:txBody>
      </p:sp>
      <p:sp>
        <p:nvSpPr>
          <p:cNvPr id="11" name="Shape 8"/>
          <p:cNvSpPr/>
          <p:nvPr/>
        </p:nvSpPr>
        <p:spPr>
          <a:xfrm>
            <a:off x="5248656" y="1426464"/>
            <a:ext cx="3456432" cy="18288"/>
          </a:xfrm>
          <a:prstGeom prst="rect">
            <a:avLst/>
          </a:prstGeom>
          <a:solidFill>
            <a:srgbClr val="1C3550"/>
          </a:solidFill>
          <a:ln w="12700">
            <a:solidFill>
              <a:srgbClr val="1C3550"/>
            </a:solidFill>
            <a:prstDash val="solid"/>
          </a:ln>
        </p:spPr>
      </p:sp>
      <p:sp>
        <p:nvSpPr>
          <p:cNvPr id="12" name="Text 9"/>
          <p:cNvSpPr/>
          <p:nvPr/>
        </p:nvSpPr>
        <p:spPr>
          <a:xfrm>
            <a:off x="5248656" y="1463040"/>
            <a:ext cx="3456432" cy="256032"/>
          </a:xfrm>
          <a:prstGeom prst="rect">
            <a:avLst/>
          </a:prstGeom>
          <a:noFill/>
          <a:ln/>
        </p:spPr>
        <p:txBody>
          <a:bodyPr wrap="square" lIns="0" tIns="0" rIns="0" bIns="0" rtlCol="0" anchor="ctr"/>
          <a:lstStyle/>
          <a:p>
            <a:pPr algn="l" indent="0" marL="0">
              <a:buNone/>
            </a:pPr>
            <a:r>
              <a:rPr lang="en-US" sz="950" i="1" dirty="0">
                <a:solidFill>
                  <a:srgbClr val="4E6E88"/>
                </a:solidFill>
                <a:latin typeface="Calibri" pitchFamily="34" charset="0"/>
                <a:ea typeface="Calibri" pitchFamily="34" charset="-122"/>
                <a:cs typeface="Calibri" pitchFamily="34" charset="-120"/>
              </a:rPr>
              <a:t>Wilcoxon signed-rank (paired) · Bonferroni correction</a:t>
            </a:r>
            <a:endParaRPr lang="en-US" sz="950" dirty="0"/>
          </a:p>
        </p:txBody>
      </p:sp>
      <p:sp>
        <p:nvSpPr>
          <p:cNvPr id="13" name="Shape 10"/>
          <p:cNvSpPr/>
          <p:nvPr/>
        </p:nvSpPr>
        <p:spPr>
          <a:xfrm>
            <a:off x="5138928" y="1929384"/>
            <a:ext cx="3703320" cy="822960"/>
          </a:xfrm>
          <a:prstGeom prst="rect">
            <a:avLst/>
          </a:prstGeom>
          <a:solidFill>
            <a:srgbClr val="13243A"/>
          </a:solidFill>
          <a:ln w="12700">
            <a:solidFill>
              <a:srgbClr val="13243A"/>
            </a:solidFill>
            <a:prstDash val="solid"/>
          </a:ln>
        </p:spPr>
      </p:sp>
      <p:sp>
        <p:nvSpPr>
          <p:cNvPr id="14" name="Text 11"/>
          <p:cNvSpPr/>
          <p:nvPr/>
        </p:nvSpPr>
        <p:spPr>
          <a:xfrm>
            <a:off x="5248656" y="2002536"/>
            <a:ext cx="475488" cy="347472"/>
          </a:xfrm>
          <a:prstGeom prst="rect">
            <a:avLst/>
          </a:prstGeom>
          <a:noFill/>
          <a:ln/>
        </p:spPr>
        <p:txBody>
          <a:bodyPr wrap="square" lIns="0" tIns="0" rIns="0" bIns="0" rtlCol="0" anchor="ctr"/>
          <a:lstStyle/>
          <a:p>
            <a:pPr algn="ctr" indent="0" marL="0">
              <a:buNone/>
            </a:pPr>
            <a:r>
              <a:rPr lang="en-US" sz="1600" b="1" dirty="0">
                <a:solidFill>
                  <a:srgbClr val="F0A030"/>
                </a:solidFill>
                <a:latin typeface="Calibri" pitchFamily="34" charset="0"/>
                <a:ea typeface="Calibri" pitchFamily="34" charset="-122"/>
                <a:cs typeface="Calibri" pitchFamily="34" charset="-120"/>
              </a:rPr>
              <a:t>H2</a:t>
            </a:r>
            <a:endParaRPr lang="en-US" sz="1600" dirty="0"/>
          </a:p>
        </p:txBody>
      </p:sp>
      <p:sp>
        <p:nvSpPr>
          <p:cNvPr id="15" name="Text 12"/>
          <p:cNvSpPr/>
          <p:nvPr/>
        </p:nvSpPr>
        <p:spPr>
          <a:xfrm>
            <a:off x="5779008" y="2002536"/>
            <a:ext cx="2331720" cy="347472"/>
          </a:xfrm>
          <a:prstGeom prst="rect">
            <a:avLst/>
          </a:prstGeom>
          <a:noFill/>
          <a:ln/>
        </p:spPr>
        <p:txBody>
          <a:bodyPr wrap="square" lIns="0" tIns="0" rIns="0" bIns="0" rtlCol="0" anchor="ctr"/>
          <a:lstStyle/>
          <a:p>
            <a:pPr algn="l" indent="0" marL="0">
              <a:buNone/>
            </a:pPr>
            <a:r>
              <a:rPr lang="en-US" sz="1150" dirty="0">
                <a:solidFill>
                  <a:srgbClr val="EEF2F6"/>
                </a:solidFill>
                <a:latin typeface="Calibri" pitchFamily="34" charset="0"/>
                <a:ea typeface="Calibri" pitchFamily="34" charset="-122"/>
                <a:cs typeface="Calibri" pitchFamily="34" charset="-120"/>
              </a:rPr>
              <a:t>M3 vs M2 — energy penalty</a:t>
            </a:r>
            <a:endParaRPr lang="en-US" sz="1150" dirty="0"/>
          </a:p>
        </p:txBody>
      </p:sp>
      <p:sp>
        <p:nvSpPr>
          <p:cNvPr id="16" name="Text 13"/>
          <p:cNvSpPr/>
          <p:nvPr/>
        </p:nvSpPr>
        <p:spPr>
          <a:xfrm>
            <a:off x="8138160" y="2002536"/>
            <a:ext cx="585216" cy="347472"/>
          </a:xfrm>
          <a:prstGeom prst="rect">
            <a:avLst/>
          </a:prstGeom>
          <a:noFill/>
          <a:ln/>
        </p:spPr>
        <p:txBody>
          <a:bodyPr wrap="square" lIns="0" tIns="0" rIns="0" bIns="0" rtlCol="0" anchor="ctr"/>
          <a:lstStyle/>
          <a:p>
            <a:pPr algn="r" indent="0" marL="0">
              <a:buNone/>
            </a:pPr>
            <a:r>
              <a:rPr lang="en-US" sz="1100" b="1" dirty="0">
                <a:solidFill>
                  <a:srgbClr val="38B2CC"/>
                </a:solidFill>
                <a:latin typeface="Calibri" pitchFamily="34" charset="0"/>
                <a:ea typeface="Calibri" pitchFamily="34" charset="-122"/>
                <a:cs typeface="Calibri" pitchFamily="34" charset="-120"/>
              </a:rPr>
              <a:t>p &lt; 0.001</a:t>
            </a:r>
            <a:endParaRPr lang="en-US" sz="1100" dirty="0"/>
          </a:p>
        </p:txBody>
      </p:sp>
      <p:sp>
        <p:nvSpPr>
          <p:cNvPr id="17" name="Shape 14"/>
          <p:cNvSpPr/>
          <p:nvPr/>
        </p:nvSpPr>
        <p:spPr>
          <a:xfrm>
            <a:off x="5248656" y="2386584"/>
            <a:ext cx="3456432" cy="18288"/>
          </a:xfrm>
          <a:prstGeom prst="rect">
            <a:avLst/>
          </a:prstGeom>
          <a:solidFill>
            <a:srgbClr val="1C3550"/>
          </a:solidFill>
          <a:ln w="12700">
            <a:solidFill>
              <a:srgbClr val="1C3550"/>
            </a:solidFill>
            <a:prstDash val="solid"/>
          </a:ln>
        </p:spPr>
      </p:sp>
      <p:sp>
        <p:nvSpPr>
          <p:cNvPr id="18" name="Text 15"/>
          <p:cNvSpPr/>
          <p:nvPr/>
        </p:nvSpPr>
        <p:spPr>
          <a:xfrm>
            <a:off x="5248656" y="2423160"/>
            <a:ext cx="3456432" cy="256032"/>
          </a:xfrm>
          <a:prstGeom prst="rect">
            <a:avLst/>
          </a:prstGeom>
          <a:noFill/>
          <a:ln/>
        </p:spPr>
        <p:txBody>
          <a:bodyPr wrap="square" lIns="0" tIns="0" rIns="0" bIns="0" rtlCol="0" anchor="ctr"/>
          <a:lstStyle/>
          <a:p>
            <a:pPr algn="l" indent="0" marL="0">
              <a:buNone/>
            </a:pPr>
            <a:r>
              <a:rPr lang="en-US" sz="950" i="1" dirty="0">
                <a:solidFill>
                  <a:srgbClr val="4E6E88"/>
                </a:solidFill>
                <a:latin typeface="Calibri" pitchFamily="34" charset="0"/>
                <a:ea typeface="Calibri" pitchFamily="34" charset="-122"/>
                <a:cs typeface="Calibri" pitchFamily="34" charset="-120"/>
              </a:rPr>
              <a:t>Wilcoxon signed-rank (paired) · Bonferroni correction</a:t>
            </a:r>
            <a:endParaRPr lang="en-US" sz="950" dirty="0"/>
          </a:p>
        </p:txBody>
      </p:sp>
      <p:sp>
        <p:nvSpPr>
          <p:cNvPr id="19" name="Shape 16"/>
          <p:cNvSpPr/>
          <p:nvPr/>
        </p:nvSpPr>
        <p:spPr>
          <a:xfrm>
            <a:off x="5138928" y="2889504"/>
            <a:ext cx="3703320" cy="822960"/>
          </a:xfrm>
          <a:prstGeom prst="rect">
            <a:avLst/>
          </a:prstGeom>
          <a:solidFill>
            <a:srgbClr val="13243A"/>
          </a:solidFill>
          <a:ln w="12700">
            <a:solidFill>
              <a:srgbClr val="13243A"/>
            </a:solidFill>
            <a:prstDash val="solid"/>
          </a:ln>
        </p:spPr>
      </p:sp>
      <p:sp>
        <p:nvSpPr>
          <p:cNvPr id="20" name="Text 17"/>
          <p:cNvSpPr/>
          <p:nvPr/>
        </p:nvSpPr>
        <p:spPr>
          <a:xfrm>
            <a:off x="5248656" y="2962656"/>
            <a:ext cx="475488" cy="347472"/>
          </a:xfrm>
          <a:prstGeom prst="rect">
            <a:avLst/>
          </a:prstGeom>
          <a:noFill/>
          <a:ln/>
        </p:spPr>
        <p:txBody>
          <a:bodyPr wrap="square" lIns="0" tIns="0" rIns="0" bIns="0" rtlCol="0" anchor="ctr"/>
          <a:lstStyle/>
          <a:p>
            <a:pPr algn="ctr" indent="0" marL="0">
              <a:buNone/>
            </a:pPr>
            <a:r>
              <a:rPr lang="en-US" sz="1600" b="1" dirty="0">
                <a:solidFill>
                  <a:srgbClr val="F0A030"/>
                </a:solidFill>
                <a:latin typeface="Calibri" pitchFamily="34" charset="0"/>
                <a:ea typeface="Calibri" pitchFamily="34" charset="-122"/>
                <a:cs typeface="Calibri" pitchFamily="34" charset="-120"/>
              </a:rPr>
              <a:t>H3</a:t>
            </a:r>
            <a:endParaRPr lang="en-US" sz="1600" dirty="0"/>
          </a:p>
        </p:txBody>
      </p:sp>
      <p:sp>
        <p:nvSpPr>
          <p:cNvPr id="21" name="Text 18"/>
          <p:cNvSpPr/>
          <p:nvPr/>
        </p:nvSpPr>
        <p:spPr>
          <a:xfrm>
            <a:off x="5779008" y="2962656"/>
            <a:ext cx="2331720" cy="347472"/>
          </a:xfrm>
          <a:prstGeom prst="rect">
            <a:avLst/>
          </a:prstGeom>
          <a:noFill/>
          <a:ln/>
        </p:spPr>
        <p:txBody>
          <a:bodyPr wrap="square" lIns="0" tIns="0" rIns="0" bIns="0" rtlCol="0" anchor="ctr"/>
          <a:lstStyle/>
          <a:p>
            <a:pPr algn="l" indent="0" marL="0">
              <a:buNone/>
            </a:pPr>
            <a:r>
              <a:rPr lang="en-US" sz="1150" dirty="0">
                <a:solidFill>
                  <a:srgbClr val="EEF2F6"/>
                </a:solidFill>
                <a:latin typeface="Calibri" pitchFamily="34" charset="0"/>
                <a:ea typeface="Calibri" pitchFamily="34" charset="-122"/>
                <a:cs typeface="Calibri" pitchFamily="34" charset="-120"/>
              </a:rPr>
              <a:t>M4* vs M3 — multi-sortie recovery</a:t>
            </a:r>
            <a:endParaRPr lang="en-US" sz="1150" dirty="0"/>
          </a:p>
        </p:txBody>
      </p:sp>
      <p:sp>
        <p:nvSpPr>
          <p:cNvPr id="22" name="Text 19"/>
          <p:cNvSpPr/>
          <p:nvPr/>
        </p:nvSpPr>
        <p:spPr>
          <a:xfrm>
            <a:off x="8138160" y="2962656"/>
            <a:ext cx="585216" cy="347472"/>
          </a:xfrm>
          <a:prstGeom prst="rect">
            <a:avLst/>
          </a:prstGeom>
          <a:noFill/>
          <a:ln/>
        </p:spPr>
        <p:txBody>
          <a:bodyPr wrap="square" lIns="0" tIns="0" rIns="0" bIns="0" rtlCol="0" anchor="ctr"/>
          <a:lstStyle/>
          <a:p>
            <a:pPr algn="r" indent="0" marL="0">
              <a:buNone/>
            </a:pPr>
            <a:r>
              <a:rPr lang="en-US" sz="1100" b="1" dirty="0">
                <a:solidFill>
                  <a:srgbClr val="38B2CC"/>
                </a:solidFill>
                <a:latin typeface="Calibri" pitchFamily="34" charset="0"/>
                <a:ea typeface="Calibri" pitchFamily="34" charset="-122"/>
                <a:cs typeface="Calibri" pitchFamily="34" charset="-120"/>
              </a:rPr>
              <a:t>p &lt; 0.001</a:t>
            </a:r>
            <a:endParaRPr lang="en-US" sz="1100" dirty="0"/>
          </a:p>
        </p:txBody>
      </p:sp>
      <p:sp>
        <p:nvSpPr>
          <p:cNvPr id="23" name="Shape 20"/>
          <p:cNvSpPr/>
          <p:nvPr/>
        </p:nvSpPr>
        <p:spPr>
          <a:xfrm>
            <a:off x="5248656" y="3346704"/>
            <a:ext cx="3456432" cy="18288"/>
          </a:xfrm>
          <a:prstGeom prst="rect">
            <a:avLst/>
          </a:prstGeom>
          <a:solidFill>
            <a:srgbClr val="1C3550"/>
          </a:solidFill>
          <a:ln w="12700">
            <a:solidFill>
              <a:srgbClr val="1C3550"/>
            </a:solidFill>
            <a:prstDash val="solid"/>
          </a:ln>
        </p:spPr>
      </p:sp>
      <p:sp>
        <p:nvSpPr>
          <p:cNvPr id="24" name="Text 21"/>
          <p:cNvSpPr/>
          <p:nvPr/>
        </p:nvSpPr>
        <p:spPr>
          <a:xfrm>
            <a:off x="5248656" y="3383280"/>
            <a:ext cx="3456432" cy="256032"/>
          </a:xfrm>
          <a:prstGeom prst="rect">
            <a:avLst/>
          </a:prstGeom>
          <a:noFill/>
          <a:ln/>
        </p:spPr>
        <p:txBody>
          <a:bodyPr wrap="square" lIns="0" tIns="0" rIns="0" bIns="0" rtlCol="0" anchor="ctr"/>
          <a:lstStyle/>
          <a:p>
            <a:pPr algn="l" indent="0" marL="0">
              <a:buNone/>
            </a:pPr>
            <a:r>
              <a:rPr lang="en-US" sz="950" i="1" dirty="0">
                <a:solidFill>
                  <a:srgbClr val="4E6E88"/>
                </a:solidFill>
                <a:latin typeface="Calibri" pitchFamily="34" charset="0"/>
                <a:ea typeface="Calibri" pitchFamily="34" charset="-122"/>
                <a:cs typeface="Calibri" pitchFamily="34" charset="-120"/>
              </a:rPr>
              <a:t>Wilcoxon signed-rank (paired) · Bonferroni correction</a:t>
            </a:r>
            <a:endParaRPr lang="en-US" sz="950" dirty="0"/>
          </a:p>
        </p:txBody>
      </p:sp>
      <p:sp>
        <p:nvSpPr>
          <p:cNvPr id="25" name="Shape 22"/>
          <p:cNvSpPr/>
          <p:nvPr/>
        </p:nvSpPr>
        <p:spPr>
          <a:xfrm>
            <a:off x="5138928" y="3849624"/>
            <a:ext cx="3703320" cy="822960"/>
          </a:xfrm>
          <a:prstGeom prst="rect">
            <a:avLst/>
          </a:prstGeom>
          <a:solidFill>
            <a:srgbClr val="13243A"/>
          </a:solidFill>
          <a:ln w="12700">
            <a:solidFill>
              <a:srgbClr val="13243A"/>
            </a:solidFill>
            <a:prstDash val="solid"/>
          </a:ln>
        </p:spPr>
      </p:sp>
      <p:sp>
        <p:nvSpPr>
          <p:cNvPr id="26" name="Text 23"/>
          <p:cNvSpPr/>
          <p:nvPr/>
        </p:nvSpPr>
        <p:spPr>
          <a:xfrm>
            <a:off x="5248656" y="3922776"/>
            <a:ext cx="475488" cy="347472"/>
          </a:xfrm>
          <a:prstGeom prst="rect">
            <a:avLst/>
          </a:prstGeom>
          <a:noFill/>
          <a:ln/>
        </p:spPr>
        <p:txBody>
          <a:bodyPr wrap="square" lIns="0" tIns="0" rIns="0" bIns="0" rtlCol="0" anchor="ctr"/>
          <a:lstStyle/>
          <a:p>
            <a:pPr algn="ctr" indent="0" marL="0">
              <a:buNone/>
            </a:pPr>
            <a:r>
              <a:rPr lang="en-US" sz="1600" b="1" dirty="0">
                <a:solidFill>
                  <a:srgbClr val="F0A030"/>
                </a:solidFill>
                <a:latin typeface="Calibri" pitchFamily="34" charset="0"/>
                <a:ea typeface="Calibri" pitchFamily="34" charset="-122"/>
                <a:cs typeface="Calibri" pitchFamily="34" charset="-120"/>
              </a:rPr>
              <a:t>H4</a:t>
            </a:r>
            <a:endParaRPr lang="en-US" sz="1600" dirty="0"/>
          </a:p>
        </p:txBody>
      </p:sp>
      <p:sp>
        <p:nvSpPr>
          <p:cNvPr id="27" name="Text 24"/>
          <p:cNvSpPr/>
          <p:nvPr/>
        </p:nvSpPr>
        <p:spPr>
          <a:xfrm>
            <a:off x="5779008" y="3922776"/>
            <a:ext cx="2331720" cy="347472"/>
          </a:xfrm>
          <a:prstGeom prst="rect">
            <a:avLst/>
          </a:prstGeom>
          <a:noFill/>
          <a:ln/>
        </p:spPr>
        <p:txBody>
          <a:bodyPr wrap="square" lIns="0" tIns="0" rIns="0" bIns="0" rtlCol="0" anchor="ctr"/>
          <a:lstStyle/>
          <a:p>
            <a:pPr algn="l" indent="0" marL="0">
              <a:buNone/>
            </a:pPr>
            <a:r>
              <a:rPr lang="en-US" sz="1150" dirty="0">
                <a:solidFill>
                  <a:srgbClr val="EEF2F6"/>
                </a:solidFill>
                <a:latin typeface="Calibri" pitchFamily="34" charset="0"/>
                <a:ea typeface="Calibri" pitchFamily="34" charset="-122"/>
                <a:cs typeface="Calibri" pitchFamily="34" charset="-120"/>
              </a:rPr>
              <a:t>M4* vs M4 — p/d² vs p/d</a:t>
            </a:r>
            <a:endParaRPr lang="en-US" sz="1150" dirty="0"/>
          </a:p>
        </p:txBody>
      </p:sp>
      <p:sp>
        <p:nvSpPr>
          <p:cNvPr id="28" name="Text 25"/>
          <p:cNvSpPr/>
          <p:nvPr/>
        </p:nvSpPr>
        <p:spPr>
          <a:xfrm>
            <a:off x="8138160" y="3922776"/>
            <a:ext cx="585216" cy="347472"/>
          </a:xfrm>
          <a:prstGeom prst="rect">
            <a:avLst/>
          </a:prstGeom>
          <a:noFill/>
          <a:ln/>
        </p:spPr>
        <p:txBody>
          <a:bodyPr wrap="square" lIns="0" tIns="0" rIns="0" bIns="0" rtlCol="0" anchor="ctr"/>
          <a:lstStyle/>
          <a:p>
            <a:pPr algn="r" indent="0" marL="0">
              <a:buNone/>
            </a:pPr>
            <a:r>
              <a:rPr lang="en-US" sz="1100" b="1" dirty="0">
                <a:solidFill>
                  <a:srgbClr val="38B2CC"/>
                </a:solidFill>
                <a:latin typeface="Calibri" pitchFamily="34" charset="0"/>
                <a:ea typeface="Calibri" pitchFamily="34" charset="-122"/>
                <a:cs typeface="Calibri" pitchFamily="34" charset="-120"/>
              </a:rPr>
              <a:t>p &lt; 0.001</a:t>
            </a:r>
            <a:endParaRPr lang="en-US" sz="1100" dirty="0"/>
          </a:p>
        </p:txBody>
      </p:sp>
      <p:sp>
        <p:nvSpPr>
          <p:cNvPr id="29" name="Shape 26"/>
          <p:cNvSpPr/>
          <p:nvPr/>
        </p:nvSpPr>
        <p:spPr>
          <a:xfrm>
            <a:off x="5248656" y="4306824"/>
            <a:ext cx="3456432" cy="18288"/>
          </a:xfrm>
          <a:prstGeom prst="rect">
            <a:avLst/>
          </a:prstGeom>
          <a:solidFill>
            <a:srgbClr val="1C3550"/>
          </a:solidFill>
          <a:ln w="12700">
            <a:solidFill>
              <a:srgbClr val="1C3550"/>
            </a:solidFill>
            <a:prstDash val="solid"/>
          </a:ln>
        </p:spPr>
      </p:sp>
      <p:sp>
        <p:nvSpPr>
          <p:cNvPr id="30" name="Text 27"/>
          <p:cNvSpPr/>
          <p:nvPr/>
        </p:nvSpPr>
        <p:spPr>
          <a:xfrm>
            <a:off x="5248656" y="4343400"/>
            <a:ext cx="3456432" cy="256032"/>
          </a:xfrm>
          <a:prstGeom prst="rect">
            <a:avLst/>
          </a:prstGeom>
          <a:noFill/>
          <a:ln/>
        </p:spPr>
        <p:txBody>
          <a:bodyPr wrap="square" lIns="0" tIns="0" rIns="0" bIns="0" rtlCol="0" anchor="ctr"/>
          <a:lstStyle/>
          <a:p>
            <a:pPr algn="l" indent="0" marL="0">
              <a:buNone/>
            </a:pPr>
            <a:r>
              <a:rPr lang="en-US" sz="950" i="1" dirty="0">
                <a:solidFill>
                  <a:srgbClr val="4E6E88"/>
                </a:solidFill>
                <a:latin typeface="Calibri" pitchFamily="34" charset="0"/>
                <a:ea typeface="Calibri" pitchFamily="34" charset="-122"/>
                <a:cs typeface="Calibri" pitchFamily="34" charset="-120"/>
              </a:rPr>
              <a:t>Wilcoxon signed-rank (paired) · Bonferroni correction</a:t>
            </a:r>
            <a:endParaRPr lang="en-US" sz="950" dirty="0"/>
          </a:p>
        </p:txBody>
      </p:sp>
      <p:sp>
        <p:nvSpPr>
          <p:cNvPr id="31" name="Text 28"/>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E32"/>
        </a:solidFill>
      </p:bgPr>
    </p:bg>
    <p:spTree>
      <p:nvGrpSpPr>
        <p:cNvPr id="1" name=""/>
        <p:cNvGrpSpPr/>
        <p:nvPr/>
      </p:nvGrpSpPr>
      <p:grpSpPr>
        <a:xfrm>
          <a:off x="0" y="0"/>
          <a:ext cx="0" cy="0"/>
          <a:chOff x="0" y="0"/>
          <a:chExt cx="0" cy="0"/>
        </a:xfrm>
      </p:grpSpPr>
      <p:sp>
        <p:nvSpPr>
          <p:cNvPr id="2" name="Shape 0"/>
          <p:cNvSpPr/>
          <p:nvPr/>
        </p:nvSpPr>
        <p:spPr>
          <a:xfrm>
            <a:off x="0" y="0"/>
            <a:ext cx="91440" cy="5148072"/>
          </a:xfrm>
          <a:prstGeom prst="rect">
            <a:avLst/>
          </a:prstGeom>
          <a:solidFill>
            <a:srgbClr val="F0A030"/>
          </a:solidFill>
          <a:ln w="12700">
            <a:solidFill>
              <a:srgbClr val="F0A030"/>
            </a:solidFill>
            <a:prstDash val="solid"/>
          </a:ln>
        </p:spPr>
      </p:sp>
      <p:sp>
        <p:nvSpPr>
          <p:cNvPr id="3" name="Text 1"/>
          <p:cNvSpPr/>
          <p:nvPr/>
        </p:nvSpPr>
        <p:spPr>
          <a:xfrm>
            <a:off x="5029200" y="457200"/>
            <a:ext cx="3657600" cy="4206240"/>
          </a:xfrm>
          <a:prstGeom prst="rect">
            <a:avLst/>
          </a:prstGeom>
          <a:noFill/>
          <a:ln/>
        </p:spPr>
        <p:txBody>
          <a:bodyPr wrap="square" lIns="0" tIns="0" rIns="0" bIns="0" rtlCol="0" anchor="ctr"/>
          <a:lstStyle/>
          <a:p>
            <a:pPr algn="r" indent="0" marL="0">
              <a:buNone/>
            </a:pPr>
            <a:r>
              <a:rPr lang="en-US" sz="14000" b="1" dirty="0">
                <a:solidFill>
                  <a:srgbClr val="1A2E42"/>
                </a:solidFill>
                <a:latin typeface="Calibri" pitchFamily="34" charset="0"/>
                <a:ea typeface="Calibri" pitchFamily="34" charset="-122"/>
                <a:cs typeface="Calibri" pitchFamily="34" charset="-120"/>
              </a:rPr>
              <a:t>IV</a:t>
            </a:r>
            <a:endParaRPr lang="en-US" sz="14000" dirty="0"/>
          </a:p>
        </p:txBody>
      </p:sp>
      <p:sp>
        <p:nvSpPr>
          <p:cNvPr id="4" name="Text 2"/>
          <p:cNvSpPr/>
          <p:nvPr/>
        </p:nvSpPr>
        <p:spPr>
          <a:xfrm>
            <a:off x="365760" y="1280160"/>
            <a:ext cx="1645920" cy="1280160"/>
          </a:xfrm>
          <a:prstGeom prst="rect">
            <a:avLst/>
          </a:prstGeom>
          <a:noFill/>
          <a:ln/>
        </p:spPr>
        <p:txBody>
          <a:bodyPr wrap="square" lIns="0" tIns="0" rIns="0" bIns="0" rtlCol="0" anchor="ctr"/>
          <a:lstStyle/>
          <a:p>
            <a:pPr algn="l" indent="0" marL="0">
              <a:buNone/>
            </a:pPr>
            <a:r>
              <a:rPr lang="en-US" sz="7200" b="1" dirty="0">
                <a:solidFill>
                  <a:srgbClr val="1A3050"/>
                </a:solidFill>
                <a:latin typeface="Calibri" pitchFamily="34" charset="0"/>
                <a:ea typeface="Calibri" pitchFamily="34" charset="-122"/>
                <a:cs typeface="Calibri" pitchFamily="34" charset="-120"/>
              </a:rPr>
              <a:t>IV</a:t>
            </a:r>
            <a:endParaRPr lang="en-US" sz="7200" dirty="0"/>
          </a:p>
        </p:txBody>
      </p:sp>
      <p:sp>
        <p:nvSpPr>
          <p:cNvPr id="5" name="Text 3"/>
          <p:cNvSpPr/>
          <p:nvPr/>
        </p:nvSpPr>
        <p:spPr>
          <a:xfrm>
            <a:off x="365760" y="2743200"/>
            <a:ext cx="8046720" cy="658368"/>
          </a:xfrm>
          <a:prstGeom prst="rect">
            <a:avLst/>
          </a:prstGeom>
          <a:noFill/>
          <a:ln/>
        </p:spPr>
        <p:txBody>
          <a:bodyPr wrap="square" lIns="0" tIns="0" rIns="0" bIns="0" rtlCol="0" anchor="ctr"/>
          <a:lstStyle/>
          <a:p>
            <a:pPr algn="l" indent="0" marL="0">
              <a:buNone/>
            </a:pPr>
            <a:r>
              <a:rPr lang="en-US" sz="3400" b="1" dirty="0">
                <a:solidFill>
                  <a:srgbClr val="EEF2F6"/>
                </a:solidFill>
                <a:latin typeface="Calibri" pitchFamily="34" charset="0"/>
                <a:ea typeface="Calibri" pitchFamily="34" charset="-122"/>
                <a:cs typeface="Calibri" pitchFamily="34" charset="-120"/>
              </a:rPr>
              <a:t>The Tools</a:t>
            </a:r>
            <a:endParaRPr lang="en-US" sz="3400" dirty="0"/>
          </a:p>
        </p:txBody>
      </p:sp>
      <p:sp>
        <p:nvSpPr>
          <p:cNvPr id="6" name="Text 4"/>
          <p:cNvSpPr/>
          <p:nvPr/>
        </p:nvSpPr>
        <p:spPr>
          <a:xfrm>
            <a:off x="365760" y="3456432"/>
            <a:ext cx="8046720" cy="365760"/>
          </a:xfrm>
          <a:prstGeom prst="rect">
            <a:avLst/>
          </a:prstGeom>
          <a:noFill/>
          <a:ln/>
        </p:spPr>
        <p:txBody>
          <a:bodyPr wrap="square" lIns="0" tIns="0" rIns="0" bIns="0" rtlCol="0" anchor="ctr"/>
          <a:lstStyle/>
          <a:p>
            <a:pPr algn="l" indent="0" marL="0">
              <a:buNone/>
            </a:pPr>
            <a:r>
              <a:rPr lang="en-US" sz="1400" i="1" dirty="0">
                <a:solidFill>
                  <a:srgbClr val="4E6E88"/>
                </a:solidFill>
                <a:latin typeface="Calibri" pitchFamily="34" charset="0"/>
                <a:ea typeface="Calibri" pitchFamily="34" charset="-122"/>
                <a:cs typeface="Calibri" pitchFamily="34" charset="-120"/>
              </a:rPr>
              <a:t>Open-source library, interactive simulator, and 3D physical demo.</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60E18"/>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PHYSICAL SIMULATION</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700" b="1" dirty="0">
                <a:solidFill>
                  <a:srgbClr val="EEF2F6"/>
                </a:solidFill>
                <a:latin typeface="Calibri" pitchFamily="34" charset="0"/>
                <a:ea typeface="Calibri" pitchFamily="34" charset="-122"/>
                <a:cs typeface="Calibri" pitchFamily="34" charset="-120"/>
              </a:rPr>
              <a:t>3D Physics Simulation: Drones in Action</a:t>
            </a:r>
            <a:endParaRPr lang="en-US" sz="27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pic>
        <p:nvPicPr>
          <p:cNvPr id="5" name="Image 0" descr="C:\Users\fooja\Documents\GitHub\Multi-Robot-Algo\.claude\worktrees\flamboyant-rosalind-2467e7\pybullet_demo\screenshots\01_initial_scene.png">    </p:cNvPr>
          <p:cNvPicPr>
            <a:picLocks noChangeAspect="1"/>
          </p:cNvPicPr>
          <p:nvPr/>
        </p:nvPicPr>
        <p:blipFill>
          <a:blip r:embed="rId1"/>
          <a:stretch>
            <a:fillRect/>
          </a:stretch>
        </p:blipFill>
        <p:spPr>
          <a:xfrm>
            <a:off x="292608" y="932688"/>
            <a:ext cx="4059936" cy="1755648"/>
          </a:xfrm>
          <a:prstGeom prst="rect">
            <a:avLst/>
          </a:prstGeom>
        </p:spPr>
      </p:pic>
      <p:sp>
        <p:nvSpPr>
          <p:cNvPr id="6" name="Text 3"/>
          <p:cNvSpPr/>
          <p:nvPr/>
        </p:nvSpPr>
        <p:spPr>
          <a:xfrm>
            <a:off x="292608" y="2706624"/>
            <a:ext cx="4059936" cy="201168"/>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Scene setup — 3 drones at base, 10 candidate sites</a:t>
            </a:r>
            <a:endParaRPr lang="en-US" sz="950" dirty="0"/>
          </a:p>
        </p:txBody>
      </p:sp>
      <p:pic>
        <p:nvPicPr>
          <p:cNvPr id="7" name="Image 1" descr="C:\Users\fooja\Documents\GitHub\Multi-Robot-Algo\.claude\worktrees\flamboyant-rosalind-2467e7\pybullet_demo\screenshots\02_drones_in_flight.png">    </p:cNvPr>
          <p:cNvPicPr>
            <a:picLocks noChangeAspect="1"/>
          </p:cNvPicPr>
          <p:nvPr/>
        </p:nvPicPr>
        <p:blipFill>
          <a:blip r:embed="rId2"/>
          <a:stretch>
            <a:fillRect/>
          </a:stretch>
        </p:blipFill>
        <p:spPr>
          <a:xfrm>
            <a:off x="4645152" y="932688"/>
            <a:ext cx="4059936" cy="1755648"/>
          </a:xfrm>
          <a:prstGeom prst="rect">
            <a:avLst/>
          </a:prstGeom>
        </p:spPr>
      </p:pic>
      <p:sp>
        <p:nvSpPr>
          <p:cNvPr id="8" name="Text 4"/>
          <p:cNvSpPr/>
          <p:nvPr/>
        </p:nvSpPr>
        <p:spPr>
          <a:xfrm>
            <a:off x="4645152" y="2706624"/>
            <a:ext cx="4059936" cy="201168"/>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M4* sorties in progress</a:t>
            </a:r>
            <a:endParaRPr lang="en-US" sz="950" dirty="0"/>
          </a:p>
        </p:txBody>
      </p:sp>
      <p:pic>
        <p:nvPicPr>
          <p:cNvPr id="9" name="Image 2" descr="C:\Users\fooja\Documents\GitHub\Multi-Robot-Algo\.claude\worktrees\flamboyant-rosalind-2467e7\pybullet_demo\screenshots\03_target_found.png">    </p:cNvPr>
          <p:cNvPicPr>
            <a:picLocks noChangeAspect="1"/>
          </p:cNvPicPr>
          <p:nvPr/>
        </p:nvPicPr>
        <p:blipFill>
          <a:blip r:embed="rId3"/>
          <a:stretch>
            <a:fillRect/>
          </a:stretch>
        </p:blipFill>
        <p:spPr>
          <a:xfrm>
            <a:off x="292608" y="2871216"/>
            <a:ext cx="4059936" cy="1755648"/>
          </a:xfrm>
          <a:prstGeom prst="rect">
            <a:avLst/>
          </a:prstGeom>
        </p:spPr>
      </p:pic>
      <p:sp>
        <p:nvSpPr>
          <p:cNvPr id="10" name="Text 5"/>
          <p:cNvSpPr/>
          <p:nvPr/>
        </p:nvSpPr>
        <p:spPr>
          <a:xfrm>
            <a:off x="292608" y="4645152"/>
            <a:ext cx="4059936" cy="201168"/>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Finder locates the survivor</a:t>
            </a:r>
            <a:endParaRPr lang="en-US" sz="950" dirty="0"/>
          </a:p>
        </p:txBody>
      </p:sp>
      <p:pic>
        <p:nvPicPr>
          <p:cNvPr id="11" name="Image 3" descr="C:\Users\fooja\Documents\GitHub\Multi-Robot-Algo\.claude\worktrees\flamboyant-rosalind-2467e7\pybullet_demo\screenshots\04_replay_finished.png">    </p:cNvPr>
          <p:cNvPicPr>
            <a:picLocks noChangeAspect="1"/>
          </p:cNvPicPr>
          <p:nvPr/>
        </p:nvPicPr>
        <p:blipFill>
          <a:blip r:embed="rId4"/>
          <a:stretch>
            <a:fillRect/>
          </a:stretch>
        </p:blipFill>
        <p:spPr>
          <a:xfrm>
            <a:off x="4645152" y="2871216"/>
            <a:ext cx="4059936" cy="1755648"/>
          </a:xfrm>
          <a:prstGeom prst="rect">
            <a:avLst/>
          </a:prstGeom>
        </p:spPr>
      </p:pic>
      <p:sp>
        <p:nvSpPr>
          <p:cNvPr id="12" name="Text 6"/>
          <p:cNvSpPr/>
          <p:nvPr/>
        </p:nvSpPr>
        <p:spPr>
          <a:xfrm>
            <a:off x="4645152" y="4645152"/>
            <a:ext cx="4059936" cy="201168"/>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Mission complete — paths rendered</a:t>
            </a:r>
            <a:endParaRPr lang="en-US" sz="950" dirty="0"/>
          </a:p>
        </p:txBody>
      </p:sp>
      <p:sp>
        <p:nvSpPr>
          <p:cNvPr id="13" name="Text 7"/>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LIVE DEMO</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600" b="1" dirty="0">
                <a:solidFill>
                  <a:srgbClr val="EEF2F6"/>
                </a:solidFill>
                <a:latin typeface="Calibri" pitchFamily="34" charset="0"/>
                <a:ea typeface="Calibri" pitchFamily="34" charset="-122"/>
                <a:cs typeface="Calibri" pitchFamily="34" charset="-120"/>
              </a:rPr>
              <a:t>Interactive Web Simulator — Live Demo Guide</a:t>
            </a:r>
            <a:endParaRPr lang="en-US" sz="26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pic>
        <p:nvPicPr>
          <p:cNvPr id="5" name="Image 0" descr="C:\Users\fooja\Documents\GitHub\Multi-Robot-Algo\.claude\worktrees\flamboyant-rosalind-2467e7\thesis\figures\fig_simulation_snapshot_v2.png">    </p:cNvPr>
          <p:cNvPicPr>
            <a:picLocks noChangeAspect="1"/>
          </p:cNvPicPr>
          <p:nvPr/>
        </p:nvPicPr>
        <p:blipFill>
          <a:blip r:embed="rId1"/>
          <a:stretch>
            <a:fillRect/>
          </a:stretch>
        </p:blipFill>
        <p:spPr>
          <a:xfrm>
            <a:off x="292608" y="914400"/>
            <a:ext cx="4572000" cy="3931920"/>
          </a:xfrm>
          <a:prstGeom prst="rect">
            <a:avLst/>
          </a:prstGeom>
        </p:spPr>
      </p:pic>
      <p:sp>
        <p:nvSpPr>
          <p:cNvPr id="6" name="Text 3"/>
          <p:cNvSpPr/>
          <p:nvPr/>
        </p:nvSpPr>
        <p:spPr>
          <a:xfrm>
            <a:off x="292608" y="4882896"/>
            <a:ext cx="4572000" cy="237744"/>
          </a:xfrm>
          <a:prstGeom prst="rect">
            <a:avLst/>
          </a:prstGeom>
          <a:noFill/>
          <a:ln/>
        </p:spPr>
        <p:txBody>
          <a:bodyPr wrap="square" lIns="0" tIns="0" rIns="0" bIns="0" rtlCol="0" anchor="ctr"/>
          <a:lstStyle/>
          <a:p>
            <a:pPr algn="ctr" indent="0" marL="0">
              <a:buNone/>
            </a:pPr>
            <a:r>
              <a:rPr lang="en-US" sz="950" i="1" dirty="0">
                <a:solidFill>
                  <a:srgbClr val="4E6E88"/>
                </a:solidFill>
                <a:latin typeface="Calibri" pitchFamily="34" charset="0"/>
                <a:ea typeface="Calibri" pitchFamily="34" charset="-122"/>
                <a:cs typeface="Calibri" pitchFamily="34" charset="-120"/>
              </a:rPr>
              <a:t>Simulator: configure n, R, E, select model, watch search unfold step by step.</a:t>
            </a:r>
            <a:endParaRPr lang="en-US" sz="950" dirty="0"/>
          </a:p>
        </p:txBody>
      </p:sp>
      <p:sp>
        <p:nvSpPr>
          <p:cNvPr id="7" name="Text 4"/>
          <p:cNvSpPr/>
          <p:nvPr/>
        </p:nvSpPr>
        <p:spPr>
          <a:xfrm>
            <a:off x="5029200" y="987552"/>
            <a:ext cx="3794760" cy="274320"/>
          </a:xfrm>
          <a:prstGeom prst="rect">
            <a:avLst/>
          </a:prstGeom>
          <a:noFill/>
          <a:ln/>
        </p:spPr>
        <p:txBody>
          <a:bodyPr wrap="square" lIns="0" tIns="0" rIns="0" bIns="0" rtlCol="0" anchor="ctr"/>
          <a:lstStyle/>
          <a:p>
            <a:pPr algn="l" indent="0" marL="0">
              <a:buNone/>
            </a:pPr>
            <a:r>
              <a:rPr lang="en-US" sz="1300" b="1" dirty="0">
                <a:solidFill>
                  <a:srgbClr val="F0A030"/>
                </a:solidFill>
                <a:latin typeface="Calibri" pitchFamily="34" charset="0"/>
                <a:ea typeface="Calibri" pitchFamily="34" charset="-122"/>
                <a:cs typeface="Calibri" pitchFamily="34" charset="-120"/>
              </a:rPr>
              <a:t>Run it live:</a:t>
            </a:r>
            <a:endParaRPr lang="en-US" sz="1300" dirty="0"/>
          </a:p>
        </p:txBody>
      </p:sp>
      <p:sp>
        <p:nvSpPr>
          <p:cNvPr id="8" name="Shape 5"/>
          <p:cNvSpPr/>
          <p:nvPr/>
        </p:nvSpPr>
        <p:spPr>
          <a:xfrm>
            <a:off x="5029200" y="1353312"/>
            <a:ext cx="3794760" cy="402336"/>
          </a:xfrm>
          <a:prstGeom prst="rect">
            <a:avLst/>
          </a:prstGeom>
          <a:solidFill>
            <a:srgbClr val="13243A"/>
          </a:solidFill>
          <a:ln w="12700">
            <a:solidFill>
              <a:srgbClr val="13243A"/>
            </a:solidFill>
            <a:prstDash val="solid"/>
          </a:ln>
        </p:spPr>
      </p:sp>
      <p:sp>
        <p:nvSpPr>
          <p:cNvPr id="9" name="Text 6"/>
          <p:cNvSpPr/>
          <p:nvPr/>
        </p:nvSpPr>
        <p:spPr>
          <a:xfrm>
            <a:off x="5102352" y="1353312"/>
            <a:ext cx="329184" cy="402336"/>
          </a:xfrm>
          <a:prstGeom prst="rect">
            <a:avLst/>
          </a:prstGeom>
          <a:noFill/>
          <a:ln/>
        </p:spPr>
        <p:txBody>
          <a:bodyPr wrap="square" lIns="0" tIns="0" rIns="0" bIns="0" rtlCol="0" anchor="ctr"/>
          <a:lstStyle/>
          <a:p>
            <a:pPr algn="ctr" indent="0" marL="0">
              <a:buNone/>
            </a:pPr>
            <a:r>
              <a:rPr lang="en-US" sz="1200" b="1" dirty="0">
                <a:solidFill>
                  <a:srgbClr val="F0A030"/>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5486400" y="1353312"/>
            <a:ext cx="3246120" cy="402336"/>
          </a:xfrm>
          <a:prstGeom prst="rect">
            <a:avLst/>
          </a:prstGeom>
          <a:noFill/>
          <a:ln/>
        </p:spPr>
        <p:txBody>
          <a:bodyPr wrap="square" lIns="0" tIns="0" rIns="0" bIns="0" rtlCol="0" anchor="ctr"/>
          <a:lstStyle/>
          <a:p>
            <a:pPr algn="l" indent="0" marL="0">
              <a:buNone/>
            </a:pPr>
            <a:r>
              <a:rPr lang="en-US" sz="1150" dirty="0">
                <a:solidFill>
                  <a:srgbClr val="EEF2F6"/>
                </a:solidFill>
                <a:latin typeface="Calibri" pitchFamily="34" charset="0"/>
                <a:ea typeface="Calibri" pitchFamily="34" charset="-122"/>
                <a:cs typeface="Calibri" pitchFamily="34" charset="-120"/>
              </a:rPr>
              <a:t>Clone: github.com/foojanbabaeeian/Multi-Robot-Algo</a:t>
            </a:r>
            <a:endParaRPr lang="en-US" sz="1150" dirty="0"/>
          </a:p>
        </p:txBody>
      </p:sp>
      <p:sp>
        <p:nvSpPr>
          <p:cNvPr id="11" name="Shape 8"/>
          <p:cNvSpPr/>
          <p:nvPr/>
        </p:nvSpPr>
        <p:spPr>
          <a:xfrm>
            <a:off x="5029200" y="1828800"/>
            <a:ext cx="3794760" cy="402336"/>
          </a:xfrm>
          <a:prstGeom prst="rect">
            <a:avLst/>
          </a:prstGeom>
          <a:solidFill>
            <a:srgbClr val="1A3050"/>
          </a:solidFill>
          <a:ln w="12700">
            <a:solidFill>
              <a:srgbClr val="1A3050"/>
            </a:solidFill>
            <a:prstDash val="solid"/>
          </a:ln>
        </p:spPr>
      </p:sp>
      <p:sp>
        <p:nvSpPr>
          <p:cNvPr id="12" name="Text 9"/>
          <p:cNvSpPr/>
          <p:nvPr/>
        </p:nvSpPr>
        <p:spPr>
          <a:xfrm>
            <a:off x="5102352" y="1828800"/>
            <a:ext cx="329184" cy="402336"/>
          </a:xfrm>
          <a:prstGeom prst="rect">
            <a:avLst/>
          </a:prstGeom>
          <a:noFill/>
          <a:ln/>
        </p:spPr>
        <p:txBody>
          <a:bodyPr wrap="square" lIns="0" tIns="0" rIns="0" bIns="0" rtlCol="0" anchor="ctr"/>
          <a:lstStyle/>
          <a:p>
            <a:pPr algn="ctr" indent="0" marL="0">
              <a:buNone/>
            </a:pPr>
            <a:r>
              <a:rPr lang="en-US" sz="1200" b="1" dirty="0">
                <a:solidFill>
                  <a:srgbClr val="F0A030"/>
                </a:solidFill>
                <a:latin typeface="Calibri" pitchFamily="34" charset="0"/>
                <a:ea typeface="Calibri" pitchFamily="34" charset="-122"/>
                <a:cs typeface="Calibri" pitchFamily="34" charset="-120"/>
              </a:rPr>
              <a:t>2</a:t>
            </a:r>
            <a:endParaRPr lang="en-US" sz="1200" dirty="0"/>
          </a:p>
        </p:txBody>
      </p:sp>
      <p:sp>
        <p:nvSpPr>
          <p:cNvPr id="13" name="Text 10"/>
          <p:cNvSpPr/>
          <p:nvPr/>
        </p:nvSpPr>
        <p:spPr>
          <a:xfrm>
            <a:off x="5486400" y="1828800"/>
            <a:ext cx="3246120" cy="402336"/>
          </a:xfrm>
          <a:prstGeom prst="rect">
            <a:avLst/>
          </a:prstGeom>
          <a:noFill/>
          <a:ln/>
        </p:spPr>
        <p:txBody>
          <a:bodyPr wrap="square" lIns="0" tIns="0" rIns="0" bIns="0" rtlCol="0" anchor="ctr"/>
          <a:lstStyle/>
          <a:p>
            <a:pPr algn="l" indent="0" marL="0">
              <a:buNone/>
            </a:pPr>
            <a:r>
              <a:rPr lang="en-US" sz="1150" dirty="0">
                <a:solidFill>
                  <a:srgbClr val="EEF2F6"/>
                </a:solidFill>
                <a:latin typeface="Calibri" pitchFamily="34" charset="0"/>
                <a:ea typeface="Calibri" pitchFamily="34" charset="-122"/>
                <a:cs typeface="Calibri" pitchFamily="34" charset="-120"/>
              </a:rPr>
              <a:t>Install: pip install -r requirements.txt</a:t>
            </a:r>
            <a:endParaRPr lang="en-US" sz="1150" dirty="0"/>
          </a:p>
        </p:txBody>
      </p:sp>
      <p:sp>
        <p:nvSpPr>
          <p:cNvPr id="14" name="Shape 11"/>
          <p:cNvSpPr/>
          <p:nvPr/>
        </p:nvSpPr>
        <p:spPr>
          <a:xfrm>
            <a:off x="5029200" y="2304288"/>
            <a:ext cx="3794760" cy="402336"/>
          </a:xfrm>
          <a:prstGeom prst="rect">
            <a:avLst/>
          </a:prstGeom>
          <a:solidFill>
            <a:srgbClr val="13243A"/>
          </a:solidFill>
          <a:ln w="12700">
            <a:solidFill>
              <a:srgbClr val="13243A"/>
            </a:solidFill>
            <a:prstDash val="solid"/>
          </a:ln>
        </p:spPr>
      </p:sp>
      <p:sp>
        <p:nvSpPr>
          <p:cNvPr id="15" name="Text 12"/>
          <p:cNvSpPr/>
          <p:nvPr/>
        </p:nvSpPr>
        <p:spPr>
          <a:xfrm>
            <a:off x="5102352" y="2304288"/>
            <a:ext cx="329184" cy="402336"/>
          </a:xfrm>
          <a:prstGeom prst="rect">
            <a:avLst/>
          </a:prstGeom>
          <a:noFill/>
          <a:ln/>
        </p:spPr>
        <p:txBody>
          <a:bodyPr wrap="square" lIns="0" tIns="0" rIns="0" bIns="0" rtlCol="0" anchor="ctr"/>
          <a:lstStyle/>
          <a:p>
            <a:pPr algn="ctr" indent="0" marL="0">
              <a:buNone/>
            </a:pPr>
            <a:r>
              <a:rPr lang="en-US" sz="1200" b="1" dirty="0">
                <a:solidFill>
                  <a:srgbClr val="F0A030"/>
                </a:solidFill>
                <a:latin typeface="Calibri" pitchFamily="34" charset="0"/>
                <a:ea typeface="Calibri" pitchFamily="34" charset="-122"/>
                <a:cs typeface="Calibri" pitchFamily="34" charset="-120"/>
              </a:rPr>
              <a:t>3</a:t>
            </a:r>
            <a:endParaRPr lang="en-US" sz="1200" dirty="0"/>
          </a:p>
        </p:txBody>
      </p:sp>
      <p:sp>
        <p:nvSpPr>
          <p:cNvPr id="16" name="Text 13"/>
          <p:cNvSpPr/>
          <p:nvPr/>
        </p:nvSpPr>
        <p:spPr>
          <a:xfrm>
            <a:off x="5486400" y="2304288"/>
            <a:ext cx="3246120" cy="402336"/>
          </a:xfrm>
          <a:prstGeom prst="rect">
            <a:avLst/>
          </a:prstGeom>
          <a:noFill/>
          <a:ln/>
        </p:spPr>
        <p:txBody>
          <a:bodyPr wrap="square" lIns="0" tIns="0" rIns="0" bIns="0" rtlCol="0" anchor="ctr"/>
          <a:lstStyle/>
          <a:p>
            <a:pPr algn="l" indent="0" marL="0">
              <a:buNone/>
            </a:pPr>
            <a:r>
              <a:rPr lang="en-US" sz="1150" dirty="0">
                <a:solidFill>
                  <a:srgbClr val="EEF2F6"/>
                </a:solidFill>
                <a:latin typeface="Calibri" pitchFamily="34" charset="0"/>
                <a:ea typeface="Calibri" pitchFamily="34" charset="-122"/>
                <a:cs typeface="Calibri" pitchFamily="34" charset="-120"/>
              </a:rPr>
              <a:t>Launch: python simulator/app.py</a:t>
            </a:r>
            <a:endParaRPr lang="en-US" sz="1150" dirty="0"/>
          </a:p>
        </p:txBody>
      </p:sp>
      <p:sp>
        <p:nvSpPr>
          <p:cNvPr id="17" name="Shape 14"/>
          <p:cNvSpPr/>
          <p:nvPr/>
        </p:nvSpPr>
        <p:spPr>
          <a:xfrm>
            <a:off x="5029200" y="2779776"/>
            <a:ext cx="3794760" cy="402336"/>
          </a:xfrm>
          <a:prstGeom prst="rect">
            <a:avLst/>
          </a:prstGeom>
          <a:solidFill>
            <a:srgbClr val="1A3050"/>
          </a:solidFill>
          <a:ln w="12700">
            <a:solidFill>
              <a:srgbClr val="1A3050"/>
            </a:solidFill>
            <a:prstDash val="solid"/>
          </a:ln>
        </p:spPr>
      </p:sp>
      <p:sp>
        <p:nvSpPr>
          <p:cNvPr id="18" name="Text 15"/>
          <p:cNvSpPr/>
          <p:nvPr/>
        </p:nvSpPr>
        <p:spPr>
          <a:xfrm>
            <a:off x="5102352" y="2779776"/>
            <a:ext cx="329184" cy="402336"/>
          </a:xfrm>
          <a:prstGeom prst="rect">
            <a:avLst/>
          </a:prstGeom>
          <a:noFill/>
          <a:ln/>
        </p:spPr>
        <p:txBody>
          <a:bodyPr wrap="square" lIns="0" tIns="0" rIns="0" bIns="0" rtlCol="0" anchor="ctr"/>
          <a:lstStyle/>
          <a:p>
            <a:pPr algn="ctr" indent="0" marL="0">
              <a:buNone/>
            </a:pPr>
            <a:r>
              <a:rPr lang="en-US" sz="1200" b="1" dirty="0">
                <a:solidFill>
                  <a:srgbClr val="F0A030"/>
                </a:solidFill>
                <a:latin typeface="Calibri" pitchFamily="34" charset="0"/>
                <a:ea typeface="Calibri" pitchFamily="34" charset="-122"/>
                <a:cs typeface="Calibri" pitchFamily="34" charset="-120"/>
              </a:rPr>
              <a:t>4</a:t>
            </a:r>
            <a:endParaRPr lang="en-US" sz="1200" dirty="0"/>
          </a:p>
        </p:txBody>
      </p:sp>
      <p:sp>
        <p:nvSpPr>
          <p:cNvPr id="19" name="Text 16"/>
          <p:cNvSpPr/>
          <p:nvPr/>
        </p:nvSpPr>
        <p:spPr>
          <a:xfrm>
            <a:off x="5486400" y="2779776"/>
            <a:ext cx="3246120" cy="402336"/>
          </a:xfrm>
          <a:prstGeom prst="rect">
            <a:avLst/>
          </a:prstGeom>
          <a:noFill/>
          <a:ln/>
        </p:spPr>
        <p:txBody>
          <a:bodyPr wrap="square" lIns="0" tIns="0" rIns="0" bIns="0" rtlCol="0" anchor="ctr"/>
          <a:lstStyle/>
          <a:p>
            <a:pPr algn="l" indent="0" marL="0">
              <a:buNone/>
            </a:pPr>
            <a:r>
              <a:rPr lang="en-US" sz="1150" dirty="0">
                <a:solidFill>
                  <a:srgbClr val="EEF2F6"/>
                </a:solidFill>
                <a:latin typeface="Calibri" pitchFamily="34" charset="0"/>
                <a:ea typeface="Calibri" pitchFamily="34" charset="-122"/>
                <a:cs typeface="Calibri" pitchFamily="34" charset="-120"/>
              </a:rPr>
              <a:t>Set: n = 10, R = 3, E = 14</a:t>
            </a:r>
            <a:endParaRPr lang="en-US" sz="1150" dirty="0"/>
          </a:p>
        </p:txBody>
      </p:sp>
      <p:sp>
        <p:nvSpPr>
          <p:cNvPr id="20" name="Shape 17"/>
          <p:cNvSpPr/>
          <p:nvPr/>
        </p:nvSpPr>
        <p:spPr>
          <a:xfrm>
            <a:off x="5029200" y="3255264"/>
            <a:ext cx="3794760" cy="402336"/>
          </a:xfrm>
          <a:prstGeom prst="rect">
            <a:avLst/>
          </a:prstGeom>
          <a:solidFill>
            <a:srgbClr val="13243A"/>
          </a:solidFill>
          <a:ln w="12700">
            <a:solidFill>
              <a:srgbClr val="13243A"/>
            </a:solidFill>
            <a:prstDash val="solid"/>
          </a:ln>
        </p:spPr>
      </p:sp>
      <p:sp>
        <p:nvSpPr>
          <p:cNvPr id="21" name="Text 18"/>
          <p:cNvSpPr/>
          <p:nvPr/>
        </p:nvSpPr>
        <p:spPr>
          <a:xfrm>
            <a:off x="5102352" y="3255264"/>
            <a:ext cx="329184" cy="402336"/>
          </a:xfrm>
          <a:prstGeom prst="rect">
            <a:avLst/>
          </a:prstGeom>
          <a:noFill/>
          <a:ln/>
        </p:spPr>
        <p:txBody>
          <a:bodyPr wrap="square" lIns="0" tIns="0" rIns="0" bIns="0" rtlCol="0" anchor="ctr"/>
          <a:lstStyle/>
          <a:p>
            <a:pPr algn="ctr" indent="0" marL="0">
              <a:buNone/>
            </a:pPr>
            <a:r>
              <a:rPr lang="en-US" sz="1200" b="1" dirty="0">
                <a:solidFill>
                  <a:srgbClr val="F0A030"/>
                </a:solidFill>
                <a:latin typeface="Calibri" pitchFamily="34" charset="0"/>
                <a:ea typeface="Calibri" pitchFamily="34" charset="-122"/>
                <a:cs typeface="Calibri" pitchFamily="34" charset="-120"/>
              </a:rPr>
              <a:t>5</a:t>
            </a:r>
            <a:endParaRPr lang="en-US" sz="1200" dirty="0"/>
          </a:p>
        </p:txBody>
      </p:sp>
      <p:sp>
        <p:nvSpPr>
          <p:cNvPr id="22" name="Text 19"/>
          <p:cNvSpPr/>
          <p:nvPr/>
        </p:nvSpPr>
        <p:spPr>
          <a:xfrm>
            <a:off x="5486400" y="3255264"/>
            <a:ext cx="3246120" cy="402336"/>
          </a:xfrm>
          <a:prstGeom prst="rect">
            <a:avLst/>
          </a:prstGeom>
          <a:noFill/>
          <a:ln/>
        </p:spPr>
        <p:txBody>
          <a:bodyPr wrap="square" lIns="0" tIns="0" rIns="0" bIns="0" rtlCol="0" anchor="ctr"/>
          <a:lstStyle/>
          <a:p>
            <a:pPr algn="l" indent="0" marL="0">
              <a:buNone/>
            </a:pPr>
            <a:r>
              <a:rPr lang="en-US" sz="1150" dirty="0">
                <a:solidFill>
                  <a:srgbClr val="EEF2F6"/>
                </a:solidFill>
                <a:latin typeface="Calibri" pitchFamily="34" charset="0"/>
                <a:ea typeface="Calibri" pitchFamily="34" charset="-122"/>
                <a:cs typeface="Calibri" pitchFamily="34" charset="-120"/>
              </a:rPr>
              <a:t>Run M1 — watch robots duplicate coverage</a:t>
            </a:r>
            <a:endParaRPr lang="en-US" sz="1150" dirty="0"/>
          </a:p>
        </p:txBody>
      </p:sp>
      <p:sp>
        <p:nvSpPr>
          <p:cNvPr id="23" name="Shape 20"/>
          <p:cNvSpPr/>
          <p:nvPr/>
        </p:nvSpPr>
        <p:spPr>
          <a:xfrm>
            <a:off x="5029200" y="3730752"/>
            <a:ext cx="3794760" cy="402336"/>
          </a:xfrm>
          <a:prstGeom prst="rect">
            <a:avLst/>
          </a:prstGeom>
          <a:solidFill>
            <a:srgbClr val="1A3050"/>
          </a:solidFill>
          <a:ln w="12700">
            <a:solidFill>
              <a:srgbClr val="1A3050"/>
            </a:solidFill>
            <a:prstDash val="solid"/>
          </a:ln>
        </p:spPr>
      </p:sp>
      <p:sp>
        <p:nvSpPr>
          <p:cNvPr id="24" name="Text 21"/>
          <p:cNvSpPr/>
          <p:nvPr/>
        </p:nvSpPr>
        <p:spPr>
          <a:xfrm>
            <a:off x="5102352" y="3730752"/>
            <a:ext cx="329184" cy="402336"/>
          </a:xfrm>
          <a:prstGeom prst="rect">
            <a:avLst/>
          </a:prstGeom>
          <a:noFill/>
          <a:ln/>
        </p:spPr>
        <p:txBody>
          <a:bodyPr wrap="square" lIns="0" tIns="0" rIns="0" bIns="0" rtlCol="0" anchor="ctr"/>
          <a:lstStyle/>
          <a:p>
            <a:pPr algn="ctr" indent="0" marL="0">
              <a:buNone/>
            </a:pPr>
            <a:r>
              <a:rPr lang="en-US" sz="1200" b="1" dirty="0">
                <a:solidFill>
                  <a:srgbClr val="F0A030"/>
                </a:solidFill>
                <a:latin typeface="Calibri" pitchFamily="34" charset="0"/>
                <a:ea typeface="Calibri" pitchFamily="34" charset="-122"/>
                <a:cs typeface="Calibri" pitchFamily="34" charset="-120"/>
              </a:rPr>
              <a:t>6</a:t>
            </a:r>
            <a:endParaRPr lang="en-US" sz="1200" dirty="0"/>
          </a:p>
        </p:txBody>
      </p:sp>
      <p:sp>
        <p:nvSpPr>
          <p:cNvPr id="25" name="Text 22"/>
          <p:cNvSpPr/>
          <p:nvPr/>
        </p:nvSpPr>
        <p:spPr>
          <a:xfrm>
            <a:off x="5486400" y="3730752"/>
            <a:ext cx="3246120" cy="402336"/>
          </a:xfrm>
          <a:prstGeom prst="rect">
            <a:avLst/>
          </a:prstGeom>
          <a:noFill/>
          <a:ln/>
        </p:spPr>
        <p:txBody>
          <a:bodyPr wrap="square" lIns="0" tIns="0" rIns="0" bIns="0" rtlCol="0" anchor="ctr"/>
          <a:lstStyle/>
          <a:p>
            <a:pPr algn="l" indent="0" marL="0">
              <a:buNone/>
            </a:pPr>
            <a:r>
              <a:rPr lang="en-US" sz="1150" dirty="0">
                <a:solidFill>
                  <a:srgbClr val="EEF2F6"/>
                </a:solidFill>
                <a:latin typeface="Calibri" pitchFamily="34" charset="0"/>
                <a:ea typeface="Calibri" pitchFamily="34" charset="-122"/>
                <a:cs typeface="Calibri" pitchFamily="34" charset="-120"/>
              </a:rPr>
              <a:t>Switch to M4* — watch compact non-overlapping tours</a:t>
            </a:r>
            <a:endParaRPr lang="en-US" sz="1150" dirty="0"/>
          </a:p>
        </p:txBody>
      </p:sp>
      <p:sp>
        <p:nvSpPr>
          <p:cNvPr id="26" name="Shape 23"/>
          <p:cNvSpPr/>
          <p:nvPr/>
        </p:nvSpPr>
        <p:spPr>
          <a:xfrm>
            <a:off x="5029200" y="4206240"/>
            <a:ext cx="3794760" cy="402336"/>
          </a:xfrm>
          <a:prstGeom prst="rect">
            <a:avLst/>
          </a:prstGeom>
          <a:solidFill>
            <a:srgbClr val="13243A"/>
          </a:solidFill>
          <a:ln w="12700">
            <a:solidFill>
              <a:srgbClr val="13243A"/>
            </a:solidFill>
            <a:prstDash val="solid"/>
          </a:ln>
        </p:spPr>
      </p:sp>
      <p:sp>
        <p:nvSpPr>
          <p:cNvPr id="27" name="Text 24"/>
          <p:cNvSpPr/>
          <p:nvPr/>
        </p:nvSpPr>
        <p:spPr>
          <a:xfrm>
            <a:off x="5102352" y="4206240"/>
            <a:ext cx="329184" cy="402336"/>
          </a:xfrm>
          <a:prstGeom prst="rect">
            <a:avLst/>
          </a:prstGeom>
          <a:noFill/>
          <a:ln/>
        </p:spPr>
        <p:txBody>
          <a:bodyPr wrap="square" lIns="0" tIns="0" rIns="0" bIns="0" rtlCol="0" anchor="ctr"/>
          <a:lstStyle/>
          <a:p>
            <a:pPr algn="ctr" indent="0" marL="0">
              <a:buNone/>
            </a:pPr>
            <a:r>
              <a:rPr lang="en-US" sz="1200" b="1" dirty="0">
                <a:solidFill>
                  <a:srgbClr val="F0A030"/>
                </a:solidFill>
                <a:latin typeface="Calibri" pitchFamily="34" charset="0"/>
                <a:ea typeface="Calibri" pitchFamily="34" charset="-122"/>
                <a:cs typeface="Calibri" pitchFamily="34" charset="-120"/>
              </a:rPr>
              <a:t>7</a:t>
            </a:r>
            <a:endParaRPr lang="en-US" sz="1200" dirty="0"/>
          </a:p>
        </p:txBody>
      </p:sp>
      <p:sp>
        <p:nvSpPr>
          <p:cNvPr id="28" name="Text 25"/>
          <p:cNvSpPr/>
          <p:nvPr/>
        </p:nvSpPr>
        <p:spPr>
          <a:xfrm>
            <a:off x="5486400" y="4206240"/>
            <a:ext cx="3246120" cy="402336"/>
          </a:xfrm>
          <a:prstGeom prst="rect">
            <a:avLst/>
          </a:prstGeom>
          <a:noFill/>
          <a:ln/>
        </p:spPr>
        <p:txBody>
          <a:bodyPr wrap="square" lIns="0" tIns="0" rIns="0" bIns="0" rtlCol="0" anchor="ctr"/>
          <a:lstStyle/>
          <a:p>
            <a:pPr algn="l" indent="0" marL="0">
              <a:buNone/>
            </a:pPr>
            <a:r>
              <a:rPr lang="en-US" sz="1150" dirty="0">
                <a:solidFill>
                  <a:srgbClr val="EEF2F6"/>
                </a:solidFill>
                <a:latin typeface="Calibri" pitchFamily="34" charset="0"/>
                <a:ea typeface="Calibri" pitchFamily="34" charset="-122"/>
                <a:cs typeface="Calibri" pitchFamily="34" charset="-120"/>
              </a:rPr>
              <a:t>Compare FCR values in real time</a:t>
            </a:r>
            <a:endParaRPr lang="en-US" sz="1150" dirty="0"/>
          </a:p>
        </p:txBody>
      </p:sp>
      <p:sp>
        <p:nvSpPr>
          <p:cNvPr id="29" name="Text 26"/>
          <p:cNvSpPr/>
          <p:nvPr/>
        </p:nvSpPr>
        <p:spPr>
          <a:xfrm>
            <a:off x="5029200" y="4736592"/>
            <a:ext cx="3794760" cy="274320"/>
          </a:xfrm>
          <a:prstGeom prst="rect">
            <a:avLst/>
          </a:prstGeom>
          <a:noFill/>
          <a:ln/>
        </p:spPr>
        <p:txBody>
          <a:bodyPr wrap="square" lIns="0" tIns="0" rIns="0" bIns="0" rtlCol="0" anchor="ctr"/>
          <a:lstStyle/>
          <a:p>
            <a:pPr algn="l" indent="0" marL="0">
              <a:buNone/>
            </a:pPr>
            <a:r>
              <a:rPr lang="en-US" sz="1000" i="1" dirty="0">
                <a:solidFill>
                  <a:srgbClr val="4E6E88"/>
                </a:solidFill>
                <a:latin typeface="Calibri" pitchFamily="34" charset="0"/>
                <a:ea typeface="Calibri" pitchFamily="34" charset="-122"/>
                <a:cs typeface="Calibri" pitchFamily="34" charset="-120"/>
              </a:rPr>
              <a:t>No laptop? Show fig_m1_vs_m4star.png and narrate the contrast.</a:t>
            </a:r>
            <a:endParaRPr lang="en-US" sz="1000" dirty="0"/>
          </a:p>
        </p:txBody>
      </p:sp>
      <p:sp>
        <p:nvSpPr>
          <p:cNvPr id="30" name="Text 27"/>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REPRODUCIBILITY</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700" b="1" dirty="0">
                <a:solidFill>
                  <a:srgbClr val="EEF2F6"/>
                </a:solidFill>
                <a:latin typeface="Calibri" pitchFamily="34" charset="0"/>
                <a:ea typeface="Calibri" pitchFamily="34" charset="-122"/>
                <a:cs typeface="Calibri" pitchFamily="34" charset="-120"/>
              </a:rPr>
              <a:t>Fully Open-Source and Reproducible</a:t>
            </a:r>
            <a:endParaRPr lang="en-US" sz="27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sp>
        <p:nvSpPr>
          <p:cNvPr id="5" name="Shape 3"/>
          <p:cNvSpPr/>
          <p:nvPr/>
        </p:nvSpPr>
        <p:spPr>
          <a:xfrm>
            <a:off x="384048" y="969264"/>
            <a:ext cx="3931920" cy="1060704"/>
          </a:xfrm>
          <a:prstGeom prst="rect">
            <a:avLst/>
          </a:prstGeom>
          <a:solidFill>
            <a:srgbClr val="13243A"/>
          </a:solidFill>
          <a:ln w="12700">
            <a:solidFill>
              <a:srgbClr val="13243A"/>
            </a:solidFill>
            <a:prstDash val="solid"/>
          </a:ln>
        </p:spPr>
      </p:sp>
      <p:sp>
        <p:nvSpPr>
          <p:cNvPr id="6" name="Shape 4"/>
          <p:cNvSpPr/>
          <p:nvPr/>
        </p:nvSpPr>
        <p:spPr>
          <a:xfrm>
            <a:off x="384048" y="969264"/>
            <a:ext cx="3931920" cy="45720"/>
          </a:xfrm>
          <a:prstGeom prst="rect">
            <a:avLst/>
          </a:prstGeom>
          <a:solidFill>
            <a:srgbClr val="1A3050"/>
          </a:solidFill>
          <a:ln w="12700">
            <a:solidFill>
              <a:srgbClr val="1A3050"/>
            </a:solidFill>
            <a:prstDash val="solid"/>
          </a:ln>
        </p:spPr>
      </p:sp>
      <p:sp>
        <p:nvSpPr>
          <p:cNvPr id="7" name="Text 5"/>
          <p:cNvSpPr/>
          <p:nvPr/>
        </p:nvSpPr>
        <p:spPr>
          <a:xfrm>
            <a:off x="530352" y="1078992"/>
            <a:ext cx="3639312" cy="274320"/>
          </a:xfrm>
          <a:prstGeom prst="rect">
            <a:avLst/>
          </a:prstGeom>
          <a:noFill/>
          <a:ln/>
        </p:spPr>
        <p:txBody>
          <a:bodyPr wrap="square" lIns="0" tIns="0" rIns="0" bIns="0" rtlCol="0" anchor="ctr"/>
          <a:lstStyle/>
          <a:p>
            <a:pPr algn="l" indent="0" marL="0">
              <a:buNone/>
            </a:pPr>
            <a:r>
              <a:rPr lang="en-US" sz="1300" b="1" dirty="0">
                <a:solidFill>
                  <a:srgbClr val="F0A030"/>
                </a:solidFill>
                <a:latin typeface="Calibri" pitchFamily="34" charset="0"/>
                <a:ea typeface="Calibri" pitchFamily="34" charset="-122"/>
                <a:cs typeface="Calibri" pitchFamily="34" charset="-120"/>
              </a:rPr>
              <a:t>SearchFCR Python Library</a:t>
            </a:r>
            <a:endParaRPr lang="en-US" sz="1300" dirty="0"/>
          </a:p>
        </p:txBody>
      </p:sp>
      <p:sp>
        <p:nvSpPr>
          <p:cNvPr id="8" name="Text 6"/>
          <p:cNvSpPr/>
          <p:nvPr/>
        </p:nvSpPr>
        <p:spPr>
          <a:xfrm>
            <a:off x="530352" y="1408176"/>
            <a:ext cx="3639312" cy="548640"/>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All 5 models as importable classes. Single API: run_model(name, n, R, E, seed).</a:t>
            </a:r>
            <a:endParaRPr lang="en-US" sz="1250" dirty="0"/>
          </a:p>
        </p:txBody>
      </p:sp>
      <p:sp>
        <p:nvSpPr>
          <p:cNvPr id="9" name="Shape 7"/>
          <p:cNvSpPr/>
          <p:nvPr/>
        </p:nvSpPr>
        <p:spPr>
          <a:xfrm>
            <a:off x="384048" y="2139696"/>
            <a:ext cx="3931920" cy="1060704"/>
          </a:xfrm>
          <a:prstGeom prst="rect">
            <a:avLst/>
          </a:prstGeom>
          <a:solidFill>
            <a:srgbClr val="13243A"/>
          </a:solidFill>
          <a:ln w="12700">
            <a:solidFill>
              <a:srgbClr val="13243A"/>
            </a:solidFill>
            <a:prstDash val="solid"/>
          </a:ln>
        </p:spPr>
      </p:sp>
      <p:sp>
        <p:nvSpPr>
          <p:cNvPr id="10" name="Shape 8"/>
          <p:cNvSpPr/>
          <p:nvPr/>
        </p:nvSpPr>
        <p:spPr>
          <a:xfrm>
            <a:off x="384048" y="2139696"/>
            <a:ext cx="3931920" cy="45720"/>
          </a:xfrm>
          <a:prstGeom prst="rect">
            <a:avLst/>
          </a:prstGeom>
          <a:solidFill>
            <a:srgbClr val="1A3050"/>
          </a:solidFill>
          <a:ln w="12700">
            <a:solidFill>
              <a:srgbClr val="1A3050"/>
            </a:solidFill>
            <a:prstDash val="solid"/>
          </a:ln>
        </p:spPr>
      </p:sp>
      <p:sp>
        <p:nvSpPr>
          <p:cNvPr id="11" name="Text 9"/>
          <p:cNvSpPr/>
          <p:nvPr/>
        </p:nvSpPr>
        <p:spPr>
          <a:xfrm>
            <a:off x="530352" y="2249424"/>
            <a:ext cx="3639312" cy="274320"/>
          </a:xfrm>
          <a:prstGeom prst="rect">
            <a:avLst/>
          </a:prstGeom>
          <a:noFill/>
          <a:ln/>
        </p:spPr>
        <p:txBody>
          <a:bodyPr wrap="square" lIns="0" tIns="0" rIns="0" bIns="0" rtlCol="0" anchor="ctr"/>
          <a:lstStyle/>
          <a:p>
            <a:pPr algn="l" indent="0" marL="0">
              <a:buNone/>
            </a:pPr>
            <a:r>
              <a:rPr lang="en-US" sz="1300" b="1" dirty="0">
                <a:solidFill>
                  <a:srgbClr val="F0A030"/>
                </a:solidFill>
                <a:latin typeface="Calibri" pitchFamily="34" charset="0"/>
                <a:ea typeface="Calibri" pitchFamily="34" charset="-122"/>
                <a:cs typeface="Calibri" pitchFamily="34" charset="-120"/>
              </a:rPr>
              <a:t>8 Reproducible Experiments</a:t>
            </a:r>
            <a:endParaRPr lang="en-US" sz="1300" dirty="0"/>
          </a:p>
        </p:txBody>
      </p:sp>
      <p:sp>
        <p:nvSpPr>
          <p:cNvPr id="12" name="Text 10"/>
          <p:cNvSpPr/>
          <p:nvPr/>
        </p:nvSpPr>
        <p:spPr>
          <a:xfrm>
            <a:off x="530352" y="2578608"/>
            <a:ext cx="3639312" cy="548640"/>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python experiments/exp8_ci_table.py reproduces Table 1 exactly.</a:t>
            </a:r>
            <a:endParaRPr lang="en-US" sz="1250" dirty="0"/>
          </a:p>
        </p:txBody>
      </p:sp>
      <p:sp>
        <p:nvSpPr>
          <p:cNvPr id="13" name="Shape 11"/>
          <p:cNvSpPr/>
          <p:nvPr/>
        </p:nvSpPr>
        <p:spPr>
          <a:xfrm>
            <a:off x="4645152" y="969264"/>
            <a:ext cx="3931920" cy="1060704"/>
          </a:xfrm>
          <a:prstGeom prst="rect">
            <a:avLst/>
          </a:prstGeom>
          <a:solidFill>
            <a:srgbClr val="13243A"/>
          </a:solidFill>
          <a:ln w="12700">
            <a:solidFill>
              <a:srgbClr val="13243A"/>
            </a:solidFill>
            <a:prstDash val="solid"/>
          </a:ln>
        </p:spPr>
      </p:sp>
      <p:sp>
        <p:nvSpPr>
          <p:cNvPr id="14" name="Shape 12"/>
          <p:cNvSpPr/>
          <p:nvPr/>
        </p:nvSpPr>
        <p:spPr>
          <a:xfrm>
            <a:off x="4645152" y="969264"/>
            <a:ext cx="3931920" cy="45720"/>
          </a:xfrm>
          <a:prstGeom prst="rect">
            <a:avLst/>
          </a:prstGeom>
          <a:solidFill>
            <a:srgbClr val="1A3050"/>
          </a:solidFill>
          <a:ln w="12700">
            <a:solidFill>
              <a:srgbClr val="1A3050"/>
            </a:solidFill>
            <a:prstDash val="solid"/>
          </a:ln>
        </p:spPr>
      </p:sp>
      <p:sp>
        <p:nvSpPr>
          <p:cNvPr id="15" name="Text 13"/>
          <p:cNvSpPr/>
          <p:nvPr/>
        </p:nvSpPr>
        <p:spPr>
          <a:xfrm>
            <a:off x="4791456" y="1078992"/>
            <a:ext cx="3639312" cy="274320"/>
          </a:xfrm>
          <a:prstGeom prst="rect">
            <a:avLst/>
          </a:prstGeom>
          <a:noFill/>
          <a:ln/>
        </p:spPr>
        <p:txBody>
          <a:bodyPr wrap="square" lIns="0" tIns="0" rIns="0" bIns="0" rtlCol="0" anchor="ctr"/>
          <a:lstStyle/>
          <a:p>
            <a:pPr algn="l" indent="0" marL="0">
              <a:buNone/>
            </a:pPr>
            <a:r>
              <a:rPr lang="en-US" sz="1300" b="1" dirty="0">
                <a:solidFill>
                  <a:srgbClr val="F0A030"/>
                </a:solidFill>
                <a:latin typeface="Calibri" pitchFamily="34" charset="0"/>
                <a:ea typeface="Calibri" pitchFamily="34" charset="-122"/>
                <a:cs typeface="Calibri" pitchFamily="34" charset="-120"/>
              </a:rPr>
              <a:t>Archived Trial Data</a:t>
            </a:r>
            <a:endParaRPr lang="en-US" sz="1300" dirty="0"/>
          </a:p>
        </p:txBody>
      </p:sp>
      <p:sp>
        <p:nvSpPr>
          <p:cNvPr id="16" name="Text 14"/>
          <p:cNvSpPr/>
          <p:nvPr/>
        </p:nvSpPr>
        <p:spPr>
          <a:xfrm>
            <a:off x="4791456" y="1408176"/>
            <a:ext cx="3639312" cy="548640"/>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All 5,000 trial results in experiments/data/ as CSV. Verifiable without re-running.</a:t>
            </a:r>
            <a:endParaRPr lang="en-US" sz="1250" dirty="0"/>
          </a:p>
        </p:txBody>
      </p:sp>
      <p:sp>
        <p:nvSpPr>
          <p:cNvPr id="17" name="Shape 15"/>
          <p:cNvSpPr/>
          <p:nvPr/>
        </p:nvSpPr>
        <p:spPr>
          <a:xfrm>
            <a:off x="4645152" y="2139696"/>
            <a:ext cx="3931920" cy="1060704"/>
          </a:xfrm>
          <a:prstGeom prst="rect">
            <a:avLst/>
          </a:prstGeom>
          <a:solidFill>
            <a:srgbClr val="13243A"/>
          </a:solidFill>
          <a:ln w="12700">
            <a:solidFill>
              <a:srgbClr val="13243A"/>
            </a:solidFill>
            <a:prstDash val="solid"/>
          </a:ln>
        </p:spPr>
      </p:sp>
      <p:sp>
        <p:nvSpPr>
          <p:cNvPr id="18" name="Shape 16"/>
          <p:cNvSpPr/>
          <p:nvPr/>
        </p:nvSpPr>
        <p:spPr>
          <a:xfrm>
            <a:off x="4645152" y="2139696"/>
            <a:ext cx="3931920" cy="45720"/>
          </a:xfrm>
          <a:prstGeom prst="rect">
            <a:avLst/>
          </a:prstGeom>
          <a:solidFill>
            <a:srgbClr val="1A3050"/>
          </a:solidFill>
          <a:ln w="12700">
            <a:solidFill>
              <a:srgbClr val="1A3050"/>
            </a:solidFill>
            <a:prstDash val="solid"/>
          </a:ln>
        </p:spPr>
      </p:sp>
      <p:sp>
        <p:nvSpPr>
          <p:cNvPr id="19" name="Text 17"/>
          <p:cNvSpPr/>
          <p:nvPr/>
        </p:nvSpPr>
        <p:spPr>
          <a:xfrm>
            <a:off x="4791456" y="2249424"/>
            <a:ext cx="3639312" cy="274320"/>
          </a:xfrm>
          <a:prstGeom prst="rect">
            <a:avLst/>
          </a:prstGeom>
          <a:noFill/>
          <a:ln/>
        </p:spPr>
        <p:txBody>
          <a:bodyPr wrap="square" lIns="0" tIns="0" rIns="0" bIns="0" rtlCol="0" anchor="ctr"/>
          <a:lstStyle/>
          <a:p>
            <a:pPr algn="l" indent="0" marL="0">
              <a:buNone/>
            </a:pPr>
            <a:r>
              <a:rPr lang="en-US" sz="1300" b="1" dirty="0">
                <a:solidFill>
                  <a:srgbClr val="F0A030"/>
                </a:solidFill>
                <a:latin typeface="Calibri" pitchFamily="34" charset="0"/>
                <a:ea typeface="Calibri" pitchFamily="34" charset="-122"/>
                <a:cs typeface="Calibri" pitchFamily="34" charset="-120"/>
              </a:rPr>
              <a:t>All Figures Reproducible</a:t>
            </a:r>
            <a:endParaRPr lang="en-US" sz="1300" dirty="0"/>
          </a:p>
        </p:txBody>
      </p:sp>
      <p:sp>
        <p:nvSpPr>
          <p:cNvPr id="20" name="Text 18"/>
          <p:cNvSpPr/>
          <p:nvPr/>
        </p:nvSpPr>
        <p:spPr>
          <a:xfrm>
            <a:off x="4791456" y="2578608"/>
            <a:ext cx="3639312" cy="548640"/>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Every thesis figure is generated by a script. No manual figure creation.</a:t>
            </a:r>
            <a:endParaRPr lang="en-US" sz="1250" dirty="0"/>
          </a:p>
        </p:txBody>
      </p:sp>
      <p:sp>
        <p:nvSpPr>
          <p:cNvPr id="21" name="Shape 19"/>
          <p:cNvSpPr/>
          <p:nvPr/>
        </p:nvSpPr>
        <p:spPr>
          <a:xfrm>
            <a:off x="384048" y="3364992"/>
            <a:ext cx="8375904" cy="713232"/>
          </a:xfrm>
          <a:prstGeom prst="rect">
            <a:avLst/>
          </a:prstGeom>
          <a:solidFill>
            <a:srgbClr val="0D2B1A"/>
          </a:solidFill>
          <a:ln w="12700">
            <a:solidFill>
              <a:srgbClr val="0D2B1A"/>
            </a:solidFill>
            <a:prstDash val="solid"/>
          </a:ln>
        </p:spPr>
      </p:sp>
      <p:sp>
        <p:nvSpPr>
          <p:cNvPr id="22" name="Shape 20"/>
          <p:cNvSpPr/>
          <p:nvPr/>
        </p:nvSpPr>
        <p:spPr>
          <a:xfrm>
            <a:off x="384048" y="3364992"/>
            <a:ext cx="8375904" cy="45720"/>
          </a:xfrm>
          <a:prstGeom prst="rect">
            <a:avLst/>
          </a:prstGeom>
          <a:solidFill>
            <a:srgbClr val="38B2CC"/>
          </a:solidFill>
          <a:ln w="12700">
            <a:solidFill>
              <a:srgbClr val="38B2CC"/>
            </a:solidFill>
            <a:prstDash val="solid"/>
          </a:ln>
        </p:spPr>
      </p:sp>
      <p:sp>
        <p:nvSpPr>
          <p:cNvPr id="23" name="Text 21"/>
          <p:cNvSpPr/>
          <p:nvPr/>
        </p:nvSpPr>
        <p:spPr>
          <a:xfrm>
            <a:off x="384048" y="3410712"/>
            <a:ext cx="8375904" cy="667512"/>
          </a:xfrm>
          <a:prstGeom prst="rect">
            <a:avLst/>
          </a:prstGeom>
          <a:noFill/>
          <a:ln/>
        </p:spPr>
        <p:txBody>
          <a:bodyPr wrap="square" lIns="0" tIns="0" rIns="0" bIns="0" rtlCol="0" anchor="ctr"/>
          <a:lstStyle/>
          <a:p>
            <a:pPr algn="ctr" indent="0" marL="0">
              <a:buNone/>
            </a:pPr>
            <a:r>
              <a:rPr lang="en-US" sz="2000" b="1" dirty="0">
                <a:solidFill>
                  <a:srgbClr val="38B2CC"/>
                </a:solidFill>
                <a:latin typeface="Calibri" pitchFamily="34" charset="0"/>
                <a:ea typeface="Calibri" pitchFamily="34" charset="-122"/>
                <a:cs typeface="Calibri" pitchFamily="34" charset="-120"/>
              </a:rPr>
              <a:t>github.com/foojanbabaeeian/Multi-Robot-Algo</a:t>
            </a:r>
            <a:endParaRPr lang="en-US" sz="2000" dirty="0"/>
          </a:p>
        </p:txBody>
      </p:sp>
      <p:sp>
        <p:nvSpPr>
          <p:cNvPr id="24" name="Text 22"/>
          <p:cNvSpPr/>
          <p:nvPr/>
        </p:nvSpPr>
        <p:spPr>
          <a:xfrm>
            <a:off x="384048" y="4206240"/>
            <a:ext cx="8375904" cy="329184"/>
          </a:xfrm>
          <a:prstGeom prst="rect">
            <a:avLst/>
          </a:prstGeom>
          <a:noFill/>
          <a:ln/>
        </p:spPr>
        <p:txBody>
          <a:bodyPr wrap="square" lIns="0" tIns="0" rIns="0" bIns="0" rtlCol="0" anchor="ctr"/>
          <a:lstStyle/>
          <a:p>
            <a:pPr algn="ctr" indent="0" marL="0">
              <a:buNone/>
            </a:pPr>
            <a:r>
              <a:rPr lang="en-US" sz="1150" i="1" dirty="0">
                <a:solidFill>
                  <a:srgbClr val="4E6E88"/>
                </a:solidFill>
                <a:latin typeface="Calibri" pitchFamily="34" charset="0"/>
                <a:ea typeface="Calibri" pitchFamily="34" charset="-122"/>
                <a:cs typeface="Calibri" pitchFamily="34" charset="-120"/>
              </a:rPr>
              <a:t>Open issues and extension points are tracked in the repository's issue tracker.</a:t>
            </a:r>
            <a:endParaRPr lang="en-US" sz="1150" dirty="0"/>
          </a:p>
        </p:txBody>
      </p:sp>
      <p:sp>
        <p:nvSpPr>
          <p:cNvPr id="25" name="Text 23"/>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1624"/>
        </a:solidFill>
      </p:bgPr>
    </p:bg>
    <p:spTree>
      <p:nvGrpSpPr>
        <p:cNvPr id="1" name=""/>
        <p:cNvGrpSpPr/>
        <p:nvPr/>
      </p:nvGrpSpPr>
      <p:grpSpPr>
        <a:xfrm>
          <a:off x="0" y="0"/>
          <a:ext cx="0" cy="0"/>
          <a:chOff x="0" y="0"/>
          <a:chExt cx="0" cy="0"/>
        </a:xfrm>
      </p:grpSpPr>
      <p:sp>
        <p:nvSpPr>
          <p:cNvPr id="2" name="Text 0"/>
          <p:cNvSpPr/>
          <p:nvPr/>
        </p:nvSpPr>
        <p:spPr>
          <a:xfrm>
            <a:off x="384048" y="128016"/>
            <a:ext cx="8375904" cy="201168"/>
          </a:xfrm>
          <a:prstGeom prst="rect">
            <a:avLst/>
          </a:prstGeom>
          <a:noFill/>
          <a:ln/>
        </p:spPr>
        <p:txBody>
          <a:bodyPr wrap="square" lIns="0" tIns="0" rIns="0" bIns="0" rtlCol="0" anchor="ctr"/>
          <a:lstStyle/>
          <a:p>
            <a:pPr algn="l" indent="0" marL="0">
              <a:buNone/>
            </a:pPr>
            <a:r>
              <a:rPr lang="en-US" sz="800" b="1" spc="300" kern="0" dirty="0">
                <a:solidFill>
                  <a:srgbClr val="F0A030"/>
                </a:solidFill>
                <a:latin typeface="Calibri" pitchFamily="34" charset="0"/>
                <a:ea typeface="Calibri" pitchFamily="34" charset="-122"/>
                <a:cs typeface="Calibri" pitchFamily="34" charset="-120"/>
              </a:rPr>
              <a:t>FUTURE DIRECTIONS</a:t>
            </a:r>
            <a:endParaRPr lang="en-US" sz="800" dirty="0"/>
          </a:p>
        </p:txBody>
      </p:sp>
      <p:sp>
        <p:nvSpPr>
          <p:cNvPr id="3" name="Text 1"/>
          <p:cNvSpPr/>
          <p:nvPr/>
        </p:nvSpPr>
        <p:spPr>
          <a:xfrm>
            <a:off x="384048" y="310896"/>
            <a:ext cx="8375904" cy="475488"/>
          </a:xfrm>
          <a:prstGeom prst="rect">
            <a:avLst/>
          </a:prstGeom>
          <a:noFill/>
          <a:ln/>
        </p:spPr>
        <p:txBody>
          <a:bodyPr wrap="square" lIns="0" tIns="0" rIns="0" bIns="0" rtlCol="0" anchor="ctr"/>
          <a:lstStyle/>
          <a:p>
            <a:pPr algn="l" indent="0" marL="0">
              <a:buNone/>
            </a:pPr>
            <a:r>
              <a:rPr lang="en-US" sz="2700" b="1" dirty="0">
                <a:solidFill>
                  <a:srgbClr val="EEF2F6"/>
                </a:solidFill>
                <a:latin typeface="Calibri" pitchFamily="34" charset="0"/>
                <a:ea typeface="Calibri" pitchFamily="34" charset="-122"/>
                <a:cs typeface="Calibri" pitchFamily="34" charset="-120"/>
              </a:rPr>
              <a:t>Open Problems and Next Steps</a:t>
            </a:r>
            <a:endParaRPr lang="en-US" sz="2700" dirty="0"/>
          </a:p>
        </p:txBody>
      </p:sp>
      <p:sp>
        <p:nvSpPr>
          <p:cNvPr id="4" name="Shape 2"/>
          <p:cNvSpPr/>
          <p:nvPr/>
        </p:nvSpPr>
        <p:spPr>
          <a:xfrm>
            <a:off x="384048" y="822960"/>
            <a:ext cx="8375904" cy="20117"/>
          </a:xfrm>
          <a:prstGeom prst="rect">
            <a:avLst/>
          </a:prstGeom>
          <a:solidFill>
            <a:srgbClr val="F0A030"/>
          </a:solidFill>
          <a:ln w="12700">
            <a:solidFill>
              <a:srgbClr val="F0A030"/>
            </a:solidFill>
            <a:prstDash val="solid"/>
          </a:ln>
        </p:spPr>
      </p:sp>
      <p:sp>
        <p:nvSpPr>
          <p:cNvPr id="5" name="Text 3"/>
          <p:cNvSpPr/>
          <p:nvPr/>
        </p:nvSpPr>
        <p:spPr>
          <a:xfrm>
            <a:off x="6858000" y="731520"/>
            <a:ext cx="2103120" cy="4389120"/>
          </a:xfrm>
          <a:prstGeom prst="rect">
            <a:avLst/>
          </a:prstGeom>
          <a:noFill/>
          <a:ln/>
        </p:spPr>
        <p:txBody>
          <a:bodyPr wrap="square" lIns="0" tIns="0" rIns="0" bIns="0" rtlCol="0" anchor="ctr"/>
          <a:lstStyle/>
          <a:p>
            <a:pPr algn="r" indent="0" marL="0">
              <a:buNone/>
            </a:pPr>
            <a:r>
              <a:rPr lang="en-US" sz="20000" b="1" dirty="0">
                <a:solidFill>
                  <a:srgbClr val="1A2E42"/>
                </a:solidFill>
                <a:latin typeface="Calibri" pitchFamily="34" charset="0"/>
                <a:ea typeface="Calibri" pitchFamily="34" charset="-122"/>
                <a:cs typeface="Calibri" pitchFamily="34" charset="-120"/>
              </a:rPr>
              <a:t>+</a:t>
            </a:r>
            <a:endParaRPr lang="en-US" sz="20000" dirty="0"/>
          </a:p>
        </p:txBody>
      </p:sp>
      <p:sp>
        <p:nvSpPr>
          <p:cNvPr id="6" name="Shape 4"/>
          <p:cNvSpPr/>
          <p:nvPr/>
        </p:nvSpPr>
        <p:spPr>
          <a:xfrm>
            <a:off x="384048" y="969264"/>
            <a:ext cx="3931920" cy="1298448"/>
          </a:xfrm>
          <a:prstGeom prst="rect">
            <a:avLst/>
          </a:prstGeom>
          <a:solidFill>
            <a:srgbClr val="13243A"/>
          </a:solidFill>
          <a:ln w="12700">
            <a:solidFill>
              <a:srgbClr val="13243A"/>
            </a:solidFill>
            <a:prstDash val="solid"/>
          </a:ln>
        </p:spPr>
      </p:sp>
      <p:sp>
        <p:nvSpPr>
          <p:cNvPr id="7" name="Text 5"/>
          <p:cNvSpPr/>
          <p:nvPr/>
        </p:nvSpPr>
        <p:spPr>
          <a:xfrm>
            <a:off x="530352" y="1060704"/>
            <a:ext cx="3639312" cy="274320"/>
          </a:xfrm>
          <a:prstGeom prst="rect">
            <a:avLst/>
          </a:prstGeom>
          <a:noFill/>
          <a:ln/>
        </p:spPr>
        <p:txBody>
          <a:bodyPr wrap="square" lIns="0" tIns="0" rIns="0" bIns="0" rtlCol="0" anchor="ctr"/>
          <a:lstStyle/>
          <a:p>
            <a:pPr algn="l" indent="0" marL="0">
              <a:buNone/>
            </a:pPr>
            <a:r>
              <a:rPr lang="en-US" sz="1300" b="1" dirty="0">
                <a:solidFill>
                  <a:srgbClr val="F0A030"/>
                </a:solidFill>
                <a:latin typeface="Calibri" pitchFamily="34" charset="0"/>
                <a:ea typeface="Calibri" pitchFamily="34" charset="-122"/>
                <a:cs typeface="Calibri" pitchFamily="34" charset="-120"/>
              </a:rPr>
              <a:t>Analytical Bounds</a:t>
            </a:r>
            <a:endParaRPr lang="en-US" sz="1300" dirty="0"/>
          </a:p>
        </p:txBody>
      </p:sp>
      <p:sp>
        <p:nvSpPr>
          <p:cNvPr id="8" name="Text 6"/>
          <p:cNvSpPr/>
          <p:nvPr/>
        </p:nvSpPr>
        <p:spPr>
          <a:xfrm>
            <a:off x="530352" y="1389888"/>
            <a:ext cx="3639312" cy="804672"/>
          </a:xfrm>
          <a:prstGeom prst="rect">
            <a:avLst/>
          </a:prstGeom>
          <a:noFill/>
          <a:ln/>
        </p:spPr>
        <p:txBody>
          <a:bodyPr wrap="square" lIns="0" tIns="0" rIns="0" bIns="0" rtlCol="0" anchor="t"/>
          <a:lstStyle/>
          <a:p>
            <a:pPr algn="l" indent="0" marL="0">
              <a:lnSpc>
                <a:spcPct val="115000"/>
              </a:lnSpc>
              <a:buNone/>
            </a:pPr>
            <a:r>
              <a:rPr lang="en-US" sz="1200" dirty="0">
                <a:solidFill>
                  <a:srgbClr val="EEF2F6"/>
                </a:solidFill>
                <a:latin typeface="Calibri" pitchFamily="34" charset="0"/>
                <a:ea typeface="Calibri" pitchFamily="34" charset="-122"/>
                <a:cs typeface="Calibri" pitchFamily="34" charset="-120"/>
              </a:rPr>
              <a:t>Prove a formal competitive ratio for M4*. The empirical FCR of 3.11 strongly suggests a multiplicative bound near 3 is achievable.</a:t>
            </a:r>
            <a:endParaRPr lang="en-US" sz="1200" dirty="0"/>
          </a:p>
        </p:txBody>
      </p:sp>
      <p:sp>
        <p:nvSpPr>
          <p:cNvPr id="9" name="Shape 7"/>
          <p:cNvSpPr/>
          <p:nvPr/>
        </p:nvSpPr>
        <p:spPr>
          <a:xfrm>
            <a:off x="384048" y="2395728"/>
            <a:ext cx="3931920" cy="1298448"/>
          </a:xfrm>
          <a:prstGeom prst="rect">
            <a:avLst/>
          </a:prstGeom>
          <a:solidFill>
            <a:srgbClr val="13243A"/>
          </a:solidFill>
          <a:ln w="12700">
            <a:solidFill>
              <a:srgbClr val="13243A"/>
            </a:solidFill>
            <a:prstDash val="solid"/>
          </a:ln>
        </p:spPr>
      </p:sp>
      <p:sp>
        <p:nvSpPr>
          <p:cNvPr id="10" name="Text 8"/>
          <p:cNvSpPr/>
          <p:nvPr/>
        </p:nvSpPr>
        <p:spPr>
          <a:xfrm>
            <a:off x="530352" y="2487168"/>
            <a:ext cx="3639312" cy="274320"/>
          </a:xfrm>
          <a:prstGeom prst="rect">
            <a:avLst/>
          </a:prstGeom>
          <a:noFill/>
          <a:ln/>
        </p:spPr>
        <p:txBody>
          <a:bodyPr wrap="square" lIns="0" tIns="0" rIns="0" bIns="0" rtlCol="0" anchor="ctr"/>
          <a:lstStyle/>
          <a:p>
            <a:pPr algn="l" indent="0" marL="0">
              <a:buNone/>
            </a:pPr>
            <a:r>
              <a:rPr lang="en-US" sz="1300" b="1" dirty="0">
                <a:solidFill>
                  <a:srgbClr val="F0A030"/>
                </a:solidFill>
                <a:latin typeface="Calibri" pitchFamily="34" charset="0"/>
                <a:ea typeface="Calibri" pitchFamily="34" charset="-122"/>
                <a:cs typeface="Calibri" pitchFamily="34" charset="-120"/>
              </a:rPr>
              <a:t>Dynamic Environments</a:t>
            </a:r>
            <a:endParaRPr lang="en-US" sz="1300" dirty="0"/>
          </a:p>
        </p:txBody>
      </p:sp>
      <p:sp>
        <p:nvSpPr>
          <p:cNvPr id="11" name="Text 9"/>
          <p:cNvSpPr/>
          <p:nvPr/>
        </p:nvSpPr>
        <p:spPr>
          <a:xfrm>
            <a:off x="530352" y="2816352"/>
            <a:ext cx="3639312" cy="804672"/>
          </a:xfrm>
          <a:prstGeom prst="rect">
            <a:avLst/>
          </a:prstGeom>
          <a:noFill/>
          <a:ln/>
        </p:spPr>
        <p:txBody>
          <a:bodyPr wrap="square" lIns="0" tIns="0" rIns="0" bIns="0" rtlCol="0" anchor="t"/>
          <a:lstStyle/>
          <a:p>
            <a:pPr algn="l" indent="0" marL="0">
              <a:lnSpc>
                <a:spcPct val="115000"/>
              </a:lnSpc>
              <a:buNone/>
            </a:pPr>
            <a:r>
              <a:rPr lang="en-US" sz="1200" dirty="0">
                <a:solidFill>
                  <a:srgbClr val="EEF2F6"/>
                </a:solidFill>
                <a:latin typeface="Calibri" pitchFamily="34" charset="0"/>
                <a:ea typeface="Calibri" pitchFamily="34" charset="-122"/>
                <a:cs typeface="Calibri" pitchFamily="34" charset="-120"/>
              </a:rPr>
              <a:t>Extend to moving targets and time-varying priors. Survivor state changes over time — the posterior update must account for survival probability decay.</a:t>
            </a:r>
            <a:endParaRPr lang="en-US" sz="1200" dirty="0"/>
          </a:p>
        </p:txBody>
      </p:sp>
      <p:sp>
        <p:nvSpPr>
          <p:cNvPr id="12" name="Shape 10"/>
          <p:cNvSpPr/>
          <p:nvPr/>
        </p:nvSpPr>
        <p:spPr>
          <a:xfrm>
            <a:off x="4645152" y="969264"/>
            <a:ext cx="3931920" cy="1298448"/>
          </a:xfrm>
          <a:prstGeom prst="rect">
            <a:avLst/>
          </a:prstGeom>
          <a:solidFill>
            <a:srgbClr val="13243A"/>
          </a:solidFill>
          <a:ln w="12700">
            <a:solidFill>
              <a:srgbClr val="13243A"/>
            </a:solidFill>
            <a:prstDash val="solid"/>
          </a:ln>
        </p:spPr>
      </p:sp>
      <p:sp>
        <p:nvSpPr>
          <p:cNvPr id="13" name="Text 11"/>
          <p:cNvSpPr/>
          <p:nvPr/>
        </p:nvSpPr>
        <p:spPr>
          <a:xfrm>
            <a:off x="4791456" y="1060704"/>
            <a:ext cx="3639312" cy="274320"/>
          </a:xfrm>
          <a:prstGeom prst="rect">
            <a:avLst/>
          </a:prstGeom>
          <a:noFill/>
          <a:ln/>
        </p:spPr>
        <p:txBody>
          <a:bodyPr wrap="square" lIns="0" tIns="0" rIns="0" bIns="0" rtlCol="0" anchor="ctr"/>
          <a:lstStyle/>
          <a:p>
            <a:pPr algn="l" indent="0" marL="0">
              <a:buNone/>
            </a:pPr>
            <a:r>
              <a:rPr lang="en-US" sz="1300" b="1" dirty="0">
                <a:solidFill>
                  <a:srgbClr val="F0A030"/>
                </a:solidFill>
                <a:latin typeface="Calibri" pitchFamily="34" charset="0"/>
                <a:ea typeface="Calibri" pitchFamily="34" charset="-122"/>
                <a:cs typeface="Calibri" pitchFamily="34" charset="-120"/>
              </a:rPr>
              <a:t>Heterogeneous Fleets</a:t>
            </a:r>
            <a:endParaRPr lang="en-US" sz="1300" dirty="0"/>
          </a:p>
        </p:txBody>
      </p:sp>
      <p:sp>
        <p:nvSpPr>
          <p:cNvPr id="14" name="Text 12"/>
          <p:cNvSpPr/>
          <p:nvPr/>
        </p:nvSpPr>
        <p:spPr>
          <a:xfrm>
            <a:off x="4791456" y="1389888"/>
            <a:ext cx="3639312" cy="804672"/>
          </a:xfrm>
          <a:prstGeom prst="rect">
            <a:avLst/>
          </a:prstGeom>
          <a:noFill/>
          <a:ln/>
        </p:spPr>
        <p:txBody>
          <a:bodyPr wrap="square" lIns="0" tIns="0" rIns="0" bIns="0" rtlCol="0" anchor="t"/>
          <a:lstStyle/>
          <a:p>
            <a:pPr algn="l" indent="0" marL="0">
              <a:lnSpc>
                <a:spcPct val="115000"/>
              </a:lnSpc>
              <a:buNone/>
            </a:pPr>
            <a:r>
              <a:rPr lang="en-US" sz="1200" dirty="0">
                <a:solidFill>
                  <a:srgbClr val="EEF2F6"/>
                </a:solidFill>
                <a:latin typeface="Calibri" pitchFamily="34" charset="0"/>
                <a:ea typeface="Calibri" pitchFamily="34" charset="-122"/>
                <a:cs typeface="Calibri" pitchFamily="34" charset="-120"/>
              </a:rPr>
              <a:t>Relax the identical-robot assumption. Real deployments mix ground vehicles (high endurance, slow) and aerial drones (fast, short range).</a:t>
            </a:r>
            <a:endParaRPr lang="en-US" sz="1200" dirty="0"/>
          </a:p>
        </p:txBody>
      </p:sp>
      <p:sp>
        <p:nvSpPr>
          <p:cNvPr id="15" name="Shape 13"/>
          <p:cNvSpPr/>
          <p:nvPr/>
        </p:nvSpPr>
        <p:spPr>
          <a:xfrm>
            <a:off x="4645152" y="2395728"/>
            <a:ext cx="3931920" cy="1298448"/>
          </a:xfrm>
          <a:prstGeom prst="rect">
            <a:avLst/>
          </a:prstGeom>
          <a:solidFill>
            <a:srgbClr val="13243A"/>
          </a:solidFill>
          <a:ln w="12700">
            <a:solidFill>
              <a:srgbClr val="13243A"/>
            </a:solidFill>
            <a:prstDash val="solid"/>
          </a:ln>
        </p:spPr>
      </p:sp>
      <p:sp>
        <p:nvSpPr>
          <p:cNvPr id="16" name="Text 14"/>
          <p:cNvSpPr/>
          <p:nvPr/>
        </p:nvSpPr>
        <p:spPr>
          <a:xfrm>
            <a:off x="4791456" y="2487168"/>
            <a:ext cx="3639312" cy="274320"/>
          </a:xfrm>
          <a:prstGeom prst="rect">
            <a:avLst/>
          </a:prstGeom>
          <a:noFill/>
          <a:ln/>
        </p:spPr>
        <p:txBody>
          <a:bodyPr wrap="square" lIns="0" tIns="0" rIns="0" bIns="0" rtlCol="0" anchor="ctr"/>
          <a:lstStyle/>
          <a:p>
            <a:pPr algn="l" indent="0" marL="0">
              <a:buNone/>
            </a:pPr>
            <a:r>
              <a:rPr lang="en-US" sz="1300" b="1" dirty="0">
                <a:solidFill>
                  <a:srgbClr val="F0A030"/>
                </a:solidFill>
                <a:latin typeface="Calibri" pitchFamily="34" charset="0"/>
                <a:ea typeface="Calibri" pitchFamily="34" charset="-122"/>
                <a:cs typeface="Calibri" pitchFamily="34" charset="-120"/>
              </a:rPr>
              <a:t>Partial Mid-Flight Communication</a:t>
            </a:r>
            <a:endParaRPr lang="en-US" sz="1300" dirty="0"/>
          </a:p>
        </p:txBody>
      </p:sp>
      <p:sp>
        <p:nvSpPr>
          <p:cNvPr id="17" name="Text 15"/>
          <p:cNvSpPr/>
          <p:nvPr/>
        </p:nvSpPr>
        <p:spPr>
          <a:xfrm>
            <a:off x="4791456" y="2816352"/>
            <a:ext cx="3639312" cy="804672"/>
          </a:xfrm>
          <a:prstGeom prst="rect">
            <a:avLst/>
          </a:prstGeom>
          <a:noFill/>
          <a:ln/>
        </p:spPr>
        <p:txBody>
          <a:bodyPr wrap="square" lIns="0" tIns="0" rIns="0" bIns="0" rtlCol="0" anchor="t"/>
          <a:lstStyle/>
          <a:p>
            <a:pPr algn="l" indent="0" marL="0">
              <a:lnSpc>
                <a:spcPct val="115000"/>
              </a:lnSpc>
              <a:buNone/>
            </a:pPr>
            <a:r>
              <a:rPr lang="en-US" sz="1200" dirty="0">
                <a:solidFill>
                  <a:srgbClr val="EEF2F6"/>
                </a:solidFill>
                <a:latin typeface="Calibri" pitchFamily="34" charset="0"/>
                <a:ea typeface="Calibri" pitchFamily="34" charset="-122"/>
                <a:cs typeface="Calibri" pitchFamily="34" charset="-120"/>
              </a:rPr>
              <a:t>Explore relay robots or intermittent contact. How much coordination gain is recoverable with limited mid-sortie updates?</a:t>
            </a:r>
            <a:endParaRPr lang="en-US" sz="1200" dirty="0"/>
          </a:p>
        </p:txBody>
      </p:sp>
      <p:sp>
        <p:nvSpPr>
          <p:cNvPr id="18" name="Text 16"/>
          <p:cNvSpPr/>
          <p:nvPr/>
        </p:nvSpPr>
        <p:spPr>
          <a:xfrm>
            <a:off x="384048" y="3858768"/>
            <a:ext cx="8375904" cy="347472"/>
          </a:xfrm>
          <a:prstGeom prst="rect">
            <a:avLst/>
          </a:prstGeom>
          <a:noFill/>
          <a:ln/>
        </p:spPr>
        <p:txBody>
          <a:bodyPr wrap="square" lIns="0" tIns="0" rIns="0" bIns="0" rtlCol="0" anchor="ctr"/>
          <a:lstStyle/>
          <a:p>
            <a:pPr algn="ctr" indent="0" marL="0">
              <a:buNone/>
            </a:pPr>
            <a:r>
              <a:rPr lang="en-US" sz="1200" i="1" dirty="0">
                <a:solidFill>
                  <a:srgbClr val="4E6E88"/>
                </a:solidFill>
                <a:latin typeface="Calibri" pitchFamily="34" charset="0"/>
                <a:ea typeface="Calibri" pitchFamily="34" charset="-122"/>
                <a:cs typeface="Calibri" pitchFamily="34" charset="-120"/>
              </a:rPr>
              <a:t>The framework is modular — all four extensions are independent and can be pursued in parallel.</a:t>
            </a:r>
            <a:endParaRPr lang="en-US" sz="1200" dirty="0"/>
          </a:p>
        </p:txBody>
      </p:sp>
      <p:sp>
        <p:nvSpPr>
          <p:cNvPr id="19" name="Text 17"/>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60E18"/>
        </a:solidFill>
      </p:bgPr>
    </p:bg>
    <p:spTree>
      <p:nvGrpSpPr>
        <p:cNvPr id="1" name=""/>
        <p:cNvGrpSpPr/>
        <p:nvPr/>
      </p:nvGrpSpPr>
      <p:grpSpPr>
        <a:xfrm>
          <a:off x="0" y="0"/>
          <a:ext cx="0" cy="0"/>
          <a:chOff x="0" y="0"/>
          <a:chExt cx="0" cy="0"/>
        </a:xfrm>
      </p:grpSpPr>
      <p:sp>
        <p:nvSpPr>
          <p:cNvPr id="2" name="Shape 0"/>
          <p:cNvSpPr/>
          <p:nvPr/>
        </p:nvSpPr>
        <p:spPr>
          <a:xfrm>
            <a:off x="0" y="0"/>
            <a:ext cx="91440" cy="5148072"/>
          </a:xfrm>
          <a:prstGeom prst="rect">
            <a:avLst/>
          </a:prstGeom>
          <a:solidFill>
            <a:srgbClr val="F0A030"/>
          </a:solidFill>
          <a:ln w="12700">
            <a:solidFill>
              <a:srgbClr val="F0A030"/>
            </a:solidFill>
            <a:prstDash val="solid"/>
          </a:ln>
        </p:spPr>
      </p:sp>
      <p:sp>
        <p:nvSpPr>
          <p:cNvPr id="3" name="Text 1"/>
          <p:cNvSpPr/>
          <p:nvPr/>
        </p:nvSpPr>
        <p:spPr>
          <a:xfrm>
            <a:off x="4389120" y="457200"/>
            <a:ext cx="4572000" cy="4114800"/>
          </a:xfrm>
          <a:prstGeom prst="rect">
            <a:avLst/>
          </a:prstGeom>
          <a:noFill/>
          <a:ln/>
        </p:spPr>
        <p:txBody>
          <a:bodyPr wrap="square" lIns="0" tIns="0" rIns="0" bIns="0" rtlCol="0" anchor="ctr"/>
          <a:lstStyle/>
          <a:p>
            <a:pPr algn="r" indent="0" marL="0">
              <a:buNone/>
            </a:pPr>
            <a:r>
              <a:rPr lang="en-US" sz="17000" b="1" dirty="0">
                <a:solidFill>
                  <a:srgbClr val="1A2E42"/>
                </a:solidFill>
                <a:latin typeface="Calibri" pitchFamily="34" charset="0"/>
                <a:ea typeface="Calibri" pitchFamily="34" charset="-122"/>
                <a:cs typeface="Calibri" pitchFamily="34" charset="-120"/>
              </a:rPr>
              <a:t>SAR</a:t>
            </a:r>
            <a:endParaRPr lang="en-US" sz="17000" dirty="0"/>
          </a:p>
        </p:txBody>
      </p:sp>
      <p:sp>
        <p:nvSpPr>
          <p:cNvPr id="4" name="Text 2"/>
          <p:cNvSpPr/>
          <p:nvPr/>
        </p:nvSpPr>
        <p:spPr>
          <a:xfrm>
            <a:off x="292608" y="201168"/>
            <a:ext cx="8503920" cy="274320"/>
          </a:xfrm>
          <a:prstGeom prst="rect">
            <a:avLst/>
          </a:prstGeom>
          <a:noFill/>
          <a:ln/>
        </p:spPr>
        <p:txBody>
          <a:bodyPr wrap="square" lIns="0" tIns="0" rIns="0" bIns="0" rtlCol="0" anchor="ctr"/>
          <a:lstStyle/>
          <a:p>
            <a:pPr algn="l" indent="0" marL="0">
              <a:buNone/>
            </a:pPr>
            <a:r>
              <a:rPr lang="en-US" sz="900" b="1" spc="300" kern="0" dirty="0">
                <a:solidFill>
                  <a:srgbClr val="F0A030"/>
                </a:solidFill>
                <a:latin typeface="Calibri" pitchFamily="34" charset="0"/>
                <a:ea typeface="Calibri" pitchFamily="34" charset="-122"/>
                <a:cs typeface="Calibri" pitchFamily="34" charset="-120"/>
              </a:rPr>
              <a:t>FOUR FINDINGS</a:t>
            </a:r>
            <a:endParaRPr lang="en-US" sz="900" dirty="0"/>
          </a:p>
        </p:txBody>
      </p:sp>
      <p:sp>
        <p:nvSpPr>
          <p:cNvPr id="5" name="Text 3"/>
          <p:cNvSpPr/>
          <p:nvPr/>
        </p:nvSpPr>
        <p:spPr>
          <a:xfrm>
            <a:off x="292608" y="548640"/>
            <a:ext cx="8503920" cy="530352"/>
          </a:xfrm>
          <a:prstGeom prst="rect">
            <a:avLst/>
          </a:prstGeom>
          <a:noFill/>
          <a:ln/>
        </p:spPr>
        <p:txBody>
          <a:bodyPr wrap="square" lIns="0" tIns="0" rIns="0" bIns="0" rtlCol="0" anchor="ctr"/>
          <a:lstStyle/>
          <a:p>
            <a:pPr algn="l" indent="0" marL="0">
              <a:buNone/>
            </a:pPr>
            <a:r>
              <a:rPr lang="en-US" sz="2800" b="1" dirty="0">
                <a:solidFill>
                  <a:srgbClr val="EEF2F6"/>
                </a:solidFill>
                <a:latin typeface="Calibri" pitchFamily="34" charset="0"/>
                <a:ea typeface="Calibri" pitchFamily="34" charset="-122"/>
                <a:cs typeface="Calibri" pitchFamily="34" charset="-120"/>
              </a:rPr>
              <a:t>One Framework for Robot Coordination</a:t>
            </a:r>
            <a:endParaRPr lang="en-US" sz="2800" dirty="0"/>
          </a:p>
        </p:txBody>
      </p:sp>
      <p:sp>
        <p:nvSpPr>
          <p:cNvPr id="6" name="Shape 4"/>
          <p:cNvSpPr/>
          <p:nvPr/>
        </p:nvSpPr>
        <p:spPr>
          <a:xfrm>
            <a:off x="292608" y="1143000"/>
            <a:ext cx="8503920" cy="20117"/>
          </a:xfrm>
          <a:prstGeom prst="rect">
            <a:avLst/>
          </a:prstGeom>
          <a:solidFill>
            <a:srgbClr val="F0A030"/>
          </a:solidFill>
          <a:ln w="12700">
            <a:solidFill>
              <a:srgbClr val="F0A030"/>
            </a:solidFill>
            <a:prstDash val="solid"/>
          </a:ln>
        </p:spPr>
      </p:sp>
      <p:sp>
        <p:nvSpPr>
          <p:cNvPr id="7" name="Text 5"/>
          <p:cNvSpPr/>
          <p:nvPr/>
        </p:nvSpPr>
        <p:spPr>
          <a:xfrm>
            <a:off x="292608" y="1298448"/>
            <a:ext cx="8503920" cy="292608"/>
          </a:xfrm>
          <a:prstGeom prst="rect">
            <a:avLst/>
          </a:prstGeom>
          <a:noFill/>
          <a:ln/>
        </p:spPr>
        <p:txBody>
          <a:bodyPr wrap="square" lIns="0" tIns="0" rIns="0" bIns="0" rtlCol="0" anchor="ctr"/>
          <a:lstStyle/>
          <a:p>
            <a:pPr algn="l" indent="0" marL="0">
              <a:buNone/>
            </a:pPr>
            <a:r>
              <a:rPr lang="en-US" sz="1400" b="1" dirty="0">
                <a:solidFill>
                  <a:srgbClr val="F0A030"/>
                </a:solidFill>
                <a:latin typeface="Calibri" pitchFamily="34" charset="0"/>
                <a:ea typeface="Calibri" pitchFamily="34" charset="-122"/>
                <a:cs typeface="Calibri" pitchFamily="34" charset="-120"/>
              </a:rPr>
              <a:t>•  Coordination gain</a:t>
            </a:r>
            <a:endParaRPr lang="en-US" sz="1400" dirty="0"/>
          </a:p>
        </p:txBody>
      </p:sp>
      <p:sp>
        <p:nvSpPr>
          <p:cNvPr id="8" name="Text 6"/>
          <p:cNvSpPr/>
          <p:nvPr/>
        </p:nvSpPr>
        <p:spPr>
          <a:xfrm>
            <a:off x="502920" y="1609344"/>
            <a:ext cx="8293608" cy="329184"/>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6.6× lower FCR through communication alone — the single largest lever.</a:t>
            </a:r>
            <a:endParaRPr lang="en-US" sz="1250" dirty="0"/>
          </a:p>
        </p:txBody>
      </p:sp>
      <p:sp>
        <p:nvSpPr>
          <p:cNvPr id="9" name="Text 7"/>
          <p:cNvSpPr/>
          <p:nvPr/>
        </p:nvSpPr>
        <p:spPr>
          <a:xfrm>
            <a:off x="292608" y="2139696"/>
            <a:ext cx="8503920" cy="292608"/>
          </a:xfrm>
          <a:prstGeom prst="rect">
            <a:avLst/>
          </a:prstGeom>
          <a:noFill/>
          <a:ln/>
        </p:spPr>
        <p:txBody>
          <a:bodyPr wrap="square" lIns="0" tIns="0" rIns="0" bIns="0" rtlCol="0" anchor="ctr"/>
          <a:lstStyle/>
          <a:p>
            <a:pPr algn="l" indent="0" marL="0">
              <a:buNone/>
            </a:pPr>
            <a:r>
              <a:rPr lang="en-US" sz="1400" b="1" dirty="0">
                <a:solidFill>
                  <a:srgbClr val="F0A030"/>
                </a:solidFill>
                <a:latin typeface="Calibri" pitchFamily="34" charset="0"/>
                <a:ea typeface="Calibri" pitchFamily="34" charset="-122"/>
                <a:cs typeface="Calibri" pitchFamily="34" charset="-120"/>
              </a:rPr>
              <a:t>•  Multi-sortie recovery</a:t>
            </a:r>
            <a:endParaRPr lang="en-US" sz="1400" dirty="0"/>
          </a:p>
        </p:txBody>
      </p:sp>
      <p:sp>
        <p:nvSpPr>
          <p:cNvPr id="10" name="Text 8"/>
          <p:cNvSpPr/>
          <p:nvPr/>
        </p:nvSpPr>
        <p:spPr>
          <a:xfrm>
            <a:off x="502920" y="2450592"/>
            <a:ext cx="8293608" cy="329184"/>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Greedy chain extension recovers ~90% of the energy-penalty gap.</a:t>
            </a:r>
            <a:endParaRPr lang="en-US" sz="1250" dirty="0"/>
          </a:p>
        </p:txBody>
      </p:sp>
      <p:sp>
        <p:nvSpPr>
          <p:cNvPr id="11" name="Text 9"/>
          <p:cNvSpPr/>
          <p:nvPr/>
        </p:nvSpPr>
        <p:spPr>
          <a:xfrm>
            <a:off x="292608" y="2980944"/>
            <a:ext cx="8503920" cy="292608"/>
          </a:xfrm>
          <a:prstGeom prst="rect">
            <a:avLst/>
          </a:prstGeom>
          <a:noFill/>
          <a:ln/>
        </p:spPr>
        <p:txBody>
          <a:bodyPr wrap="square" lIns="0" tIns="0" rIns="0" bIns="0" rtlCol="0" anchor="ctr"/>
          <a:lstStyle/>
          <a:p>
            <a:pPr algn="l" indent="0" marL="0">
              <a:buNone/>
            </a:pPr>
            <a:r>
              <a:rPr lang="en-US" sz="1400" b="1" dirty="0">
                <a:solidFill>
                  <a:srgbClr val="F0A030"/>
                </a:solidFill>
                <a:latin typeface="Calibri" pitchFamily="34" charset="0"/>
                <a:ea typeface="Calibri" pitchFamily="34" charset="-122"/>
                <a:cs typeface="Calibri" pitchFamily="34" charset="-120"/>
              </a:rPr>
              <a:t>•  p/d² bid function</a:t>
            </a:r>
            <a:endParaRPr lang="en-US" sz="1400" dirty="0"/>
          </a:p>
        </p:txBody>
      </p:sp>
      <p:sp>
        <p:nvSpPr>
          <p:cNvPr id="12" name="Text 10"/>
          <p:cNvSpPr/>
          <p:nvPr/>
        </p:nvSpPr>
        <p:spPr>
          <a:xfrm>
            <a:off x="502920" y="3291840"/>
            <a:ext cx="8293608" cy="329184"/>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Quadratic distance penalty — justified by cost-foreclosure — grows with instance scale.</a:t>
            </a:r>
            <a:endParaRPr lang="en-US" sz="1250" dirty="0"/>
          </a:p>
        </p:txBody>
      </p:sp>
      <p:sp>
        <p:nvSpPr>
          <p:cNvPr id="13" name="Text 11"/>
          <p:cNvSpPr/>
          <p:nvPr/>
        </p:nvSpPr>
        <p:spPr>
          <a:xfrm>
            <a:off x="292608" y="3822192"/>
            <a:ext cx="8503920" cy="292608"/>
          </a:xfrm>
          <a:prstGeom prst="rect">
            <a:avLst/>
          </a:prstGeom>
          <a:noFill/>
          <a:ln/>
        </p:spPr>
        <p:txBody>
          <a:bodyPr wrap="square" lIns="0" tIns="0" rIns="0" bIns="0" rtlCol="0" anchor="ctr"/>
          <a:lstStyle/>
          <a:p>
            <a:pPr algn="l" indent="0" marL="0">
              <a:buNone/>
            </a:pPr>
            <a:r>
              <a:rPr lang="en-US" sz="1400" b="1" dirty="0">
                <a:solidFill>
                  <a:srgbClr val="F0A030"/>
                </a:solidFill>
                <a:latin typeface="Calibri" pitchFamily="34" charset="0"/>
                <a:ea typeface="Calibri" pitchFamily="34" charset="-122"/>
                <a:cs typeface="Calibri" pitchFamily="34" charset="-120"/>
              </a:rPr>
              <a:t>•  Target-Delay Anomaly</a:t>
            </a:r>
            <a:endParaRPr lang="en-US" sz="1400" dirty="0"/>
          </a:p>
        </p:txBody>
      </p:sp>
      <p:sp>
        <p:nvSpPr>
          <p:cNvPr id="14" name="Text 12"/>
          <p:cNvSpPr/>
          <p:nvPr/>
        </p:nvSpPr>
        <p:spPr>
          <a:xfrm>
            <a:off x="502920" y="4133088"/>
            <a:ext cx="8293608" cy="329184"/>
          </a:xfrm>
          <a:prstGeom prst="rect">
            <a:avLst/>
          </a:prstGeom>
          <a:noFill/>
          <a:ln/>
        </p:spPr>
        <p:txBody>
          <a:bodyPr wrap="square" lIns="0" tIns="0" rIns="0" bIns="0" rtlCol="0" anchor="ctr"/>
          <a:lstStyle/>
          <a:p>
            <a:pPr algn="l" indent="0" marL="0">
              <a:buNone/>
            </a:pPr>
            <a:r>
              <a:rPr lang="en-US" sz="1250" dirty="0">
                <a:solidFill>
                  <a:srgbClr val="EEF2F6"/>
                </a:solidFill>
                <a:latin typeface="Calibri" pitchFamily="34" charset="0"/>
                <a:ea typeface="Calibri" pitchFamily="34" charset="-122"/>
                <a:cs typeface="Calibri" pitchFamily="34" charset="-120"/>
              </a:rPr>
              <a:t>2-opt tour polishing worsens FCR by 5.3%. Geometry and probability are orthogonal objectives.</a:t>
            </a:r>
            <a:endParaRPr lang="en-US" sz="1250" dirty="0"/>
          </a:p>
        </p:txBody>
      </p:sp>
      <p:sp>
        <p:nvSpPr>
          <p:cNvPr id="15" name="Shape 13"/>
          <p:cNvSpPr/>
          <p:nvPr/>
        </p:nvSpPr>
        <p:spPr>
          <a:xfrm>
            <a:off x="292608" y="4690872"/>
            <a:ext cx="8503920" cy="20117"/>
          </a:xfrm>
          <a:prstGeom prst="rect">
            <a:avLst/>
          </a:prstGeom>
          <a:solidFill>
            <a:srgbClr val="1C3550"/>
          </a:solidFill>
          <a:ln w="12700">
            <a:solidFill>
              <a:srgbClr val="1C3550"/>
            </a:solidFill>
            <a:prstDash val="solid"/>
          </a:ln>
        </p:spPr>
      </p:sp>
      <p:sp>
        <p:nvSpPr>
          <p:cNvPr id="16" name="Text 14"/>
          <p:cNvSpPr/>
          <p:nvPr/>
        </p:nvSpPr>
        <p:spPr>
          <a:xfrm>
            <a:off x="292608" y="4754880"/>
            <a:ext cx="8503920" cy="274320"/>
          </a:xfrm>
          <a:prstGeom prst="rect">
            <a:avLst/>
          </a:prstGeom>
          <a:noFill/>
          <a:ln/>
        </p:spPr>
        <p:txBody>
          <a:bodyPr wrap="square" lIns="0" tIns="0" rIns="0" bIns="0" rtlCol="0" anchor="ctr"/>
          <a:lstStyle/>
          <a:p>
            <a:pPr algn="l" indent="0" marL="0">
              <a:buNone/>
            </a:pPr>
            <a:r>
              <a:rPr lang="en-US" sz="1150" dirty="0">
                <a:solidFill>
                  <a:srgbClr val="4E6E88"/>
                </a:solidFill>
                <a:latin typeface="Calibri" pitchFamily="34" charset="0"/>
                <a:ea typeface="Calibri" pitchFamily="34" charset="-122"/>
                <a:cs typeface="Calibri" pitchFamily="34" charset="-120"/>
              </a:rPr>
              <a:t>github.com/foojanbabaeeian/Multi-Robot-Algo   |   CSULB Honors Thesis, Spring 2026</a:t>
            </a:r>
            <a:endParaRPr lang="en-US" sz="1150" dirty="0"/>
          </a:p>
        </p:txBody>
      </p:sp>
      <p:sp>
        <p:nvSpPr>
          <p:cNvPr id="17" name="Text 15"/>
          <p:cNvSpPr/>
          <p:nvPr/>
        </p:nvSpPr>
        <p:spPr>
          <a:xfrm>
            <a:off x="8549640" y="4873752"/>
            <a:ext cx="384048" cy="201168"/>
          </a:xfrm>
          <a:prstGeom prst="rect">
            <a:avLst/>
          </a:prstGeom>
          <a:noFill/>
          <a:ln/>
        </p:spPr>
        <p:txBody>
          <a:bodyPr wrap="square" lIns="0" tIns="0" rIns="0" bIns="0" rtlCol="0" anchor="ctr"/>
          <a:lstStyle/>
          <a:p>
            <a:pPr algn="r" indent="0" marL="0">
              <a:buNone/>
            </a:pPr>
            <a:r>
              <a:rPr lang="en-US" sz="900" dirty="0">
                <a:solidFill>
                  <a:srgbClr val="4E6E8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Multi-Robot Search and Rescue Algorithms — Research Showcase</dc:title>
  <dc:subject>CSULB Honors Thesis, Spring 2026</dc:subject>
  <dc:creator>Fozhan Babaeiyan Ghamsari</dc:creator>
  <cp:lastModifiedBy>Fozhan Babaeiyan Ghamsari</cp:lastModifiedBy>
  <cp:revision>1</cp:revision>
  <dcterms:created xsi:type="dcterms:W3CDTF">2026-04-24T08:20:54Z</dcterms:created>
  <dcterms:modified xsi:type="dcterms:W3CDTF">2026-04-24T08:20:54Z</dcterms:modified>
</cp:coreProperties>
</file>